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type="screen16x9"/>
  <p:notesSz cx="6858000" cy="9144000"/>
  <p:defaultTextStyle>
    <a:defPPr>
      <a:defRPr lang="en-US"/>
    </a:defPPr>
    <a:lvl1pPr marL="0" algn="l" defTabSz="457200" rtl="0" eaLnBrk="1" latinLnBrk="0" hangingPunct="1">
      <a:defRPr sz="1800" kern="1200" lang="en-US">
        <a:solidFill>
          <a:schemeClr val="tx1"/>
        </a:solidFill>
        <a:latin typeface="+mn-lt"/>
        <a:ea typeface="+mn-ea"/>
        <a:cs typeface="+mn-cs"/>
      </a:defRPr>
    </a:lvl1pPr>
    <a:lvl2pPr marL="457200" algn="l" defTabSz="457200" rtl="0" eaLnBrk="1" latinLnBrk="0" hangingPunct="1">
      <a:defRPr sz="1800" kern="1200" lang="en-US">
        <a:solidFill>
          <a:schemeClr val="tx1"/>
        </a:solidFill>
        <a:latin typeface="+mn-lt"/>
        <a:ea typeface="+mn-ea"/>
        <a:cs typeface="+mn-cs"/>
      </a:defRPr>
    </a:lvl2pPr>
    <a:lvl3pPr marL="914400" algn="l" defTabSz="457200" rtl="0" eaLnBrk="1" latinLnBrk="0" hangingPunct="1">
      <a:defRPr sz="1800" kern="1200" lang="en-US">
        <a:solidFill>
          <a:schemeClr val="tx1"/>
        </a:solidFill>
        <a:latin typeface="+mn-lt"/>
        <a:ea typeface="+mn-ea"/>
        <a:cs typeface="+mn-cs"/>
      </a:defRPr>
    </a:lvl3pPr>
    <a:lvl4pPr marL="1371600" algn="l" defTabSz="457200" rtl="0" eaLnBrk="1" latinLnBrk="0" hangingPunct="1">
      <a:defRPr sz="1800" kern="1200" lang="en-US">
        <a:solidFill>
          <a:schemeClr val="tx1"/>
        </a:solidFill>
        <a:latin typeface="+mn-lt"/>
        <a:ea typeface="+mn-ea"/>
        <a:cs typeface="+mn-cs"/>
      </a:defRPr>
    </a:lvl4pPr>
    <a:lvl5pPr marL="1828800" algn="l" defTabSz="457200" rtl="0" eaLnBrk="1" latinLnBrk="0" hangingPunct="1">
      <a:defRPr sz="1800" kern="1200" lang="en-US">
        <a:solidFill>
          <a:schemeClr val="tx1"/>
        </a:solidFill>
        <a:latin typeface="+mn-lt"/>
        <a:ea typeface="+mn-ea"/>
        <a:cs typeface="+mn-cs"/>
      </a:defRPr>
    </a:lvl5pPr>
    <a:lvl6pPr marL="2286000" algn="l" defTabSz="457200" rtl="0" eaLnBrk="1" latinLnBrk="0" hangingPunct="1">
      <a:defRPr sz="1800" kern="1200" lang="en-US">
        <a:solidFill>
          <a:schemeClr val="tx1"/>
        </a:solidFill>
        <a:latin typeface="+mn-lt"/>
        <a:ea typeface="+mn-ea"/>
        <a:cs typeface="+mn-cs"/>
      </a:defRPr>
    </a:lvl6pPr>
    <a:lvl7pPr marL="2743200" algn="l" defTabSz="457200" rtl="0" eaLnBrk="1" latinLnBrk="0" hangingPunct="1">
      <a:defRPr sz="1800" kern="1200" lang="en-US">
        <a:solidFill>
          <a:schemeClr val="tx1"/>
        </a:solidFill>
        <a:latin typeface="+mn-lt"/>
        <a:ea typeface="+mn-ea"/>
        <a:cs typeface="+mn-cs"/>
      </a:defRPr>
    </a:lvl7pPr>
    <a:lvl8pPr marL="3200400" algn="l" defTabSz="457200" rtl="0" eaLnBrk="1" latinLnBrk="0" hangingPunct="1">
      <a:defRPr sz="1800" kern="1200" lang="en-US">
        <a:solidFill>
          <a:schemeClr val="tx1"/>
        </a:solidFill>
        <a:latin typeface="+mn-lt"/>
        <a:ea typeface="+mn-ea"/>
        <a:cs typeface="+mn-cs"/>
      </a:defRPr>
    </a:lvl8pPr>
    <a:lvl9pPr marL="3657600" algn="l" defTabSz="457200" rtl="0" eaLnBrk="1" latinLnBrk="0" hangingPunct="1">
      <a:defRPr sz="1800" kern="1200" lang="en-US">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  <Relationship Id="rId23"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Simple explanation — study aid, not spoken</a:t>
            </a:r>
          </a:p>
          <a:p>
            <a:pPr/>
            <a:endParaRPr lang="en-US" dirty="0"/>
          </a:p>
          <a:p>
            <a:pPr/>
            <a:r>
              <a:rPr lang="en-US" dirty="0"/>
              <a:t>A bacteriophage is a virus that infects bacteria. Finding one that kills bacteria in a dish is only the beginning. We also need to make a clean, active product, get it to the infection, and show that it helps patients.</a:t>
            </a:r>
          </a:p>
          <a:p>
            <a:pPr/>
            <a:endParaRPr lang="en-US" dirty="0"/>
          </a:p>
          <a:p>
            <a:pPr/>
            <a:r>
              <a:rPr lang="en-US" dirty="0"/>
              <a:t>Graduate presentation script — spoken</a:t>
            </a:r>
          </a:p>
          <a:p>
            <a:pPr/>
            <a:endParaRPr lang="en-US" dirty="0"/>
          </a:p>
          <a:p>
            <a:pPr/>
            <a:r>
              <a:rPr lang="en-US" dirty="0"/>
              <a:t>Bacteriophage therapy asks whether viruses of bacteria can become useful treatments for difficult bacterial infections. My argument has three parts: match the biology, control the product, and prove the benefit. I will first explain how a phage kills a susceptible bacterium, then follow the biotechnology needed to turn that activity into a treatment. Two trials and one personalized case will show why those three requirements are connected but distinct.</a:t>
            </a:r>
          </a:p>
          <a:p>
            <a:pPr/>
            <a:endParaRPr lang="en-US" dirty="0"/>
          </a:p>
          <a:p>
            <a:pPr/>
            <a:r>
              <a:rPr lang="en-US" dirty="0"/>
              <a:t>Sources and optional technical detail — not spoken</a:t>
            </a:r>
          </a:p>
          <a:p>
            <a:pPr/>
            <a:endParaRPr lang="en-US" dirty="0"/>
          </a:p>
          <a:p>
            <a:pPr/>
            <a:r>
              <a:rPr lang="en-US" dirty="0"/>
              <a:t>Weiner et al. (2025), doi:10.1038/s41467-025-60598-4; Aslam et al. (2020), doi:10.1093/ofid/ofaa389. The illustration is an original simplified tailed-phage/bacterium schematic, not microscopy or a scale model.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Simple explanation — study aid, not spoken</a:t>
            </a:r>
          </a:p>
          <a:p>
            <a:pPr/>
            <a:endParaRPr lang="en-US" dirty="0"/>
          </a:p>
          <a:p>
            <a:pPr/>
            <a:r>
              <a:rPr lang="en-US" dirty="0"/>
              <a:t>Bacteria can resist an antibiotic by destroying it, changing its target, or pumping it out. A phage attacks through a different route. But an antibiotic-resistant bacterium is not automatically vulnerable to any phage: the particular phage still has to recognize and infect it.</a:t>
            </a:r>
          </a:p>
          <a:p>
            <a:pPr/>
            <a:endParaRPr lang="en-US" dirty="0"/>
          </a:p>
          <a:p>
            <a:pPr/>
            <a:r>
              <a:rPr lang="en-US" dirty="0"/>
              <a:t>Graduate presentation script — spoken</a:t>
            </a:r>
          </a:p>
          <a:p>
            <a:pPr/>
            <a:endParaRPr lang="en-US" dirty="0"/>
          </a:p>
          <a:p>
            <a:pPr/>
            <a:r>
              <a:rPr lang="en-US" dirty="0"/>
              <a:t>Antibiotic resistance creates a need for additional ways to attack bacteria. Mechanisms include enzymatic drug inactivation, alteration of a drug's target, and active efflux; the relevant mechanism depends on the drug and strain. A bacteriophage instead begins by recognizing a bacterial surface receptor and delivering its genome. If productive infection follows, the bacterium becomes the site of phage replication. That difference is the biological opportunity, but it is not a promise of universal susceptibility. Antibiotic resistance and susceptibility to a particular phage are distinct phenotypes. For example, the experimental phage OMKO1 interacts with an efflux-system surface component in Pseudomonas. We must therefore measure the phage–bacterium match rather than infer it from an antibiotic-resistance label.</a:t>
            </a:r>
          </a:p>
          <a:p>
            <a:pPr/>
            <a:endParaRPr lang="en-US" dirty="0"/>
          </a:p>
          <a:p>
            <a:pPr/>
            <a:r>
              <a:rPr lang="en-US" dirty="0"/>
              <a:t>Sources and optional technical detail — not spoken</a:t>
            </a:r>
          </a:p>
          <a:p>
            <a:pPr/>
            <a:endParaRPr lang="en-US" dirty="0"/>
          </a:p>
          <a:p>
            <a:pPr/>
            <a:r>
              <a:rPr lang="en-US" dirty="0"/>
              <a:t>Munita and Arias (2016), doi:10.1128/microbiolspec.VMBF-0016-2015; Chan et al. (2016), doi:10.1038/srep26717. OMKO1 uses OprM; this is a specific example, not a receptor shared by all phages. Reduced permeability and target protection are additional resistance mechanisms discussed in the review but not exhaustively listed on the slide.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Simple explanation — study aid, not spoken</a:t>
            </a:r>
          </a:p>
          <a:p>
            <a:pPr/>
            <a:endParaRPr lang="en-US" dirty="0"/>
          </a:p>
          <a:p>
            <a:pPr/>
            <a:r>
              <a:rPr lang="en-US" dirty="0"/>
              <a:t>Think of the bacterium as the place where the virus makes copies. The phage attaches, puts its genetic material inside, builds new phages, and releases them when the bacterium breaks open. This only happens when the host and conditions support infection. The drawing's few phages do not represent a measured number of offspring.</a:t>
            </a:r>
          </a:p>
          <a:p>
            <a:pPr/>
            <a:endParaRPr lang="en-US" dirty="0"/>
          </a:p>
          <a:p>
            <a:pPr/>
            <a:r>
              <a:rPr lang="en-US" dirty="0"/>
              <a:t>Graduate presentation script — spoken</a:t>
            </a:r>
          </a:p>
          <a:p>
            <a:pPr/>
            <a:endParaRPr lang="en-US" dirty="0"/>
          </a:p>
          <a:p>
            <a:pPr/>
            <a:r>
              <a:rPr lang="en-US" dirty="0"/>
              <a:t>The lytic cycle explains both the attraction of phage therapy and its dependence on bacterial biology. First, adsorption attaches a compatible phage to receptors on the bacterial surface. In this simplified tailed-phage model, the genome then enters the cell. Intracellular replication and synthesis of viral components precede assembly of progeny particles. Finally, host lysis releases new phages, which may infect other susceptible bacteria. The illustrated number of progeny is schematic, not a measured burst size. Contrast this productive lytic outcome with temperate phages, which can establish a prophage state instead of immediately killing the host. Therapeutic selection therefore favors reliably lytic behavior or suitable lytic derivatives. Importantly, self-amplification is conditional. A phage must encounter a susceptible host in a permissive environment; administering it does not guarantee that amplification will occur in a patient. This dependence leads directly to the matching problem.</a:t>
            </a:r>
          </a:p>
          <a:p>
            <a:pPr/>
            <a:endParaRPr lang="en-US" dirty="0"/>
          </a:p>
          <a:p>
            <a:pPr/>
            <a:r>
              <a:rPr lang="en-US" dirty="0"/>
              <a:t>Sources and optional technical detail — not spoken</a:t>
            </a:r>
          </a:p>
          <a:p>
            <a:pPr/>
            <a:endParaRPr lang="en-US" dirty="0"/>
          </a:p>
          <a:p>
            <a:pPr/>
            <a:r>
              <a:rPr lang="en-US" dirty="0"/>
              <a:t>Weiner et al. (2025), doi:10.1038/s41467-025-60598-4; Aslam et al. (2020), doi:10.1093/ofid/ofaa389. Temperate lifestyles are diverse: prophage integration is one possibility, not an exhaustive description of all phage states. Sarker et al. (2016), discussed in backup, provides a clinical example of limited intestinal amplification.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Simple explanation — study aid, not spoken</a:t>
            </a:r>
          </a:p>
          <a:p>
            <a:pPr/>
            <a:endParaRPr lang="en-US" dirty="0"/>
          </a:p>
          <a:p>
            <a:pPr/>
            <a:r>
              <a:rPr lang="en-US" dirty="0"/>
              <a:t>The same bacterial species can contain strains that respond differently to a phage. Researchers test the patient's actual bacterium. A clear patch in a bacterial lawn is a useful clue, but it can occur without the phage making offspring. Plaque-based tests help distinguish productive infection from simple clearing.</a:t>
            </a:r>
          </a:p>
          <a:p>
            <a:pPr/>
            <a:endParaRPr lang="en-US" dirty="0"/>
          </a:p>
          <a:p>
            <a:pPr/>
            <a:r>
              <a:rPr lang="en-US" dirty="0"/>
              <a:t>Graduate presentation script — spoken</a:t>
            </a:r>
          </a:p>
          <a:p>
            <a:pPr/>
            <a:endParaRPr lang="en-US" dirty="0"/>
          </a:p>
          <a:p>
            <a:pPr/>
            <a:r>
              <a:rPr lang="en-US" dirty="0"/>
              <a:t>The therapeutic unit is a particular phage interacting with a particular bacterial isolate. A conceptual workflow starts by identifying the infecting bacterium and testing candidate phages against that isolate. The key question is not simply whether a concentrated sample clears a patch of bacterial growth, but whether productive infection occurs. In a comparative experimental study, single-dilution spot tests often overestimated host range relative to efficiency-of-plating analyses. Clearing can occur without progeny production, including through lysis from without or abortive infection. Plaques and relative plating efficiency therefore provide complementary evidence about productive activity. These assays inform selection; they are not, by themselves, validated predictions of patient benefit. The figure is a conceptual explanation, not experimental plaque data or a proposed clinical susceptibility breakpoint.</a:t>
            </a:r>
          </a:p>
          <a:p>
            <a:pPr/>
            <a:endParaRPr lang="en-US" dirty="0"/>
          </a:p>
          <a:p>
            <a:pPr/>
            <a:r>
              <a:rPr lang="en-US" dirty="0"/>
              <a:t>Sources and optional technical detail — not spoken</a:t>
            </a:r>
          </a:p>
          <a:p>
            <a:pPr/>
            <a:endParaRPr lang="en-US" dirty="0"/>
          </a:p>
          <a:p>
            <a:pPr/>
            <a:r>
              <a:rPr lang="en-US" dirty="0"/>
              <a:t>Khan Mirzaei and Nilsson (2015), doi:10.1371/journal.pone.0118557; Weiner et al. (2025), doi:10.1038/s41467-025-60598-4. Efficiency of plating compares plaque formation on a test isolate with a reference host under the assay conditions. The study does not show that every appropriately interpreted spot assay is useless.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Simple explanation — study aid, not spoken</a:t>
            </a:r>
          </a:p>
          <a:p>
            <a:pPr/>
            <a:endParaRPr lang="en-US" dirty="0"/>
          </a:p>
          <a:p>
            <a:pPr/>
            <a:r>
              <a:rPr lang="en-US" dirty="0"/>
              <a:t>There are two different questions: is this the right virus, and is this a suitable product? Genome checks look for known undesirable genes. Product checks look for contaminating bacteria, bacterial toxins, and enough active phage. Passing one type of check does not replace the others.</a:t>
            </a:r>
          </a:p>
          <a:p>
            <a:pPr/>
            <a:endParaRPr lang="en-US" dirty="0"/>
          </a:p>
          <a:p>
            <a:pPr/>
            <a:r>
              <a:rPr lang="en-US" dirty="0"/>
              <a:t>Graduate presentation script — spoken</a:t>
            </a:r>
          </a:p>
          <a:p>
            <a:pPr/>
            <a:endParaRPr lang="en-US" dirty="0"/>
          </a:p>
          <a:p>
            <a:pPr/>
            <a:r>
              <a:rPr lang="en-US" dirty="0"/>
              <a:t>Matching establishes activity, but a therapeutic candidate must also pass biological and product-quality checks. In BX004-A development, genome screening supported a lytic lifestyle and screened for known toxin and antibiotic-resistance genes. Genomic identity and phenotype are complementary: sequence annotation does not eliminate every unknown function. Separately, product testing addresses sterility, endotoxin contamination, active titre, and stability. These are independent attributes. Removing viable production bacteria does not necessarily remove bacterial components such as endotoxin, and a sterile preparation may still have lost phage activity. The central biotechnology point is that an appropriate genome does not automatically make an appropriate medicine. Candidate characterization and final-product control must travel together through development and administration.</a:t>
            </a:r>
          </a:p>
          <a:p>
            <a:pPr/>
            <a:endParaRPr lang="en-US" dirty="0"/>
          </a:p>
          <a:p>
            <a:pPr/>
            <a:r>
              <a:rPr lang="en-US" dirty="0"/>
              <a:t>Sources and optional technical detail — not spoken</a:t>
            </a:r>
          </a:p>
          <a:p>
            <a:pPr/>
            <a:endParaRPr lang="en-US" dirty="0"/>
          </a:p>
          <a:p>
            <a:pPr/>
            <a:r>
              <a:rPr lang="en-US" dirty="0"/>
              <a:t>Weiner et al. (2025), doi:10.1038/s41467-025-60598-4; Aslam et al. (2020), doi:10.1093/ofid/ofaa389. These are reported development and clinical-series practices, not a claim that one uniform regulatory standard applies to every country and indication.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Simple explanation — study aid, not spoken</a:t>
            </a:r>
          </a:p>
          <a:p>
            <a:pPr/>
            <a:endParaRPr lang="en-US" dirty="0"/>
          </a:p>
          <a:p>
            <a:pPr/>
            <a:r>
              <a:rPr lang="en-US" dirty="0"/>
              <a:t>Phages need bacteria to multiply, so their production starts with a suitable bacterial host. The final material must then be cleaned, put into a usable formulation, and tested. Counting genetic material is not the same as showing that the phages can still infect bacteria.</a:t>
            </a:r>
          </a:p>
          <a:p>
            <a:pPr/>
            <a:endParaRPr lang="en-US" dirty="0"/>
          </a:p>
          <a:p>
            <a:pPr/>
            <a:r>
              <a:rPr lang="en-US" dirty="0"/>
              <a:t>Graduate presentation script — spoken</a:t>
            </a:r>
          </a:p>
          <a:p>
            <a:pPr/>
            <a:endParaRPr lang="en-US" dirty="0"/>
          </a:p>
          <a:p>
            <a:pPr/>
            <a:r>
              <a:rPr lang="en-US" dirty="0"/>
              <a:t>Manufacturing translates the biological lifecycle into a product. At a conceptual level, phages are amplified using a suitable bacterial production host, followed by downstream separation and purification. Formulation then places the active particles in a vehicle compatible with the intended route. Release and stability testing assess identity, purity, and active concentration. Here, active titre concerns infective particles, commonly expressed as plaque-forming units, rather than simply the presence of viral material. BX004-A development also evaluated viability and delivery through a nebulizer. The lesson is that potency must survive the entire chain: manufacturing, storage, formulation, and administration. These are conceptual stages rather than a laboratory recipe. PhagoBurn will show why a product's activity at the point of treatment can be as important as the original phage selection.</a:t>
            </a:r>
          </a:p>
          <a:p>
            <a:pPr/>
            <a:endParaRPr lang="en-US" dirty="0"/>
          </a:p>
          <a:p>
            <a:pPr/>
            <a:r>
              <a:rPr lang="en-US" dirty="0"/>
              <a:t>Sources and optional technical detail — not spoken</a:t>
            </a:r>
          </a:p>
          <a:p>
            <a:pPr/>
            <a:endParaRPr lang="en-US" dirty="0"/>
          </a:p>
          <a:p>
            <a:pPr/>
            <a:r>
              <a:rPr lang="en-US" dirty="0"/>
              <a:t>Weiner et al. (2025), doi:10.1038/s41467-025-60598-4; Aslam et al. (2020), doi:10.1093/ofid/ofaa389; Jault et al. (2019), doi:10.1016/S1473-3099(18)30482-1. No operating parameters or procedural manufacturing recommendations are supplied.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Simple explanation — study aid, not spoken</a:t>
            </a:r>
          </a:p>
          <a:p>
            <a:pPr/>
            <a:endParaRPr lang="en-US" dirty="0"/>
          </a:p>
          <a:p>
            <a:pPr/>
            <a:r>
              <a:rPr lang="en-US" dirty="0"/>
              <a:t>The phage needs to get to the bacteria while still active. Putting it on a wound, inhaling it, and injecting it into a vein are different delivery problems. A dose that enters the body may not all reach the infected area, and laboratory susceptibility does not guarantee success.</a:t>
            </a:r>
          </a:p>
          <a:p>
            <a:pPr/>
            <a:endParaRPr lang="en-US" dirty="0"/>
          </a:p>
          <a:p>
            <a:pPr/>
            <a:r>
              <a:rPr lang="en-US" dirty="0"/>
              <a:t>Graduate presentation script — spoken</a:t>
            </a:r>
          </a:p>
          <a:p>
            <a:pPr/>
            <a:endParaRPr lang="en-US" dirty="0"/>
          </a:p>
          <a:p>
            <a:pPr/>
            <a:r>
              <a:rPr lang="en-US" dirty="0"/>
              <a:t>Route selection follows the infected compartment. PhagoBurn applied phages topically to accessible burn wounds. BX004-A used nebulization for chronic Pseudomonas infection in the lower respiratory tract. Selected personalized cases have used intravenous administration for disseminated infection, sometimes alongside topical treatment of accessible lesions. These routes are not interchangeable. The quantity administered is not the same as the quantity remaining active at the infection site. Delivery losses, clearance, neutralizing activity, and bacterial susceptibility can all affect exposure and response. Recovery of phages in sputum supports pulmonary delivery, but detection alone does not prove sustained replication. Likewise, activity against a cultured isolate does not guarantee success in the patient. We can now use two trials to ask which parts of this development chain were actually demonstrated.</a:t>
            </a:r>
          </a:p>
          <a:p>
            <a:pPr/>
            <a:endParaRPr lang="en-US" dirty="0"/>
          </a:p>
          <a:p>
            <a:pPr/>
            <a:r>
              <a:rPr lang="en-US" dirty="0"/>
              <a:t>Sources and optional technical detail — not spoken</a:t>
            </a:r>
          </a:p>
          <a:p>
            <a:pPr/>
            <a:endParaRPr lang="en-US" dirty="0"/>
          </a:p>
          <a:p>
            <a:pPr/>
            <a:r>
              <a:rPr lang="en-US" dirty="0"/>
              <a:t>Jault et al. (2019), doi:10.1016/S1473-3099(18)30482-1; Weiner et al. (2025), doi:10.1038/s41467-025-60598-4; Aslam et al. (2020), doi:10.1093/ofid/ofaa389; Dedrick et al. (2019), doi:10.1038/s41591-019-0437-z. The neutralizing-serum observation in the case series lacked a baseline comparison, so it cannot establish causation or population frequency.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Simple explanation — study aid, not spoken</a:t>
            </a:r>
          </a:p>
          <a:p>
            <a:pPr/>
            <a:endParaRPr lang="en-US" dirty="0"/>
          </a:p>
          <a:p>
            <a:pPr/>
            <a:r>
              <a:rPr lang="en-US" dirty="0"/>
              <a:t>This trial did not show that the tested phage product beat standard treatment. Bacterial-load reduction took longer in the phage group. The product also lost much of its activity before patients received it. That is a major manufacturing problem, but it does not prove that a stronger dose would have worked.</a:t>
            </a:r>
          </a:p>
          <a:p>
            <a:pPr/>
            <a:endParaRPr lang="en-US" dirty="0"/>
          </a:p>
          <a:p>
            <a:pPr/>
            <a:r>
              <a:rPr lang="en-US" dirty="0"/>
              <a:t>Graduate presentation script — spoken</a:t>
            </a:r>
          </a:p>
          <a:p>
            <a:pPr/>
            <a:endParaRPr lang="en-US" dirty="0"/>
          </a:p>
          <a:p>
            <a:pPr/>
            <a:r>
              <a:rPr lang="en-US" dirty="0"/>
              <a:t>PhagoBurn was a randomized, double-blind phase one/two trial of a twelve-phage cocktail, PP1131, against Pseudomonas-infected burn wounds. Twenty-seven adults were randomized, and twenty-five entered the efficacy analysis: twelve phage recipients and thirteen standard-care recipients. The comparator was one-percent silver sulfadiazine. The primary endpoint was time to sustained reduction of bacterial burden using a swab-based scoring method, not clinical cure. Median time was one hundred forty-four hours with phages versus forty-seven hours with standard care. The hazard ratio of 0.29 therefore indicates slower attainment of the desired reduction with phages; its confidence interval was 0.10 to 0.79. A major complication was product potency: the intended concentration was ten to the sixth plaque-forming units per milliliter, but approximately ten to the second was delivered after titre declined. The study gives an unfavorable comparison at the delivered concentration and a clear manufacturing lesson. It does not prove that the intended concentration would have succeeded, nor that all phage approaches are ineffective.</a:t>
            </a:r>
          </a:p>
          <a:p>
            <a:pPr/>
            <a:endParaRPr lang="en-US" dirty="0"/>
          </a:p>
          <a:p>
            <a:pPr/>
            <a:r>
              <a:rPr lang="en-US" dirty="0"/>
              <a:t>Sources and optional technical detail — not spoken</a:t>
            </a:r>
          </a:p>
          <a:p>
            <a:pPr/>
            <a:endParaRPr lang="en-US" dirty="0"/>
          </a:p>
          <a:p>
            <a:pPr/>
            <a:r>
              <a:rPr lang="en-US" dirty="0"/>
              <a:t>Jault et al. (2019), doi:10.1016/S1473-3099(18)30482-1; PMID 30292481. Endpoint: sustained reduction by at least two quadrants on a four-quadrant swab method. P=0.018. Median confidence intervals: 144 h, 48–not reached; 47 h, 23–122. Efficacy and safety populations differ: do not substitute randomized denominators for analyzed denominators. Clinical details here are verified from the accessible abstract, not an assumed full-text review.</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Simple explanation — study aid, not spoken</a:t>
            </a:r>
          </a:p>
          <a:p>
            <a:pPr/>
            <a:endParaRPr lang="en-US" dirty="0"/>
          </a:p>
          <a:p>
            <a:pPr/>
            <a:r>
              <a:rPr lang="en-US" dirty="0"/>
              <a:t>The inhaled product reached the lungs, and the small study found encouraging bacterial-count differences. But only nine people participated, with just two receiving placebo. It was mainly a safety study, so it cannot establish that patients breathe better or have fewer flare-ups.</a:t>
            </a:r>
          </a:p>
          <a:p>
            <a:pPr/>
            <a:endParaRPr lang="en-US" dirty="0"/>
          </a:p>
          <a:p>
            <a:pPr/>
            <a:r>
              <a:rPr lang="en-US" dirty="0"/>
              <a:t>Graduate presentation script — spoken</a:t>
            </a:r>
          </a:p>
          <a:p>
            <a:pPr/>
            <a:endParaRPr lang="en-US" dirty="0"/>
          </a:p>
          <a:p>
            <a:pPr/>
            <a:r>
              <a:rPr lang="en-US" dirty="0"/>
              <a:t>BX004-A tests a different part of the pipeline: a nebulized three-phage cocktail for adults with cystic fibrosis and chronic Pseudomonas infection. This published Part one study randomized seven patients to active treatment and two to placebo, with double blinding. Its primary safety and tolerability endpoints were met, and phages recovered from sputum supported delivery to the lower respiratory tract. The bacterial-density analyses were exploratory. Between-group differences favored treatment by 1.9 log-ten colony-forming units per gram on day four and 2.7 on day fifteen, with reported P values of 0.035 and 0.029. These are selected time-point contrasts, not a reconstructed continuous response curve. The two-person control group and exploratory endpoints sharply limit inference. The legitimate conclusion is feasible delivery and a microbiological signal that warrants further testing, rather than established improvements in lung function or exacerbations. A 2026 correction addressed preclinical transcriptomic sample inclusion; the authors stated that the results and conclusions were unaffected.</a:t>
            </a:r>
          </a:p>
          <a:p>
            <a:pPr/>
            <a:endParaRPr lang="en-US" dirty="0"/>
          </a:p>
          <a:p>
            <a:pPr/>
            <a:r>
              <a:rPr lang="en-US" dirty="0"/>
              <a:t>Sources and optional technical detail — not spoken</a:t>
            </a:r>
          </a:p>
          <a:p>
            <a:pPr/>
            <a:endParaRPr lang="en-US" dirty="0"/>
          </a:p>
          <a:p>
            <a:pPr/>
            <a:r>
              <a:rPr lang="en-US" dirty="0"/>
              <a:t>Weiner et al. (2025), doi:10.1038/s41467-025-60598-4; correction, Weiner et al. (2026), doi:10.1038/s41467-026-70146-3. Full-text clinical sections and correction reviewed. No treatment-related adverse events were reported in this nine-person study; this cannot exclude uncommon harms. Reductions were less pronounced on day eight. Do not interpret the two selected contrasts as the entire time course or as definitive multiplicity-adjusted clinical efficacy.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Simple explanation — study aid, not spoken</a:t>
            </a:r>
          </a:p>
          <a:p>
            <a:pPr/>
            <a:endParaRPr lang="en-US" dirty="0"/>
          </a:p>
          <a:p>
            <a:pPr/>
            <a:r>
              <a:rPr lang="en-US" dirty="0"/>
              <a:t>For one patient, researchers found one naturally effective phage and modified or selected others to make a three-phage mixture. The patient improved during treatment, but this was not a controlled trial. The same mixture did not work well against other tested isolates, showing why personalization mattered.</a:t>
            </a:r>
          </a:p>
          <a:p>
            <a:pPr/>
            <a:endParaRPr lang="en-US" dirty="0"/>
          </a:p>
          <a:p>
            <a:pPr/>
            <a:r>
              <a:rPr lang="en-US" dirty="0"/>
              <a:t>Graduate presentation script — spoken</a:t>
            </a:r>
          </a:p>
          <a:p>
            <a:pPr/>
            <a:endParaRPr lang="en-US" dirty="0"/>
          </a:p>
          <a:p>
            <a:pPr/>
            <a:r>
              <a:rPr lang="en-US" dirty="0"/>
              <a:t>Dedrick and colleagues illustrate the biotechnology behind personalization. Their patient was a fifteen-year-old lung-transplant recipient with disseminated drug-resistant Mycobacterium abscessus. Muddy had natural activity against the isolate. ZoeJ was converted into a lytic derivative by deleting a repressor gene. For BPs, a lytic derivative and host-range selection were needed. The resulting three-phage cocktail was administered intravenously, with topical treatment of accessible lesions. Treatment was associated with sternal wound closure and improvement of skin nodules during combined clinical care. This is a compelling demonstration of engineering and treatment feasibility, but it is one uncontrolled case. The cocktail did not efficiently kill other tested clinical isolates, so the authors explicitly cautioned against generalizing it as a treatment for all such infections.</a:t>
            </a:r>
          </a:p>
          <a:p>
            <a:pPr/>
            <a:endParaRPr lang="en-US" dirty="0"/>
          </a:p>
          <a:p>
            <a:pPr/>
            <a:r>
              <a:rPr lang="en-US" dirty="0"/>
              <a:t>Sources and optional technical detail — not spoken</a:t>
            </a:r>
          </a:p>
          <a:p>
            <a:pPr/>
            <a:endParaRPr lang="en-US" dirty="0"/>
          </a:p>
          <a:p>
            <a:pPr/>
            <a:r>
              <a:rPr lang="el-GR" dirty="0"/>
              <a:t>Dedrick et al. (2019), doi:10.1038/s41591-019-0437-z. Full text retrieved through official NCBI PMC. ZoeJΔ45 lacks repressor gene 45. BPsΔ33HTH-HRM10 includes a selected portal-gene 3 N270D substitution; do not call this tail-fiber redesign. Improved liver function was also reported. Association is not proof of cure, bacterial eradication, survival benefit or a phage-only causal effect.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Simple explanation — study aid, not spoken</a:t>
            </a:r>
          </a:p>
          <a:p>
            <a:pPr/>
            <a:endParaRPr lang="en-US" dirty="0"/>
          </a:p>
          <a:p>
            <a:pPr/>
            <a:r>
              <a:rPr lang="en-US" dirty="0"/>
              <a:t>There are three separate checkpoints. A phage must infect the target bacterium, remain active and reach the infection, and then improve a meaningful patient outcome. A positive result at one checkpoint is useful, but it cannot substitute for evidence at the next one.</a:t>
            </a:r>
          </a:p>
          <a:p>
            <a:pPr/>
            <a:endParaRPr lang="en-US" dirty="0"/>
          </a:p>
          <a:p>
            <a:pPr/>
            <a:r>
              <a:rPr lang="en-US" dirty="0"/>
              <a:t>Graduate presentation script — spoken</a:t>
            </a:r>
          </a:p>
          <a:p>
            <a:pPr/>
            <a:endParaRPr lang="en-US" dirty="0"/>
          </a:p>
          <a:p>
            <a:pPr/>
            <a:r>
              <a:rPr lang="en-US" dirty="0"/>
              <a:t>The evidence becomes more coherent when we organize it around three requirements. First is activity against the relevant isolate: the personalized case shows what matching and engineering can make possible. Second is active exposure at the infected site: PhagoBurn illustrates loss of titre, while BX004-A demonstrates pulmonary delivery. Third is a patient benefit attributable to treatment. That requires appropriate controls, sufficient sample size, and clinically meaningful endpoints, alongside microbiological measures. This three-part framework is my synthesis of the studies, not a scoring system validated by their authors. It explains why a successful plaque assay, phage recovery in sputum, and improvement during compassionate use are all informative but answer different questions. A convincing development program must connect those answers rather than treat them as interchangeable proof of efficacy.</a:t>
            </a:r>
          </a:p>
          <a:p>
            <a:pPr/>
            <a:endParaRPr lang="en-US" dirty="0"/>
          </a:p>
          <a:p>
            <a:pPr/>
            <a:r>
              <a:rPr lang="en-US" dirty="0"/>
              <a:t>Sources and optional technical detail — not spoken</a:t>
            </a:r>
          </a:p>
          <a:p>
            <a:pPr/>
            <a:endParaRPr lang="en-US" dirty="0"/>
          </a:p>
          <a:p>
            <a:pPr/>
            <a:r>
              <a:rPr lang="en-US" dirty="0"/>
              <a:t>Presentation synthesis from Dedrick et al. (2019), Jault et al. (2019), Weiner et al. (2025), and Aslam et al. (2020). The proposed trial priorities are recommendations based on these limitations, not claims that one universal trial design suits every indication.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Simple explanation — study aid, not spoken</a:t>
            </a:r>
          </a:p>
          <a:p>
            <a:pPr/>
            <a:endParaRPr lang="en-US" dirty="0"/>
          </a:p>
          <a:p>
            <a:pPr/>
            <a:r>
              <a:rPr lang="en-US" dirty="0"/>
              <a:t>The main takeaway is not simply that phages are promising. It is that their promise depends on the entire development chain. For discussion, consider whether killing more bacteria is enough if the patient feels no better or the infection returns.</a:t>
            </a:r>
          </a:p>
          <a:p>
            <a:pPr/>
            <a:endParaRPr lang="en-US" dirty="0"/>
          </a:p>
          <a:p>
            <a:pPr/>
            <a:r>
              <a:rPr lang="en-US" dirty="0"/>
              <a:t>Graduate presentation script — spoken</a:t>
            </a:r>
          </a:p>
          <a:p>
            <a:pPr/>
            <a:endParaRPr lang="en-US" dirty="0"/>
          </a:p>
          <a:p>
            <a:pPr/>
            <a:r>
              <a:rPr lang="en-US" dirty="0"/>
              <a:t>Phage therapy is best understood as a biotechnology pipeline rather than a single antibacterial trick. Its biological specificity creates an opportunity, but also a matching requirement. Manufacturing and delivery must preserve activity, and clinical studies must show that this activity matters to patients. So the argument returns to three phrases: match the biology, control the product, and prove the benefit. The studies support continued development for defined indications, while cautioning against a broad claim that phages replace antibiotics. To open discussion: if bacterial burden falls but the patient does not improve, what has the treatment demonstrated, and what endpoint would you require in the next trial? The remaining slides provide the full references and optional evidence for discussion.</a:t>
            </a:r>
          </a:p>
          <a:p>
            <a:pPr/>
            <a:endParaRPr lang="en-US" dirty="0"/>
          </a:p>
          <a:p>
            <a:pPr/>
            <a:r>
              <a:rPr lang="en-US" dirty="0"/>
              <a:t>Sources and optional technical detail — not spoken</a:t>
            </a:r>
          </a:p>
          <a:p>
            <a:pPr/>
            <a:endParaRPr lang="en-US" dirty="0"/>
          </a:p>
          <a:p>
            <a:pPr/>
            <a:r>
              <a:rPr lang="en-US" dirty="0"/>
              <a:t>Synthesis from Aslam et al. (2020), Jault et al. (2019), and Weiner et al. (2025). Main-talk timing excludes study aids, source details, reference pages and the backup slide. Rehearse using only the graduate presentation scripts.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Simple explanation — study aid, not spoken</a:t>
            </a:r>
          </a:p>
          <a:p>
            <a:pPr/>
            <a:endParaRPr lang="en-US" dirty="0"/>
          </a:p>
          <a:p>
            <a:pPr/>
            <a:r>
              <a:rPr lang="en-US" dirty="0"/>
              <a:t>These are the papers behind the two main clinical examples and the engineered-phage case. The BX004-A correction belongs with the original article.</a:t>
            </a:r>
          </a:p>
          <a:p>
            <a:pPr/>
            <a:endParaRPr lang="en-US" dirty="0"/>
          </a:p>
          <a:p>
            <a:pPr/>
            <a:r>
              <a:rPr lang="en-US" dirty="0"/>
              <a:t>Graduate presentation script — optional, outside timed talk</a:t>
            </a:r>
          </a:p>
          <a:p>
            <a:pPr/>
            <a:endParaRPr lang="en-US" dirty="0"/>
          </a:p>
          <a:p>
            <a:pPr/>
            <a:r>
              <a:rPr lang="en-US" dirty="0"/>
              <a:t>The main clinical sources are Jault and colleagues' PhagoBurn trial, Weiner and colleagues' BX004-A trial and its correction, and Dedrick and colleagues' engineered-phage case. The slide provides the full titles, journal details, and DOIs. Study design and access limitations are documented in the research materials.</a:t>
            </a:r>
          </a:p>
          <a:p>
            <a:pPr/>
            <a:endParaRPr lang="en-US" dirty="0"/>
          </a:p>
          <a:p>
            <a:pPr/>
            <a:r>
              <a:rPr lang="en-US" dirty="0"/>
              <a:t>Sources and optional technical detail — not spoken</a:t>
            </a:r>
          </a:p>
          <a:p>
            <a:pPr/>
            <a:endParaRPr lang="en-US" dirty="0"/>
          </a:p>
          <a:p>
            <a:pPr/>
            <a:r>
              <a:rPr lang="en-US" dirty="0"/>
              <a:t>Jault et al. (2019), Lancet Infect Dis 19:35–45, doi:10.1016/S1473-3099(18)30482-1. Weiner et al. (2025), Nat Commun 16:5579, doi:10.1038/s41467-025-60598-4. Weiner et al. (2026), Nat Commun 17:2057, doi:10.1038/s41467-026-70146-3. Dedrick et al. (2019), Nat Med 25:730–733, doi:10.1038/s41591-019-0437-z.</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Simple explanation — study aid, not spoken</a:t>
            </a:r>
          </a:p>
          <a:p>
            <a:pPr/>
            <a:endParaRPr lang="en-US" dirty="0"/>
          </a:p>
          <a:p>
            <a:pPr/>
            <a:r>
              <a:rPr lang="en-US" dirty="0"/>
              <a:t>These sources support the biological explanation, product-quality discussion, evolutionary example and antibiotic-resistance background. A review explains a field; an experimental paper tests a narrower claim.</a:t>
            </a:r>
          </a:p>
          <a:p>
            <a:pPr/>
            <a:endParaRPr lang="en-US" dirty="0"/>
          </a:p>
          <a:p>
            <a:pPr/>
            <a:r>
              <a:rPr lang="en-US" dirty="0"/>
              <a:t>Graduate presentation script — optional, outside timed talk</a:t>
            </a:r>
          </a:p>
          <a:p>
            <a:pPr/>
            <a:endParaRPr lang="en-US" dirty="0"/>
          </a:p>
          <a:p>
            <a:pPr/>
            <a:r>
              <a:rPr lang="en-US" dirty="0"/>
              <a:t>The technical background draws on Aslam's clinical series, Chan's experimental evolutionary study, Kortright's phage-therapy review, and Munita and Arias's review of antibiotic resistance. Their roles differ: mechanistic and review evidence provides context, while uncontrolled clinical observations cannot establish a transferable treatment effect.</a:t>
            </a:r>
          </a:p>
          <a:p>
            <a:pPr/>
            <a:endParaRPr lang="en-US" dirty="0"/>
          </a:p>
          <a:p>
            <a:pPr/>
            <a:r>
              <a:rPr lang="en-US" dirty="0"/>
              <a:t>Sources and optional technical detail — not spoken</a:t>
            </a:r>
          </a:p>
          <a:p>
            <a:pPr/>
            <a:endParaRPr lang="en-US" dirty="0"/>
          </a:p>
          <a:p>
            <a:pPr/>
            <a:r>
              <a:rPr lang="en-US" dirty="0"/>
              <a:t>Aslam et al. (2020), Open Forum Infect Dis 7:ofaa389, doi:10.1093/ofid/ofaa389. Chan et al. (2016), Sci Rep 6:26717, doi:10.1038/srep26717. Kortright et al. (2019), Cell Host Microbe 25:219–232, doi:10.1016/j.chom.2019.01.014. Munita and Arias (2016), Microbiol Spectr 4(2), doi:10.1128/microbiolspec.VMBF-0016-2015. Kortright framing was abstract-based; other sources' relevant full-text sections were consulted.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Simple explanation — study aid, not spoken</a:t>
            </a:r>
          </a:p>
          <a:p>
            <a:pPr/>
            <a:endParaRPr lang="en-US" dirty="0"/>
          </a:p>
          <a:p>
            <a:pPr/>
            <a:r>
              <a:rPr lang="en-US" dirty="0"/>
              <a:t>The matching-assay paper helps explain why a clear spot is not the same as productive infection. The other three papers provide additional clinical comparisons if they come up in questions.</a:t>
            </a:r>
          </a:p>
          <a:p>
            <a:pPr/>
            <a:endParaRPr lang="en-US" dirty="0"/>
          </a:p>
          <a:p>
            <a:pPr/>
            <a:r>
              <a:rPr lang="en-US" dirty="0"/>
              <a:t>Graduate presentation script — optional, outside timed talk</a:t>
            </a:r>
          </a:p>
          <a:p>
            <a:pPr/>
            <a:endParaRPr lang="en-US" dirty="0"/>
          </a:p>
          <a:p>
            <a:pPr/>
            <a:r>
              <a:rPr lang="en-US" dirty="0"/>
              <a:t>Khan Mirzaei and Nilsson support the distinction between spot clearing and plating efficiency. Wright's otitis trial, Sarker's diarrhea trial, and Nir-Paz's TP-102 trial are available for discussion without making the main presentation a catalogue of trials. Their different populations, treatments and endpoints are reasons to compare carefully rather than pool their outcomes.</a:t>
            </a:r>
          </a:p>
          <a:p>
            <a:pPr/>
            <a:endParaRPr lang="en-US" dirty="0"/>
          </a:p>
          <a:p>
            <a:pPr/>
            <a:r>
              <a:rPr lang="en-US" dirty="0"/>
              <a:t>Sources and optional technical detail — not spoken</a:t>
            </a:r>
          </a:p>
          <a:p>
            <a:pPr/>
            <a:endParaRPr lang="en-US" dirty="0"/>
          </a:p>
          <a:p>
            <a:pPr/>
            <a:r>
              <a:rPr lang="en-US" dirty="0"/>
              <a:t>Khan Mirzaei and Nilsson (2015), PLoS ONE 10:e0118557, doi:10.1371/journal.pone.0118557. Wright et al. (2009), Clin Otolaryngol 34:349–357, doi:10.1111/j.1749-4486.2009.01973.x. Sarker et al. (2016), EBioMedicine 4:124–137, doi:10.1016/j.ebiom.2015.12.023. Nir-Paz et al. (2025; electronic publication 2024), Med 6:100565, doi:10.1016/j.medj.2024.11.018.</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Simple explanation — study aid, not spoken</a:t>
            </a:r>
          </a:p>
          <a:p>
            <a:pPr/>
            <a:endParaRPr lang="en-US" dirty="0"/>
          </a:p>
          <a:p>
            <a:pPr/>
            <a:r>
              <a:rPr lang="en-US" dirty="0"/>
              <a:t>This slide is only for questions. Small encouraging studies, unsuccessful trials, and rescue cases all teach something, but they do not combine into one reliable percentage of success. Phage resistance can sometimes carry an antibiotic-sensitivity tradeoff, but that is not guaranteed.</a:t>
            </a:r>
          </a:p>
          <a:p>
            <a:pPr/>
            <a:endParaRPr lang="en-US" dirty="0"/>
          </a:p>
          <a:p>
            <a:pPr/>
            <a:r>
              <a:rPr lang="en-US" dirty="0"/>
              <a:t>Graduate presentation script — optional, outside timed talk</a:t>
            </a:r>
          </a:p>
          <a:p>
            <a:pPr/>
            <a:endParaRPr lang="en-US" dirty="0"/>
          </a:p>
          <a:p>
            <a:pPr/>
            <a:r>
              <a:rPr lang="en-US" dirty="0"/>
              <a:t>The broader literature reinforces the same evidence distinctions. Wright's twenty-four-person otitis trial reported preliminary improvement in a selected susceptible population. Sarker's interim cohort of one hundred twenty children showed no detected diarrhea benefit and limited gut amplification; it was not restricted to confirmed multidrug-resistant infections. Aslam reported seven author-defined successes among ten heterogeneous intravenous cases, with concurrent antibiotics and overlap with an earlier case report. TP-102 randomized nineteen participants and was underpowered to demonstrate healing superiority. Separately, Chan's laboratory work showed that OMKO1 resistance could alter an efflux-related antibiotic-sensitivity tradeoff. That is a preclinical evolutionary mechanism, not a universal clinical resensitization effect. These findings should be interpreted within their designs and indications rather than converted into a single success rate.</a:t>
            </a:r>
          </a:p>
          <a:p>
            <a:pPr/>
            <a:endParaRPr lang="en-US" dirty="0"/>
          </a:p>
          <a:p>
            <a:pPr/>
            <a:r>
              <a:rPr lang="en-US" dirty="0"/>
              <a:t>Sources and optional technical detail — not spoken</a:t>
            </a:r>
          </a:p>
          <a:p>
            <a:pPr/>
            <a:endParaRPr lang="en-US" dirty="0"/>
          </a:p>
          <a:p>
            <a:pPr/>
            <a:r>
              <a:rPr lang="en-US" dirty="0"/>
              <a:t>Wright et al. (2009); Sarker et al. (2016); Aslam et al. (2020); Nir-Paz et al. (2025); Chan et al. (2016). Full references are on slides 14–15. TP-102's infected-subgroup 50% closure counts were 5/7 versus 1/3, P=0.500; these do not show superiority. Aslam's series includes the previously reported Acinetobacter case, so the two reports must not be counted as independent patients.</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bio706_phage_therapy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bio706_phage_therapy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en-US">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en-US">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en-US">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lang="en-US">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en-US">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en-US">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en-US">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en-US">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en-US">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en-US">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en-US">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en-US">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en-US">
          <a:solidFill>
            <a:schemeClr val="tx1"/>
          </a:solidFill>
          <a:latin typeface="+mn-lt"/>
          <a:ea typeface="+mn-ea"/>
          <a:cs typeface="+mn-cs"/>
        </a:defRPr>
      </a:lvl9pPr>
    </p:bodyStyle>
    <p:otherStyle>
      <a:defPPr>
        <a:defRPr lang="en-US"/>
      </a:defPPr>
      <a:lvl1pPr marL="0" algn="l" defTabSz="457200" rtl="0" eaLnBrk="1" latinLnBrk="0" hangingPunct="1">
        <a:defRPr sz="2100" kern="1200" lang="en-US">
          <a:solidFill>
            <a:schemeClr val="tx1"/>
          </a:solidFill>
          <a:latin typeface="+mn-lt"/>
          <a:ea typeface="+mn-ea"/>
          <a:cs typeface="+mn-cs"/>
        </a:defRPr>
      </a:lvl1pPr>
      <a:lvl2pPr marL="457200" algn="l" defTabSz="457200" rtl="0" eaLnBrk="1" latinLnBrk="0" hangingPunct="1">
        <a:defRPr sz="1950" kern="1200" lang="en-US">
          <a:solidFill>
            <a:schemeClr val="tx1"/>
          </a:solidFill>
          <a:latin typeface="+mn-lt"/>
          <a:ea typeface="+mn-ea"/>
          <a:cs typeface="+mn-cs"/>
        </a:defRPr>
      </a:lvl2pPr>
      <a:lvl3pPr marL="914400" algn="l" defTabSz="457200" rtl="0" eaLnBrk="1" latinLnBrk="0" hangingPunct="1">
        <a:defRPr sz="1850" kern="1200" lang="en-US">
          <a:solidFill>
            <a:schemeClr val="tx1"/>
          </a:solidFill>
          <a:latin typeface="+mn-lt"/>
          <a:ea typeface="+mn-ea"/>
          <a:cs typeface="+mn-cs"/>
        </a:defRPr>
      </a:lvl3pPr>
      <a:lvl4pPr marL="1371600" algn="l" defTabSz="457200" rtl="0" eaLnBrk="1" latinLnBrk="0" hangingPunct="1">
        <a:defRPr sz="1700" kern="1200" lang="en-US">
          <a:solidFill>
            <a:schemeClr val="tx1"/>
          </a:solidFill>
          <a:latin typeface="+mn-lt"/>
          <a:ea typeface="+mn-ea"/>
          <a:cs typeface="+mn-cs"/>
        </a:defRPr>
      </a:lvl4pPr>
      <a:lvl5pPr marL="1828800" algn="l" defTabSz="457200" rtl="0" eaLnBrk="1" latinLnBrk="0" hangingPunct="1">
        <a:defRPr sz="1600" kern="1200" lang="en-US">
          <a:solidFill>
            <a:schemeClr val="tx1"/>
          </a:solidFill>
          <a:latin typeface="+mn-lt"/>
          <a:ea typeface="+mn-ea"/>
          <a:cs typeface="+mn-cs"/>
        </a:defRPr>
      </a:lvl5pPr>
      <a:lvl6pPr marL="2286000" algn="l" defTabSz="457200" rtl="0" eaLnBrk="1" latinLnBrk="0" hangingPunct="1">
        <a:defRPr sz="1450" kern="1200" lang="en-US">
          <a:solidFill>
            <a:schemeClr val="tx1"/>
          </a:solidFill>
          <a:latin typeface="+mn-lt"/>
          <a:ea typeface="+mn-ea"/>
          <a:cs typeface="+mn-cs"/>
        </a:defRPr>
      </a:lvl6pPr>
      <a:lvl7pPr marL="2743200" algn="l" defTabSz="457200" rtl="0" eaLnBrk="1" latinLnBrk="0" hangingPunct="1">
        <a:defRPr sz="1300" kern="1200" lang="en-US">
          <a:solidFill>
            <a:schemeClr val="tx1"/>
          </a:solidFill>
          <a:latin typeface="+mn-lt"/>
          <a:ea typeface="+mn-ea"/>
          <a:cs typeface="+mn-cs"/>
        </a:defRPr>
      </a:lvl7pPr>
      <a:lvl8pPr marL="3200400" algn="l" defTabSz="457200" rtl="0" eaLnBrk="1" latinLnBrk="0" hangingPunct="1">
        <a:defRPr sz="1200" kern="1200" lang="en-US">
          <a:solidFill>
            <a:schemeClr val="tx1"/>
          </a:solidFill>
          <a:latin typeface="+mn-lt"/>
          <a:ea typeface="+mn-ea"/>
          <a:cs typeface="+mn-cs"/>
        </a:defRPr>
      </a:lvl8pPr>
      <a:lvl9pPr marL="3657600" algn="l" defTabSz="457200" rtl="0" eaLnBrk="1" latinLnBrk="0" hangingPunct="1">
        <a:defRPr sz="1050" kern="1200" lang="en-US">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5" name="cover-title"/>
          <p:cNvGrpSpPr/>
          <p:nvPr/>
        </p:nvGrpSpPr>
        <p:grpSpPr>
          <a:xfrm>
            <a:off x="438150" y="609600"/>
            <a:ext cx="4512032" cy="2295017"/>
            <a:chOff x="438150" y="609600"/>
            <a:chExt cx="4512032" cy="2295017"/>
          </a:xfrm>
        </p:grpSpPr>
        <p:sp>
          <p:nvSpPr>
            <p:cNvPr id="2" name="TextBox 2"/>
            <p:cNvSpPr txBox="1"/>
            <p:nvPr/>
          </p:nvSpPr>
          <p:spPr>
            <a:xfrm>
              <a:off x="489204" y="609600"/>
              <a:ext cx="3919479" cy="234696"/>
            </a:xfrm>
            <a:prstGeom prst="rect">
              <a:avLst/>
            </a:prstGeom>
            <a:noFill/>
            <a:ln>
              <a:noFill/>
            </a:ln>
          </p:spPr>
          <p:txBody>
            <a:bodyPr wrap="none" lIns="0" tIns="0" rIns="0" bIns="0" anchor="t" anchorCtr="0">
              <a:spAutoFit/>
            </a:bodyPr>
            <a:lstStyle/>
            <a:p>
              <a:pPr algn="l"/>
              <a:r>
                <a:rPr lang="en-US" sz="1200" dirty="0">
                  <a:solidFill>
                    <a:schemeClr val="accent6"/>
                  </a:solidFill>
                  <a:latin typeface="+mn-lt"/>
                  <a:ea typeface="+mn-ea"/>
                  <a:cs typeface="+mn-cs"/>
                </a:rPr>
                <a:t>BIO 706 · INTRODUCTION TO BIOTECHNOLOGY</a:t>
              </a:r>
            </a:p>
          </p:txBody>
        </p:sp>
        <p:sp>
          <p:nvSpPr>
            <p:cNvPr id="3" name="TextBox 3"/>
            <p:cNvSpPr txBox="1"/>
            <p:nvPr/>
          </p:nvSpPr>
          <p:spPr>
            <a:xfrm>
              <a:off x="438150" y="1117600"/>
              <a:ext cx="4512032" cy="933450"/>
            </a:xfrm>
            <a:prstGeom prst="rect">
              <a:avLst/>
            </a:prstGeom>
            <a:noFill/>
            <a:ln>
              <a:noFill/>
            </a:ln>
          </p:spPr>
          <p:txBody>
            <a:bodyPr wrap="none" lIns="0" tIns="0" rIns="0" bIns="0" anchor="t" anchorCtr="0">
              <a:spAutoFit/>
            </a:bodyPr>
            <a:lstStyle/>
            <a:p>
              <a:pPr algn="l"/>
              <a:r>
                <a:rPr lang="en-US" sz="4800" b="1" dirty="0">
                  <a:solidFill>
                    <a:srgbClr val="FFFFFF"/>
                  </a:solidFill>
                  <a:latin typeface="+mn-lt"/>
                  <a:ea typeface="+mn-ea"/>
                  <a:cs typeface="+mn-cs"/>
                </a:rPr>
                <a:t>Phage therapy</a:t>
              </a:r>
            </a:p>
          </p:txBody>
        </p:sp>
        <p:sp>
          <p:nvSpPr>
            <p:cNvPr id="4" name="TextBox 4"/>
            <p:cNvSpPr txBox="1"/>
            <p:nvPr/>
          </p:nvSpPr>
          <p:spPr>
            <a:xfrm>
              <a:off x="483108" y="2016125"/>
              <a:ext cx="3344875" cy="888492"/>
            </a:xfrm>
            <a:prstGeom prst="rect">
              <a:avLst/>
            </a:prstGeom>
            <a:noFill/>
            <a:ln>
              <a:noFill/>
            </a:ln>
          </p:spPr>
          <p:txBody>
            <a:bodyPr wrap="none" lIns="0" tIns="0" rIns="0" bIns="0" anchor="t" anchorCtr="0">
              <a:spAutoFit/>
            </a:bodyPr>
            <a:lstStyle/>
            <a:p>
              <a:pPr algn="l">
                <a:lnSpc>
                  <a:spcPts val="3300"/>
                </a:lnSpc>
              </a:pPr>
              <a:r>
                <a:rPr lang="en-US" sz="2400" dirty="0">
                  <a:solidFill>
                    <a:srgbClr val="FFFFFF"/>
                  </a:solidFill>
                  <a:latin typeface="+mn-lt"/>
                  <a:ea typeface="+mn-ea"/>
                  <a:cs typeface="+mn-cs"/>
                </a:rPr>
                <a:t>Turning bacterial viruses</a:t>
              </a:r>
              <a:br>
                <a:rPr lang="en-US" sz="2400" dirty="0">
                  <a:solidFill>
                    <a:srgbClr val="FFFFFF"/>
                  </a:solidFill>
                  <a:latin typeface="+mn-lt"/>
                  <a:ea typeface="+mn-ea"/>
                  <a:cs typeface="+mn-cs"/>
                </a:rPr>
              </a:br>
              <a:r>
                <a:rPr lang="en-US" sz="2400" dirty="0">
                  <a:solidFill>
                    <a:srgbClr val="FFFFFF"/>
                  </a:solidFill>
                  <a:latin typeface="+mn-lt"/>
                  <a:ea typeface="+mn-ea"/>
                  <a:cs typeface="+mn-cs"/>
                </a:rPr>
                <a:t>into biotechnology</a:t>
              </a:r>
            </a:p>
          </p:txBody>
        </p:sp>
      </p:grpSp>
      <p:grpSp>
        <p:nvGrpSpPr>
          <p:cNvPr id="14" name="biological-model"/>
          <p:cNvGrpSpPr/>
          <p:nvPr/>
        </p:nvGrpSpPr>
        <p:grpSpPr>
          <a:xfrm>
            <a:off x="8077200" y="1666875"/>
            <a:ext cx="3143250" cy="3057525"/>
            <a:chOff x="8077200" y="1666875"/>
            <a:chExt cx="3143250" cy="3057525"/>
          </a:xfrm>
        </p:grpSpPr>
        <p:grpSp>
          <p:nvGrpSpPr>
            <p:cNvPr id="10" name="Group 10"/>
            <p:cNvGrpSpPr/>
            <p:nvPr/>
          </p:nvGrpSpPr>
          <p:grpSpPr>
            <a:xfrm>
              <a:off x="9096375" y="1666875"/>
              <a:ext cx="914400" cy="1828800"/>
              <a:chOff x="9096375" y="1666875"/>
              <a:chExt cx="914400" cy="1828800"/>
            </a:xfrm>
          </p:grpSpPr>
          <p:sp>
            <p:nvSpPr>
              <p:cNvPr id="6" name="Freeform 6"/>
              <p:cNvSpPr/>
              <p:nvPr/>
            </p:nvSpPr>
            <p:spPr>
              <a:xfrm>
                <a:off x="9096375" y="1666875"/>
                <a:ext cx="914400" cy="822960"/>
              </a:xfrm>
              <a:prstGeom prst="hexagon">
                <a:avLst/>
              </a:prstGeom>
              <a:solidFill>
                <a:schemeClr val="accent2"/>
              </a:solidFill>
              <a:ln w="30480">
                <a:solidFill>
                  <a:srgbClr val="0E5363"/>
                </a:solidFill>
              </a:ln>
            </p:spPr>
          </p:sp>
          <p:sp>
            <p:nvSpPr>
              <p:cNvPr id="7" name="Line 7"/>
              <p:cNvSpPr/>
              <p:nvPr/>
            </p:nvSpPr>
            <p:spPr>
              <a:xfrm>
                <a:off x="9553575" y="2489835"/>
                <a:ext cx="9525" cy="762000"/>
              </a:xfrm>
              <a:custGeom>
                <a:avLst/>
                <a:gdLst/>
                <a:ahLst/>
                <a:cxnLst/>
                <a:rect l="l" t="t" r="r" b="b"/>
                <a:pathLst>
                  <a:path w="9525" h="762000">
                    <a:moveTo>
                      <a:pt x="0" y="0"/>
                    </a:moveTo>
                    <a:lnTo>
                      <a:pt x="0" y="762000"/>
                    </a:lnTo>
                  </a:path>
                </a:pathLst>
              </a:custGeom>
              <a:noFill/>
              <a:ln w="91440">
                <a:solidFill>
                  <a:schemeClr val="accent6"/>
                </a:solidFill>
              </a:ln>
            </p:spPr>
          </p:sp>
          <p:sp>
            <p:nvSpPr>
              <p:cNvPr id="8" name="Line 8"/>
              <p:cNvSpPr/>
              <p:nvPr/>
            </p:nvSpPr>
            <p:spPr>
              <a:xfrm>
                <a:off x="9187815" y="3175635"/>
                <a:ext cx="365760" cy="320040"/>
              </a:xfrm>
              <a:custGeom>
                <a:avLst/>
                <a:gdLst/>
                <a:ahLst/>
                <a:cxnLst/>
                <a:rect l="l" t="t" r="r" b="b"/>
                <a:pathLst>
                  <a:path w="365760" h="320040">
                    <a:moveTo>
                      <a:pt x="365760" y="0"/>
                    </a:moveTo>
                    <a:lnTo>
                      <a:pt x="0" y="320040"/>
                    </a:lnTo>
                  </a:path>
                </a:pathLst>
              </a:custGeom>
              <a:noFill/>
              <a:ln w="45720">
                <a:solidFill>
                  <a:schemeClr val="accent6"/>
                </a:solidFill>
              </a:ln>
            </p:spPr>
          </p:sp>
          <p:sp>
            <p:nvSpPr>
              <p:cNvPr id="9" name="Line 9"/>
              <p:cNvSpPr/>
              <p:nvPr/>
            </p:nvSpPr>
            <p:spPr>
              <a:xfrm>
                <a:off x="9553575" y="3175635"/>
                <a:ext cx="365760" cy="320040"/>
              </a:xfrm>
              <a:custGeom>
                <a:avLst/>
                <a:gdLst/>
                <a:ahLst/>
                <a:cxnLst/>
                <a:rect l="l" t="t" r="r" b="b"/>
                <a:pathLst>
                  <a:path w="365760" h="320040">
                    <a:moveTo>
                      <a:pt x="0" y="0"/>
                    </a:moveTo>
                    <a:lnTo>
                      <a:pt x="365760" y="320040"/>
                    </a:lnTo>
                  </a:path>
                </a:pathLst>
              </a:custGeom>
              <a:noFill/>
              <a:ln w="45720">
                <a:solidFill>
                  <a:schemeClr val="accent6"/>
                </a:solidFill>
              </a:ln>
            </p:spPr>
          </p:sp>
        </p:grpSp>
        <p:sp>
          <p:nvSpPr>
            <p:cNvPr id="11" name="Rectangle 11"/>
            <p:cNvSpPr/>
            <p:nvPr/>
          </p:nvSpPr>
          <p:spPr>
            <a:xfrm>
              <a:off x="8077200" y="3752850"/>
              <a:ext cx="3143250" cy="971550"/>
            </a:xfrm>
            <a:prstGeom prst="roundRect">
              <a:avLst>
                <a:gd name="adj" fmla="val 50000"/>
              </a:avLst>
            </a:prstGeom>
            <a:solidFill>
              <a:schemeClr val="accent3"/>
            </a:solidFill>
            <a:ln>
              <a:noFill/>
            </a:ln>
          </p:spPr>
        </p:sp>
        <p:sp>
          <p:nvSpPr>
            <p:cNvPr id="12" name="Freeform 12"/>
            <p:cNvSpPr/>
            <p:nvPr/>
          </p:nvSpPr>
          <p:spPr>
            <a:xfrm>
              <a:off x="8572500" y="4016375"/>
              <a:ext cx="1905000" cy="444500"/>
            </a:xfrm>
            <a:custGeom>
              <a:avLst/>
              <a:gdLst/>
              <a:ahLst/>
              <a:cxnLst/>
              <a:rect l="l" t="t" r="r" b="b"/>
              <a:pathLst>
                <a:path w="1905000" h="444500">
                  <a:moveTo>
                    <a:pt x="0" y="222250"/>
                  </a:moveTo>
                  <a:cubicBezTo>
                    <a:pt x="158750" y="0"/>
                    <a:pt x="317500" y="0"/>
                    <a:pt x="476250" y="222250"/>
                  </a:cubicBezTo>
                  <a:cubicBezTo>
                    <a:pt x="635000" y="444500"/>
                    <a:pt x="793750" y="444500"/>
                    <a:pt x="952500" y="222250"/>
                  </a:cubicBezTo>
                  <a:cubicBezTo>
                    <a:pt x="1111250" y="0"/>
                    <a:pt x="1270000" y="0"/>
                    <a:pt x="1428750" y="222250"/>
                  </a:cubicBezTo>
                  <a:cubicBezTo>
                    <a:pt x="1587500" y="444500"/>
                    <a:pt x="1746250" y="444500"/>
                    <a:pt x="1905000" y="222250"/>
                  </a:cubicBezTo>
                </a:path>
              </a:pathLst>
            </a:custGeom>
            <a:noFill/>
            <a:ln w="28575">
              <a:solidFill>
                <a:schemeClr val="accent1"/>
              </a:solidFill>
            </a:ln>
          </p:spPr>
        </p:sp>
        <p:sp>
          <p:nvSpPr>
            <p:cNvPr id="13" name="Line 13"/>
            <p:cNvSpPr/>
            <p:nvPr/>
          </p:nvSpPr>
          <p:spPr>
            <a:xfrm>
              <a:off x="9553575" y="3524250"/>
              <a:ext cx="9525" cy="228600"/>
            </a:xfrm>
            <a:custGeom>
              <a:avLst/>
              <a:gdLst/>
              <a:ahLst/>
              <a:cxnLst/>
              <a:rect l="l" t="t" r="r" b="b"/>
              <a:pathLst>
                <a:path w="9525" h="228600">
                  <a:moveTo>
                    <a:pt x="0" y="0"/>
                  </a:moveTo>
                  <a:lnTo>
                    <a:pt x="0" y="228600"/>
                  </a:lnTo>
                </a:path>
              </a:pathLst>
            </a:custGeom>
            <a:noFill/>
            <a:ln w="47625">
              <a:solidFill>
                <a:schemeClr val="accent2"/>
              </a:solidFill>
            </a:ln>
          </p:spPr>
        </p:sp>
      </p:grpSp>
      <p:grpSp>
        <p:nvGrpSpPr>
          <p:cNvPr id="17" name="argument"/>
          <p:cNvGrpSpPr/>
          <p:nvPr/>
        </p:nvGrpSpPr>
        <p:grpSpPr>
          <a:xfrm>
            <a:off x="483108" y="3581400"/>
            <a:ext cx="2701442" cy="1739392"/>
            <a:chOff x="483108" y="3581400"/>
            <a:chExt cx="2701442" cy="1739392"/>
          </a:xfrm>
        </p:grpSpPr>
        <p:sp>
          <p:nvSpPr>
            <p:cNvPr id="15" name="TextBox 15"/>
            <p:cNvSpPr txBox="1"/>
            <p:nvPr/>
          </p:nvSpPr>
          <p:spPr>
            <a:xfrm>
              <a:off x="486156" y="3581400"/>
              <a:ext cx="2066544" cy="352044"/>
            </a:xfrm>
            <a:prstGeom prst="rect">
              <a:avLst/>
            </a:prstGeom>
            <a:noFill/>
            <a:ln>
              <a:noFill/>
            </a:ln>
          </p:spPr>
          <p:txBody>
            <a:bodyPr wrap="none" lIns="0" tIns="0" rIns="0" bIns="0" anchor="t" anchorCtr="0">
              <a:spAutoFit/>
            </a:bodyPr>
            <a:lstStyle/>
            <a:p>
              <a:pPr algn="l"/>
              <a:r>
                <a:rPr lang="en-US" sz="1800" dirty="0">
                  <a:solidFill>
                    <a:schemeClr val="accent6"/>
                  </a:solidFill>
                  <a:latin typeface="+mn-lt"/>
                  <a:ea typeface="+mn-ea"/>
                  <a:cs typeface="+mn-cs"/>
                </a:rPr>
                <a:t>THE ARGUMENT</a:t>
              </a:r>
            </a:p>
          </p:txBody>
        </p:sp>
        <p:sp>
          <p:nvSpPr>
            <p:cNvPr id="16" name="TextBox 16"/>
            <p:cNvSpPr txBox="1"/>
            <p:nvPr/>
          </p:nvSpPr>
          <p:spPr>
            <a:xfrm>
              <a:off x="483108" y="3975100"/>
              <a:ext cx="2701442" cy="1345692"/>
            </a:xfrm>
            <a:prstGeom prst="rect">
              <a:avLst/>
            </a:prstGeom>
            <a:noFill/>
            <a:ln>
              <a:noFill/>
            </a:ln>
          </p:spPr>
          <p:txBody>
            <a:bodyPr wrap="none" lIns="0" tIns="0" rIns="0" bIns="0" anchor="t" anchorCtr="0">
              <a:spAutoFit/>
            </a:bodyPr>
            <a:lstStyle/>
            <a:p>
              <a:pPr algn="l">
                <a:lnSpc>
                  <a:spcPts val="3450"/>
                </a:lnSpc>
              </a:pPr>
              <a:r>
                <a:rPr lang="en-US" sz="2400" dirty="0">
                  <a:solidFill>
                    <a:srgbClr val="FFFFFF"/>
                  </a:solidFill>
                  <a:latin typeface="+mn-lt"/>
                  <a:ea typeface="+mn-ea"/>
                  <a:cs typeface="+mn-cs"/>
                </a:rPr>
                <a:t>Match the biology.</a:t>
              </a:r>
              <a:br>
                <a:rPr lang="en-US" sz="2400" dirty="0">
                  <a:solidFill>
                    <a:srgbClr val="FFFFFF"/>
                  </a:solidFill>
                  <a:latin typeface="+mn-lt"/>
                  <a:ea typeface="+mn-ea"/>
                  <a:cs typeface="+mn-cs"/>
                </a:rPr>
              </a:br>
              <a:r>
                <a:rPr lang="en-US" sz="2400" dirty="0">
                  <a:solidFill>
                    <a:srgbClr val="FFFFFF"/>
                  </a:solidFill>
                  <a:latin typeface="+mn-lt"/>
                  <a:ea typeface="+mn-ea"/>
                  <a:cs typeface="+mn-cs"/>
                </a:rPr>
                <a:t>Control the product.</a:t>
              </a:r>
              <a:br>
                <a:rPr lang="en-US" sz="2400" dirty="0">
                  <a:solidFill>
                    <a:srgbClr val="FFFFFF"/>
                  </a:solidFill>
                  <a:latin typeface="+mn-lt"/>
                  <a:ea typeface="+mn-ea"/>
                  <a:cs typeface="+mn-cs"/>
                </a:rPr>
              </a:br>
              <a:r>
                <a:rPr lang="en-US" sz="2400" dirty="0">
                  <a:solidFill>
                    <a:srgbClr val="FFFFFF"/>
                  </a:solidFill>
                  <a:latin typeface="+mn-lt"/>
                  <a:ea typeface="+mn-ea"/>
                  <a:cs typeface="+mn-cs"/>
                </a:rPr>
                <a:t>Prove the benefit.</a:t>
              </a:r>
            </a:p>
          </p:txBody>
        </p:sp>
      </p:grpSp>
      <p:grpSp>
        <p:nvGrpSpPr>
          <p:cNvPr id="20" name="footer"/>
          <p:cNvGrpSpPr/>
          <p:nvPr/>
        </p:nvGrpSpPr>
        <p:grpSpPr>
          <a:xfrm>
            <a:off x="489204" y="6276975"/>
            <a:ext cx="10983719" cy="234696"/>
            <a:chOff x="489204" y="6276975"/>
            <a:chExt cx="10983719" cy="234696"/>
          </a:xfrm>
        </p:grpSpPr>
        <p:sp>
          <p:nvSpPr>
            <p:cNvPr id="18" name="TextBox 18"/>
            <p:cNvSpPr txBox="1"/>
            <p:nvPr/>
          </p:nvSpPr>
          <p:spPr>
            <a:xfrm>
              <a:off x="489204" y="6276975"/>
              <a:ext cx="4959743" cy="234696"/>
            </a:xfrm>
            <a:prstGeom prst="rect">
              <a:avLst/>
            </a:prstGeom>
            <a:noFill/>
            <a:ln>
              <a:noFill/>
            </a:ln>
          </p:spPr>
          <p:txBody>
            <a:bodyPr wrap="none" lIns="0" tIns="0" rIns="0" bIns="0" anchor="t" anchorCtr="0">
              <a:spAutoFit/>
            </a:bodyPr>
            <a:lstStyle/>
            <a:p>
              <a:pPr algn="l"/>
              <a:r>
                <a:rPr lang="en-US" sz="1200" dirty="0">
                  <a:solidFill>
                    <a:schemeClr val="accent6"/>
                  </a:solidFill>
                  <a:latin typeface="+mn-lt"/>
                  <a:ea typeface="+mn-ea"/>
                  <a:cs typeface="+mn-cs"/>
                </a:rPr>
                <a:t>Original simplified schematic · Weiner et al., 2025; Aslam et al., 2020</a:t>
              </a:r>
            </a:p>
          </p:txBody>
        </p:sp>
        <p:sp>
          <p:nvSpPr>
            <p:cNvPr id="19" name="TextBox 19"/>
            <p:cNvSpPr txBox="1"/>
            <p:nvPr/>
          </p:nvSpPr>
          <p:spPr>
            <a:xfrm>
              <a:off x="11281029" y="6276975"/>
              <a:ext cx="191894" cy="234696"/>
            </a:xfrm>
            <a:prstGeom prst="rect">
              <a:avLst/>
            </a:prstGeom>
            <a:noFill/>
            <a:ln>
              <a:noFill/>
            </a:ln>
          </p:spPr>
          <p:txBody>
            <a:bodyPr wrap="none" lIns="0" tIns="0" rIns="0" bIns="0" anchor="t" anchorCtr="0">
              <a:spAutoFit/>
            </a:bodyPr>
            <a:lstStyle/>
            <a:p>
              <a:pPr algn="l"/>
              <a:r>
                <a:rPr lang="en-US" sz="1200" dirty="0">
                  <a:solidFill>
                    <a:schemeClr val="accent6"/>
                  </a:solidFill>
                  <a:latin typeface="+mn-lt"/>
                  <a:ea typeface="+mn-ea"/>
                  <a:cs typeface="+mn-cs"/>
                </a:rPr>
                <a:t>01</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1960" y="371475"/>
            <a:ext cx="9019514" cy="913765"/>
            <a:chOff x="441960" y="371475"/>
            <a:chExt cx="9019514" cy="913765"/>
          </a:xfrm>
        </p:grpSpPr>
        <p:sp>
          <p:nvSpPr>
            <p:cNvPr id="2" name="TextBox 2"/>
            <p:cNvSpPr txBox="1"/>
            <p:nvPr/>
          </p:nvSpPr>
          <p:spPr>
            <a:xfrm>
              <a:off x="451104" y="371475"/>
              <a:ext cx="1112652"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01 / BIOLOGY</a:t>
              </a:r>
            </a:p>
          </p:txBody>
        </p:sp>
        <p:sp>
          <p:nvSpPr>
            <p:cNvPr id="3" name="TextBox 3"/>
            <p:cNvSpPr txBox="1"/>
            <p:nvPr/>
          </p:nvSpPr>
          <p:spPr>
            <a:xfrm>
              <a:off x="441960" y="698500"/>
              <a:ext cx="9019514"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n-lt"/>
                  <a:ea typeface="+mn-ea"/>
                  <a:cs typeface="+mn-cs"/>
                </a:rPr>
                <a:t>Antibiotic resistance calls for a different attack</a:t>
              </a:r>
            </a:p>
          </p:txBody>
        </p:sp>
      </p:grpSp>
      <p:grpSp>
        <p:nvGrpSpPr>
          <p:cNvPr id="11" name="antibiotic-path"/>
          <p:cNvGrpSpPr/>
          <p:nvPr/>
        </p:nvGrpSpPr>
        <p:grpSpPr>
          <a:xfrm>
            <a:off x="654558" y="1755775"/>
            <a:ext cx="4105336" cy="3150870"/>
            <a:chOff x="654558" y="1755775"/>
            <a:chExt cx="4105336" cy="3150870"/>
          </a:xfrm>
        </p:grpSpPr>
        <p:sp>
          <p:nvSpPr>
            <p:cNvPr id="5" name="TextBox 5"/>
            <p:cNvSpPr txBox="1"/>
            <p:nvPr/>
          </p:nvSpPr>
          <p:spPr>
            <a:xfrm>
              <a:off x="654558" y="1755775"/>
              <a:ext cx="1702175"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Antibiotics</a:t>
              </a:r>
            </a:p>
          </p:txBody>
        </p:sp>
        <p:sp>
          <p:nvSpPr>
            <p:cNvPr id="6" name="Rectangle 6"/>
            <p:cNvSpPr/>
            <p:nvPr/>
          </p:nvSpPr>
          <p:spPr>
            <a:xfrm>
              <a:off x="704850" y="2571750"/>
              <a:ext cx="2000250" cy="1381125"/>
            </a:xfrm>
            <a:prstGeom prst="roundRect">
              <a:avLst>
                <a:gd name="adj" fmla="val 44828"/>
              </a:avLst>
            </a:prstGeom>
            <a:solidFill>
              <a:schemeClr val="accent3">
                <a:alpha val="22000"/>
              </a:schemeClr>
            </a:solidFill>
            <a:ln w="28575">
              <a:solidFill>
                <a:schemeClr val="accent3"/>
              </a:solidFill>
            </a:ln>
          </p:spPr>
        </p:sp>
        <p:sp>
          <p:nvSpPr>
            <p:cNvPr id="7" name="Ellipse 7"/>
            <p:cNvSpPr/>
            <p:nvPr/>
          </p:nvSpPr>
          <p:spPr>
            <a:xfrm>
              <a:off x="1066800" y="3095625"/>
              <a:ext cx="304800" cy="304800"/>
            </a:xfrm>
            <a:prstGeom prst="ellipse">
              <a:avLst/>
            </a:prstGeom>
            <a:solidFill>
              <a:schemeClr val="accent3"/>
            </a:solidFill>
            <a:ln>
              <a:noFill/>
            </a:ln>
          </p:spPr>
        </p:sp>
        <p:sp>
          <p:nvSpPr>
            <p:cNvPr id="8" name="Line 8"/>
            <p:cNvSpPr/>
            <p:nvPr/>
          </p:nvSpPr>
          <p:spPr>
            <a:xfrm>
              <a:off x="2619375" y="3238500"/>
              <a:ext cx="619125" cy="9525"/>
            </a:xfrm>
            <a:custGeom>
              <a:avLst/>
              <a:gdLst/>
              <a:ahLst/>
              <a:cxnLst/>
              <a:rect l="l" t="t" r="r" b="b"/>
              <a:pathLst>
                <a:path w="619125" h="9525">
                  <a:moveTo>
                    <a:pt x="0" y="0"/>
                  </a:moveTo>
                  <a:lnTo>
                    <a:pt x="619125" y="0"/>
                  </a:lnTo>
                </a:path>
              </a:pathLst>
            </a:custGeom>
            <a:noFill/>
            <a:ln w="38100">
              <a:solidFill>
                <a:schemeClr val="accent3"/>
              </a:solidFill>
            </a:ln>
          </p:spPr>
        </p:sp>
        <p:sp>
          <p:nvSpPr>
            <p:cNvPr id="9" name="TextBox 9"/>
            <p:cNvSpPr txBox="1"/>
            <p:nvPr/>
          </p:nvSpPr>
          <p:spPr>
            <a:xfrm>
              <a:off x="3038856" y="2397125"/>
              <a:ext cx="1721038" cy="1190244"/>
            </a:xfrm>
            <a:prstGeom prst="rect">
              <a:avLst/>
            </a:prstGeom>
            <a:noFill/>
            <a:ln>
              <a:noFill/>
            </a:ln>
          </p:spPr>
          <p:txBody>
            <a:bodyPr wrap="none" lIns="0" tIns="0" rIns="0" bIns="0" anchor="t" anchorCtr="0">
              <a:spAutoFit/>
            </a:bodyPr>
            <a:lstStyle/>
            <a:p>
              <a:pPr algn="l">
                <a:lnSpc>
                  <a:spcPts val="3300"/>
                </a:lnSpc>
              </a:pPr>
              <a:r>
                <a:rPr lang="en-US" sz="1800" dirty="0">
                  <a:solidFill>
                    <a:schemeClr val="dk1"/>
                  </a:solidFill>
                  <a:latin typeface="+mn-lt"/>
                  <a:ea typeface="+mn-ea"/>
                  <a:cs typeface="+mn-cs"/>
                </a:rPr>
                <a:t>Drug inactivation</a:t>
              </a:r>
              <a:br>
                <a:rPr lang="en-US" sz="1800" dirty="0">
                  <a:solidFill>
                    <a:schemeClr val="dk1"/>
                  </a:solidFill>
                  <a:latin typeface="+mn-lt"/>
                  <a:ea typeface="+mn-ea"/>
                  <a:cs typeface="+mn-cs"/>
                </a:rPr>
              </a:br>
              <a:r>
                <a:rPr lang="en-US" sz="1800" dirty="0">
                  <a:solidFill>
                    <a:schemeClr val="dk1"/>
                  </a:solidFill>
                  <a:latin typeface="+mn-lt"/>
                  <a:ea typeface="+mn-ea"/>
                  <a:cs typeface="+mn-cs"/>
                </a:rPr>
                <a:t>Altered targets</a:t>
              </a:r>
              <a:br>
                <a:rPr lang="en-US" sz="1800" dirty="0">
                  <a:solidFill>
                    <a:schemeClr val="dk1"/>
                  </a:solidFill>
                  <a:latin typeface="+mn-lt"/>
                  <a:ea typeface="+mn-ea"/>
                  <a:cs typeface="+mn-cs"/>
                </a:rPr>
              </a:br>
              <a:r>
                <a:rPr lang="en-US" sz="1800" dirty="0">
                  <a:solidFill>
                    <a:schemeClr val="dk1"/>
                  </a:solidFill>
                  <a:latin typeface="+mn-lt"/>
                  <a:ea typeface="+mn-ea"/>
                  <a:cs typeface="+mn-cs"/>
                </a:rPr>
                <a:t>Drug efflux</a:t>
              </a:r>
            </a:p>
          </p:txBody>
        </p:sp>
        <p:sp>
          <p:nvSpPr>
            <p:cNvPr id="10" name="TextBox 10"/>
            <p:cNvSpPr txBox="1"/>
            <p:nvPr/>
          </p:nvSpPr>
          <p:spPr>
            <a:xfrm>
              <a:off x="697230" y="4327525"/>
              <a:ext cx="2778595" cy="579120"/>
            </a:xfrm>
            <a:prstGeom prst="rect">
              <a:avLst/>
            </a:prstGeom>
            <a:noFill/>
            <a:ln>
              <a:noFill/>
            </a:ln>
          </p:spPr>
          <p:txBody>
            <a:bodyPr wrap="none" lIns="0" tIns="0" rIns="0" bIns="0" anchor="t" anchorCtr="0">
              <a:spAutoFit/>
            </a:bodyPr>
            <a:lstStyle/>
            <a:p>
              <a:pPr algn="l">
                <a:lnSpc>
                  <a:spcPts val="2250"/>
                </a:lnSpc>
              </a:pPr>
              <a:r>
                <a:rPr lang="en-US" sz="1500" dirty="0">
                  <a:solidFill>
                    <a:schemeClr val="accent5"/>
                  </a:solidFill>
                  <a:latin typeface="+mn-lt"/>
                  <a:ea typeface="+mn-ea"/>
                  <a:cs typeface="+mn-cs"/>
                </a:rPr>
                <a:t>Different resistance mechanisms</a:t>
              </a:r>
              <a:br>
                <a:rPr lang="en-US" sz="1500" dirty="0">
                  <a:solidFill>
                    <a:schemeClr val="accent5"/>
                  </a:solidFill>
                  <a:latin typeface="+mn-lt"/>
                  <a:ea typeface="+mn-ea"/>
                  <a:cs typeface="+mn-cs"/>
                </a:rPr>
              </a:br>
              <a:r>
                <a:rPr lang="en-US" sz="1500" dirty="0">
                  <a:solidFill>
                    <a:schemeClr val="accent5"/>
                  </a:solidFill>
                  <a:latin typeface="+mn-lt"/>
                  <a:ea typeface="+mn-ea"/>
                  <a:cs typeface="+mn-cs"/>
                </a:rPr>
                <a:t>protect against different drugs.</a:t>
              </a:r>
            </a:p>
          </p:txBody>
        </p:sp>
      </p:grpSp>
      <p:grpSp>
        <p:nvGrpSpPr>
          <p:cNvPr id="21" name="phage-path"/>
          <p:cNvGrpSpPr/>
          <p:nvPr/>
        </p:nvGrpSpPr>
        <p:grpSpPr>
          <a:xfrm>
            <a:off x="6417183" y="1755775"/>
            <a:ext cx="3654857" cy="3150870"/>
            <a:chOff x="6417183" y="1755775"/>
            <a:chExt cx="3654857" cy="3150870"/>
          </a:xfrm>
        </p:grpSpPr>
        <p:sp>
          <p:nvSpPr>
            <p:cNvPr id="12" name="TextBox 12"/>
            <p:cNvSpPr txBox="1"/>
            <p:nvPr/>
          </p:nvSpPr>
          <p:spPr>
            <a:xfrm>
              <a:off x="6417183" y="1755775"/>
              <a:ext cx="2458185"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Bacteriophages</a:t>
              </a:r>
            </a:p>
          </p:txBody>
        </p:sp>
        <p:sp>
          <p:nvSpPr>
            <p:cNvPr id="13" name="Ellipse 13"/>
            <p:cNvSpPr/>
            <p:nvPr/>
          </p:nvSpPr>
          <p:spPr>
            <a:xfrm>
              <a:off x="6724650" y="2571750"/>
              <a:ext cx="457200" cy="457200"/>
            </a:xfrm>
            <a:prstGeom prst="ellipse">
              <a:avLst/>
            </a:prstGeom>
            <a:solidFill>
              <a:schemeClr val="accent2"/>
            </a:solidFill>
            <a:ln>
              <a:noFill/>
            </a:ln>
          </p:spPr>
        </p:sp>
        <p:sp>
          <p:nvSpPr>
            <p:cNvPr id="14" name="Line 14"/>
            <p:cNvSpPr/>
            <p:nvPr/>
          </p:nvSpPr>
          <p:spPr>
            <a:xfrm>
              <a:off x="6953250" y="3028950"/>
              <a:ext cx="9525" cy="352425"/>
            </a:xfrm>
            <a:custGeom>
              <a:avLst/>
              <a:gdLst/>
              <a:ahLst/>
              <a:cxnLst/>
              <a:rect l="l" t="t" r="r" b="b"/>
              <a:pathLst>
                <a:path w="9525" h="352425">
                  <a:moveTo>
                    <a:pt x="0" y="0"/>
                  </a:moveTo>
                  <a:lnTo>
                    <a:pt x="0" y="352425"/>
                  </a:lnTo>
                </a:path>
              </a:pathLst>
            </a:custGeom>
            <a:noFill/>
            <a:ln w="47625">
              <a:solidFill>
                <a:schemeClr val="accent2"/>
              </a:solidFill>
            </a:ln>
          </p:spPr>
        </p:sp>
        <p:sp>
          <p:nvSpPr>
            <p:cNvPr id="15" name="Line 15"/>
            <p:cNvSpPr/>
            <p:nvPr/>
          </p:nvSpPr>
          <p:spPr>
            <a:xfrm>
              <a:off x="6791325" y="3324225"/>
              <a:ext cx="161925" cy="152400"/>
            </a:xfrm>
            <a:custGeom>
              <a:avLst/>
              <a:gdLst/>
              <a:ahLst/>
              <a:cxnLst/>
              <a:rect l="l" t="t" r="r" b="b"/>
              <a:pathLst>
                <a:path w="161925" h="152400">
                  <a:moveTo>
                    <a:pt x="161925" y="0"/>
                  </a:moveTo>
                  <a:lnTo>
                    <a:pt x="0" y="152400"/>
                  </a:lnTo>
                </a:path>
              </a:pathLst>
            </a:custGeom>
            <a:noFill/>
            <a:ln w="28575">
              <a:solidFill>
                <a:schemeClr val="accent2"/>
              </a:solidFill>
            </a:ln>
          </p:spPr>
        </p:sp>
        <p:sp>
          <p:nvSpPr>
            <p:cNvPr id="16" name="Line 16"/>
            <p:cNvSpPr/>
            <p:nvPr/>
          </p:nvSpPr>
          <p:spPr>
            <a:xfrm>
              <a:off x="6953250" y="3324225"/>
              <a:ext cx="161925" cy="152400"/>
            </a:xfrm>
            <a:custGeom>
              <a:avLst/>
              <a:gdLst/>
              <a:ahLst/>
              <a:cxnLst/>
              <a:rect l="l" t="t" r="r" b="b"/>
              <a:pathLst>
                <a:path w="161925" h="152400">
                  <a:moveTo>
                    <a:pt x="0" y="0"/>
                  </a:moveTo>
                  <a:lnTo>
                    <a:pt x="161925" y="152400"/>
                  </a:lnTo>
                </a:path>
              </a:pathLst>
            </a:custGeom>
            <a:noFill/>
            <a:ln w="28575">
              <a:solidFill>
                <a:schemeClr val="accent2"/>
              </a:solidFill>
            </a:ln>
          </p:spPr>
        </p:sp>
        <p:sp>
          <p:nvSpPr>
            <p:cNvPr id="17" name="Rectangle 17"/>
            <p:cNvSpPr/>
            <p:nvPr/>
          </p:nvSpPr>
          <p:spPr>
            <a:xfrm>
              <a:off x="6429375" y="3524250"/>
              <a:ext cx="1123950" cy="457200"/>
            </a:xfrm>
            <a:prstGeom prst="roundRect">
              <a:avLst>
                <a:gd name="adj" fmla="val 50000"/>
              </a:avLst>
            </a:prstGeom>
            <a:solidFill>
              <a:schemeClr val="accent3">
                <a:alpha val="22000"/>
              </a:schemeClr>
            </a:solidFill>
            <a:ln w="28575">
              <a:solidFill>
                <a:schemeClr val="accent3"/>
              </a:solidFill>
            </a:ln>
          </p:spPr>
        </p:sp>
        <p:sp>
          <p:nvSpPr>
            <p:cNvPr id="18" name="Line 18"/>
            <p:cNvSpPr/>
            <p:nvPr/>
          </p:nvSpPr>
          <p:spPr>
            <a:xfrm>
              <a:off x="6953250" y="3381375"/>
              <a:ext cx="1" cy="152400"/>
            </a:xfrm>
            <a:prstGeom prst="line">
              <a:avLst/>
            </a:prstGeom>
            <a:noFill/>
            <a:ln w="28575">
              <a:solidFill>
                <a:schemeClr val="accent2"/>
              </a:solidFill>
              <a:tailEnd type="triangle" w="lg" len="lg"/>
            </a:ln>
          </p:spPr>
        </p:sp>
        <p:sp>
          <p:nvSpPr>
            <p:cNvPr id="19" name="TextBox 19"/>
            <p:cNvSpPr txBox="1"/>
            <p:nvPr/>
          </p:nvSpPr>
          <p:spPr>
            <a:xfrm>
              <a:off x="7944231" y="2397125"/>
              <a:ext cx="2127809" cy="1190244"/>
            </a:xfrm>
            <a:prstGeom prst="rect">
              <a:avLst/>
            </a:prstGeom>
            <a:noFill/>
            <a:ln>
              <a:noFill/>
            </a:ln>
          </p:spPr>
          <p:txBody>
            <a:bodyPr wrap="none" lIns="0" tIns="0" rIns="0" bIns="0" anchor="t" anchorCtr="0">
              <a:spAutoFit/>
            </a:bodyPr>
            <a:lstStyle/>
            <a:p>
              <a:pPr algn="l">
                <a:lnSpc>
                  <a:spcPts val="3300"/>
                </a:lnSpc>
              </a:pPr>
              <a:r>
                <a:rPr lang="en-US" sz="1800" dirty="0">
                  <a:solidFill>
                    <a:schemeClr val="dk1"/>
                  </a:solidFill>
                  <a:latin typeface="+mn-lt"/>
                  <a:ea typeface="+mn-ea"/>
                  <a:cs typeface="+mn-cs"/>
                </a:rPr>
                <a:t>Receptor recognition</a:t>
              </a:r>
              <a:br>
                <a:rPr lang="en-US" sz="1800" dirty="0">
                  <a:solidFill>
                    <a:schemeClr val="dk1"/>
                  </a:solidFill>
                  <a:latin typeface="+mn-lt"/>
                  <a:ea typeface="+mn-ea"/>
                  <a:cs typeface="+mn-cs"/>
                </a:rPr>
              </a:br>
              <a:r>
                <a:rPr lang="en-US" sz="1800" dirty="0">
                  <a:solidFill>
                    <a:schemeClr val="dk1"/>
                  </a:solidFill>
                  <a:latin typeface="+mn-lt"/>
                  <a:ea typeface="+mn-ea"/>
                  <a:cs typeface="+mn-cs"/>
                </a:rPr>
                <a:t>Genome entry</a:t>
              </a:r>
              <a:br>
                <a:rPr lang="en-US" sz="1800" dirty="0">
                  <a:solidFill>
                    <a:schemeClr val="dk1"/>
                  </a:solidFill>
                  <a:latin typeface="+mn-lt"/>
                  <a:ea typeface="+mn-ea"/>
                  <a:cs typeface="+mn-cs"/>
                </a:rPr>
              </a:br>
              <a:r>
                <a:rPr lang="en-US" sz="1800" dirty="0">
                  <a:solidFill>
                    <a:schemeClr val="dk1"/>
                  </a:solidFill>
                  <a:latin typeface="+mn-lt"/>
                  <a:ea typeface="+mn-ea"/>
                  <a:cs typeface="+mn-cs"/>
                </a:rPr>
                <a:t>Productive infection</a:t>
              </a:r>
            </a:p>
          </p:txBody>
        </p:sp>
        <p:sp>
          <p:nvSpPr>
            <p:cNvPr id="20" name="TextBox 20"/>
            <p:cNvSpPr txBox="1"/>
            <p:nvPr/>
          </p:nvSpPr>
          <p:spPr>
            <a:xfrm>
              <a:off x="6421755" y="4327525"/>
              <a:ext cx="3404197" cy="579120"/>
            </a:xfrm>
            <a:prstGeom prst="rect">
              <a:avLst/>
            </a:prstGeom>
            <a:noFill/>
            <a:ln>
              <a:noFill/>
            </a:ln>
          </p:spPr>
          <p:txBody>
            <a:bodyPr wrap="none" lIns="0" tIns="0" rIns="0" bIns="0" anchor="t" anchorCtr="0">
              <a:spAutoFit/>
            </a:bodyPr>
            <a:lstStyle/>
            <a:p>
              <a:pPr algn="l">
                <a:lnSpc>
                  <a:spcPts val="2250"/>
                </a:lnSpc>
              </a:pPr>
              <a:r>
                <a:rPr lang="en-US" sz="1500" dirty="0">
                  <a:solidFill>
                    <a:schemeClr val="accent5"/>
                  </a:solidFill>
                  <a:latin typeface="+mn-lt"/>
                  <a:ea typeface="+mn-ea"/>
                  <a:cs typeface="+mn-cs"/>
                </a:rPr>
                <a:t>Antibiotic resistance does not guarantee</a:t>
              </a:r>
              <a:br>
                <a:rPr lang="en-US" sz="1500" dirty="0">
                  <a:solidFill>
                    <a:schemeClr val="accent5"/>
                  </a:solidFill>
                  <a:latin typeface="+mn-lt"/>
                  <a:ea typeface="+mn-ea"/>
                  <a:cs typeface="+mn-cs"/>
                </a:rPr>
              </a:br>
              <a:r>
                <a:rPr lang="en-US" sz="1500" dirty="0">
                  <a:solidFill>
                    <a:schemeClr val="accent5"/>
                  </a:solidFill>
                  <a:latin typeface="+mn-lt"/>
                  <a:ea typeface="+mn-ea"/>
                  <a:cs typeface="+mn-cs"/>
                </a:rPr>
                <a:t>susceptibility to a particular phage.</a:t>
              </a:r>
            </a:p>
          </p:txBody>
        </p:sp>
      </p:grpSp>
      <p:grpSp>
        <p:nvGrpSpPr>
          <p:cNvPr id="24" name="takeaway"/>
          <p:cNvGrpSpPr/>
          <p:nvPr/>
        </p:nvGrpSpPr>
        <p:grpSpPr>
          <a:xfrm>
            <a:off x="446532" y="5543550"/>
            <a:ext cx="11288268" cy="556768"/>
            <a:chOff x="446532" y="5543550"/>
            <a:chExt cx="11288268" cy="556768"/>
          </a:xfrm>
        </p:grpSpPr>
        <p:sp>
          <p:nvSpPr>
            <p:cNvPr id="22" name="Line 22"/>
            <p:cNvSpPr/>
            <p:nvPr/>
          </p:nvSpPr>
          <p:spPr>
            <a:xfrm>
              <a:off x="457200" y="5543550"/>
              <a:ext cx="11277600" cy="9525"/>
            </a:xfrm>
            <a:custGeom>
              <a:avLst/>
              <a:gdLst/>
              <a:ahLst/>
              <a:cxnLst/>
              <a:rect l="l" t="t" r="r" b="b"/>
              <a:pathLst>
                <a:path w="11277600" h="9525">
                  <a:moveTo>
                    <a:pt x="0" y="0"/>
                  </a:moveTo>
                  <a:lnTo>
                    <a:pt x="11277600" y="0"/>
                  </a:lnTo>
                </a:path>
              </a:pathLst>
            </a:custGeom>
            <a:noFill/>
            <a:ln w="19050">
              <a:solidFill>
                <a:schemeClr val="accent6"/>
              </a:solidFill>
            </a:ln>
          </p:spPr>
        </p:sp>
        <p:sp>
          <p:nvSpPr>
            <p:cNvPr id="23" name="TextBox 23"/>
            <p:cNvSpPr txBox="1"/>
            <p:nvPr/>
          </p:nvSpPr>
          <p:spPr>
            <a:xfrm>
              <a:off x="446532" y="5689600"/>
              <a:ext cx="7869313" cy="410718"/>
            </a:xfrm>
            <a:prstGeom prst="rect">
              <a:avLst/>
            </a:prstGeom>
            <a:noFill/>
            <a:ln>
              <a:noFill/>
            </a:ln>
          </p:spPr>
          <p:txBody>
            <a:bodyPr wrap="none" lIns="0" tIns="0" rIns="0" bIns="0" anchor="t" anchorCtr="0">
              <a:spAutoFit/>
            </a:bodyPr>
            <a:lstStyle/>
            <a:p>
              <a:pPr algn="l"/>
              <a:r>
                <a:rPr lang="en-US" sz="2100" dirty="0">
                  <a:solidFill>
                    <a:schemeClr val="accent1"/>
                  </a:solidFill>
                  <a:latin typeface="+mn-lt"/>
                  <a:ea typeface="+mn-ea"/>
                  <a:cs typeface="+mn-cs"/>
                </a:rPr>
                <a:t xml:space="preserve">A different biological route still requires </a:t>
              </a:r>
              <a:r>
                <a:rPr lang="en-US" sz="2100" b="1" dirty="0">
                  <a:solidFill>
                    <a:schemeClr val="accent1"/>
                  </a:solidFill>
                  <a:latin typeface="+mn-lt"/>
                  <a:ea typeface="+mn-ea"/>
                  <a:cs typeface="+mn-cs"/>
                </a:rPr>
                <a:t>strain-level matching.</a:t>
              </a:r>
            </a:p>
          </p:txBody>
        </p:sp>
      </p:grpSp>
      <p:grpSp>
        <p:nvGrpSpPr>
          <p:cNvPr id="27" name="footer"/>
          <p:cNvGrpSpPr/>
          <p:nvPr/>
        </p:nvGrpSpPr>
        <p:grpSpPr>
          <a:xfrm>
            <a:off x="451104" y="6391275"/>
            <a:ext cx="11021819" cy="234696"/>
            <a:chOff x="451104" y="6391275"/>
            <a:chExt cx="11021819" cy="234696"/>
          </a:xfrm>
        </p:grpSpPr>
        <p:sp>
          <p:nvSpPr>
            <p:cNvPr id="25" name="TextBox 25"/>
            <p:cNvSpPr txBox="1"/>
            <p:nvPr/>
          </p:nvSpPr>
          <p:spPr>
            <a:xfrm>
              <a:off x="451104" y="6391275"/>
              <a:ext cx="4268935"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Simplified models · Munita &amp; Arias, 2016; Chan et al., 2016</a:t>
              </a:r>
            </a:p>
          </p:txBody>
        </p:sp>
        <p:sp>
          <p:nvSpPr>
            <p:cNvPr id="26" name="TextBox 26"/>
            <p:cNvSpPr txBox="1"/>
            <p:nvPr/>
          </p:nvSpPr>
          <p:spPr>
            <a:xfrm>
              <a:off x="11281029" y="6391275"/>
              <a:ext cx="19189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02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1960" y="371475"/>
            <a:ext cx="9108603" cy="913765"/>
            <a:chOff x="441960" y="371475"/>
            <a:chExt cx="9108603" cy="913765"/>
          </a:xfrm>
        </p:grpSpPr>
        <p:sp>
          <p:nvSpPr>
            <p:cNvPr id="2" name="TextBox 2"/>
            <p:cNvSpPr txBox="1"/>
            <p:nvPr/>
          </p:nvSpPr>
          <p:spPr>
            <a:xfrm>
              <a:off x="451104" y="371475"/>
              <a:ext cx="1112652"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01 / BIOLOGY</a:t>
              </a:r>
            </a:p>
          </p:txBody>
        </p:sp>
        <p:sp>
          <p:nvSpPr>
            <p:cNvPr id="3" name="TextBox 3"/>
            <p:cNvSpPr txBox="1"/>
            <p:nvPr/>
          </p:nvSpPr>
          <p:spPr>
            <a:xfrm>
              <a:off x="441960" y="698500"/>
              <a:ext cx="9108603"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n-lt"/>
                  <a:ea typeface="+mn-ea"/>
                  <a:cs typeface="+mn-cs"/>
                </a:rPr>
                <a:t>The lytic cycle turns one infection into progeny</a:t>
              </a:r>
            </a:p>
          </p:txBody>
        </p:sp>
      </p:grpSp>
      <p:grpSp>
        <p:nvGrpSpPr>
          <p:cNvPr id="44" name="infection-sequence"/>
          <p:cNvGrpSpPr/>
          <p:nvPr/>
        </p:nvGrpSpPr>
        <p:grpSpPr>
          <a:xfrm>
            <a:off x="657606" y="1800225"/>
            <a:ext cx="10720009" cy="3312795"/>
            <a:chOff x="657606" y="1800225"/>
            <a:chExt cx="10720009" cy="3312795"/>
          </a:xfrm>
        </p:grpSpPr>
        <p:sp>
          <p:nvSpPr>
            <p:cNvPr id="5" name="Line 5"/>
            <p:cNvSpPr/>
            <p:nvPr/>
          </p:nvSpPr>
          <p:spPr>
            <a:xfrm>
              <a:off x="2533650" y="3124200"/>
              <a:ext cx="733425" cy="1"/>
            </a:xfrm>
            <a:prstGeom prst="line">
              <a:avLst/>
            </a:prstGeom>
            <a:noFill/>
            <a:ln w="28575">
              <a:solidFill>
                <a:schemeClr val="accent2"/>
              </a:solidFill>
              <a:tailEnd type="triangle" w="lg" len="lg"/>
            </a:ln>
          </p:spPr>
        </p:sp>
        <p:sp>
          <p:nvSpPr>
            <p:cNvPr id="6" name="Line 6"/>
            <p:cNvSpPr/>
            <p:nvPr/>
          </p:nvSpPr>
          <p:spPr>
            <a:xfrm>
              <a:off x="5457825" y="3124200"/>
              <a:ext cx="742950" cy="1"/>
            </a:xfrm>
            <a:prstGeom prst="line">
              <a:avLst/>
            </a:prstGeom>
            <a:noFill/>
            <a:ln w="28575">
              <a:solidFill>
                <a:schemeClr val="accent2"/>
              </a:solidFill>
              <a:tailEnd type="triangle" w="lg" len="lg"/>
            </a:ln>
          </p:spPr>
        </p:sp>
        <p:sp>
          <p:nvSpPr>
            <p:cNvPr id="7" name="Line 7"/>
            <p:cNvSpPr/>
            <p:nvPr/>
          </p:nvSpPr>
          <p:spPr>
            <a:xfrm>
              <a:off x="8382000" y="3124200"/>
              <a:ext cx="742950" cy="1"/>
            </a:xfrm>
            <a:prstGeom prst="line">
              <a:avLst/>
            </a:prstGeom>
            <a:noFill/>
            <a:ln w="28575">
              <a:solidFill>
                <a:schemeClr val="accent2"/>
              </a:solidFill>
              <a:tailEnd type="triangle" w="lg" len="lg"/>
            </a:ln>
          </p:spPr>
        </p:sp>
        <p:grpSp>
          <p:nvGrpSpPr>
            <p:cNvPr id="15" name="adsorption"/>
            <p:cNvGrpSpPr/>
            <p:nvPr/>
          </p:nvGrpSpPr>
          <p:grpSpPr>
            <a:xfrm>
              <a:off x="657606" y="1800225"/>
              <a:ext cx="1818894" cy="2665095"/>
              <a:chOff x="657606" y="1800225"/>
              <a:chExt cx="1818894" cy="2665095"/>
            </a:xfrm>
          </p:grpSpPr>
          <p:sp>
            <p:nvSpPr>
              <p:cNvPr id="8" name="TextBox 8"/>
              <p:cNvSpPr txBox="1"/>
              <p:nvPr/>
            </p:nvSpPr>
            <p:spPr>
              <a:xfrm>
                <a:off x="657606" y="1800225"/>
                <a:ext cx="1227796"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1 · Adsorb</a:t>
                </a:r>
              </a:p>
            </p:txBody>
          </p:sp>
          <p:sp>
            <p:nvSpPr>
              <p:cNvPr id="9" name="Rectangle 9"/>
              <p:cNvSpPr/>
              <p:nvPr/>
            </p:nvSpPr>
            <p:spPr>
              <a:xfrm>
                <a:off x="666750" y="2952750"/>
                <a:ext cx="1809750" cy="876300"/>
              </a:xfrm>
              <a:prstGeom prst="roundRect">
                <a:avLst>
                  <a:gd name="adj" fmla="val 50000"/>
                </a:avLst>
              </a:prstGeom>
              <a:solidFill>
                <a:schemeClr val="accent3">
                  <a:alpha val="22000"/>
                </a:schemeClr>
              </a:solidFill>
              <a:ln w="28575">
                <a:solidFill>
                  <a:schemeClr val="accent3"/>
                </a:solidFill>
              </a:ln>
            </p:spPr>
          </p:sp>
          <p:sp>
            <p:nvSpPr>
              <p:cNvPr id="10" name="Ellipse 10"/>
              <p:cNvSpPr/>
              <p:nvPr/>
            </p:nvSpPr>
            <p:spPr>
              <a:xfrm>
                <a:off x="1323975" y="2143125"/>
                <a:ext cx="438150" cy="438150"/>
              </a:xfrm>
              <a:prstGeom prst="ellipse">
                <a:avLst/>
              </a:prstGeom>
              <a:solidFill>
                <a:schemeClr val="accent2"/>
              </a:solidFill>
              <a:ln>
                <a:noFill/>
              </a:ln>
            </p:spPr>
          </p:sp>
          <p:sp>
            <p:nvSpPr>
              <p:cNvPr id="11" name="Line 11"/>
              <p:cNvSpPr/>
              <p:nvPr/>
            </p:nvSpPr>
            <p:spPr>
              <a:xfrm>
                <a:off x="1543050" y="2581275"/>
                <a:ext cx="9525" cy="371475"/>
              </a:xfrm>
              <a:custGeom>
                <a:avLst/>
                <a:gdLst/>
                <a:ahLst/>
                <a:cxnLst/>
                <a:rect l="l" t="t" r="r" b="b"/>
                <a:pathLst>
                  <a:path w="9525" h="371475">
                    <a:moveTo>
                      <a:pt x="0" y="0"/>
                    </a:moveTo>
                    <a:lnTo>
                      <a:pt x="0" y="371475"/>
                    </a:lnTo>
                  </a:path>
                </a:pathLst>
              </a:custGeom>
              <a:noFill/>
              <a:ln w="47625">
                <a:solidFill>
                  <a:schemeClr val="accent2"/>
                </a:solidFill>
              </a:ln>
            </p:spPr>
          </p:sp>
          <p:sp>
            <p:nvSpPr>
              <p:cNvPr id="12" name="Line 12"/>
              <p:cNvSpPr/>
              <p:nvPr/>
            </p:nvSpPr>
            <p:spPr>
              <a:xfrm>
                <a:off x="1381125" y="2800350"/>
                <a:ext cx="161925" cy="152400"/>
              </a:xfrm>
              <a:custGeom>
                <a:avLst/>
                <a:gdLst/>
                <a:ahLst/>
                <a:cxnLst/>
                <a:rect l="l" t="t" r="r" b="b"/>
                <a:pathLst>
                  <a:path w="161925" h="152400">
                    <a:moveTo>
                      <a:pt x="161925" y="0"/>
                    </a:moveTo>
                    <a:lnTo>
                      <a:pt x="0" y="152400"/>
                    </a:lnTo>
                  </a:path>
                </a:pathLst>
              </a:custGeom>
              <a:noFill/>
              <a:ln w="28575">
                <a:solidFill>
                  <a:schemeClr val="accent2"/>
                </a:solidFill>
              </a:ln>
            </p:spPr>
          </p:sp>
          <p:sp>
            <p:nvSpPr>
              <p:cNvPr id="13" name="Line 13"/>
              <p:cNvSpPr/>
              <p:nvPr/>
            </p:nvSpPr>
            <p:spPr>
              <a:xfrm>
                <a:off x="1543050" y="2800350"/>
                <a:ext cx="161925" cy="152400"/>
              </a:xfrm>
              <a:custGeom>
                <a:avLst/>
                <a:gdLst/>
                <a:ahLst/>
                <a:cxnLst/>
                <a:rect l="l" t="t" r="r" b="b"/>
                <a:pathLst>
                  <a:path w="161925" h="152400">
                    <a:moveTo>
                      <a:pt x="0" y="0"/>
                    </a:moveTo>
                    <a:lnTo>
                      <a:pt x="161925" y="152400"/>
                    </a:lnTo>
                  </a:path>
                </a:pathLst>
              </a:custGeom>
              <a:noFill/>
              <a:ln w="28575">
                <a:solidFill>
                  <a:schemeClr val="accent2"/>
                </a:solidFill>
              </a:ln>
            </p:spPr>
          </p:sp>
          <p:sp>
            <p:nvSpPr>
              <p:cNvPr id="14" name="TextBox 14"/>
              <p:cNvSpPr txBox="1"/>
              <p:nvPr/>
            </p:nvSpPr>
            <p:spPr>
              <a:xfrm>
                <a:off x="659130" y="4171950"/>
                <a:ext cx="1547794"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Receptor binding</a:t>
                </a:r>
              </a:p>
            </p:txBody>
          </p:sp>
        </p:grpSp>
        <p:grpSp>
          <p:nvGrpSpPr>
            <p:cNvPr id="22" name="genome-entry"/>
            <p:cNvGrpSpPr/>
            <p:nvPr/>
          </p:nvGrpSpPr>
          <p:grpSpPr>
            <a:xfrm>
              <a:off x="3515106" y="1800225"/>
              <a:ext cx="2182392" cy="2665095"/>
              <a:chOff x="3515106" y="1800225"/>
              <a:chExt cx="2182392" cy="2665095"/>
            </a:xfrm>
          </p:grpSpPr>
          <p:sp>
            <p:nvSpPr>
              <p:cNvPr id="16" name="TextBox 16"/>
              <p:cNvSpPr txBox="1"/>
              <p:nvPr/>
            </p:nvSpPr>
            <p:spPr>
              <a:xfrm>
                <a:off x="3515106" y="1800225"/>
                <a:ext cx="2182392"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2 · Deliver genome</a:t>
                </a:r>
              </a:p>
            </p:txBody>
          </p:sp>
          <p:sp>
            <p:nvSpPr>
              <p:cNvPr id="17" name="Rectangle 17"/>
              <p:cNvSpPr/>
              <p:nvPr/>
            </p:nvSpPr>
            <p:spPr>
              <a:xfrm>
                <a:off x="3524250" y="2952750"/>
                <a:ext cx="1809750" cy="876300"/>
              </a:xfrm>
              <a:prstGeom prst="roundRect">
                <a:avLst>
                  <a:gd name="adj" fmla="val 50000"/>
                </a:avLst>
              </a:prstGeom>
              <a:solidFill>
                <a:schemeClr val="accent3">
                  <a:alpha val="22000"/>
                </a:schemeClr>
              </a:solidFill>
              <a:ln w="28575">
                <a:solidFill>
                  <a:schemeClr val="accent3"/>
                </a:solidFill>
              </a:ln>
            </p:spPr>
          </p:sp>
          <p:sp>
            <p:nvSpPr>
              <p:cNvPr id="18" name="Ellipse 18"/>
              <p:cNvSpPr/>
              <p:nvPr/>
            </p:nvSpPr>
            <p:spPr>
              <a:xfrm>
                <a:off x="4210050" y="2143125"/>
                <a:ext cx="438150" cy="438150"/>
              </a:xfrm>
              <a:prstGeom prst="ellipse">
                <a:avLst/>
              </a:prstGeom>
              <a:noFill/>
              <a:ln w="28575">
                <a:solidFill>
                  <a:schemeClr val="accent2"/>
                </a:solidFill>
              </a:ln>
            </p:spPr>
          </p:sp>
          <p:sp>
            <p:nvSpPr>
              <p:cNvPr id="19" name="Line 19"/>
              <p:cNvSpPr/>
              <p:nvPr/>
            </p:nvSpPr>
            <p:spPr>
              <a:xfrm>
                <a:off x="4429125" y="2581275"/>
                <a:ext cx="9525" cy="438150"/>
              </a:xfrm>
              <a:custGeom>
                <a:avLst/>
                <a:gdLst/>
                <a:ahLst/>
                <a:cxnLst/>
                <a:rect l="l" t="t" r="r" b="b"/>
                <a:pathLst>
                  <a:path w="9525" h="438150">
                    <a:moveTo>
                      <a:pt x="0" y="0"/>
                    </a:moveTo>
                    <a:lnTo>
                      <a:pt x="0" y="438150"/>
                    </a:lnTo>
                  </a:path>
                </a:pathLst>
              </a:custGeom>
              <a:noFill/>
              <a:ln w="47625">
                <a:solidFill>
                  <a:schemeClr val="accent2"/>
                </a:solidFill>
              </a:ln>
            </p:spPr>
          </p:sp>
          <p:sp>
            <p:nvSpPr>
              <p:cNvPr id="20" name="Freeform 20"/>
              <p:cNvSpPr/>
              <p:nvPr/>
            </p:nvSpPr>
            <p:spPr>
              <a:xfrm>
                <a:off x="4286250" y="3190875"/>
                <a:ext cx="342900" cy="447675"/>
              </a:xfrm>
              <a:custGeom>
                <a:avLst/>
                <a:gdLst/>
                <a:ahLst/>
                <a:cxnLst/>
                <a:rect l="l" t="t" r="r" b="b"/>
                <a:pathLst>
                  <a:path w="342900" h="447675">
                    <a:moveTo>
                      <a:pt x="95250" y="0"/>
                    </a:moveTo>
                    <a:cubicBezTo>
                      <a:pt x="0" y="95250"/>
                      <a:pt x="22225" y="171450"/>
                      <a:pt x="161925" y="228600"/>
                    </a:cubicBezTo>
                    <a:cubicBezTo>
                      <a:pt x="301625" y="285750"/>
                      <a:pt x="342900" y="358775"/>
                      <a:pt x="285750" y="447675"/>
                    </a:cubicBezTo>
                  </a:path>
                </a:pathLst>
              </a:custGeom>
              <a:noFill/>
              <a:ln w="28575">
                <a:solidFill>
                  <a:schemeClr val="accent2"/>
                </a:solidFill>
              </a:ln>
            </p:spPr>
          </p:sp>
          <p:sp>
            <p:nvSpPr>
              <p:cNvPr id="21" name="TextBox 21"/>
              <p:cNvSpPr txBox="1"/>
              <p:nvPr/>
            </p:nvSpPr>
            <p:spPr>
              <a:xfrm>
                <a:off x="3516630" y="4171950"/>
                <a:ext cx="185136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Genome enters host</a:t>
                </a:r>
              </a:p>
            </p:txBody>
          </p:sp>
        </p:grpSp>
        <p:grpSp>
          <p:nvGrpSpPr>
            <p:cNvPr id="32" name="replication"/>
            <p:cNvGrpSpPr/>
            <p:nvPr/>
          </p:nvGrpSpPr>
          <p:grpSpPr>
            <a:xfrm>
              <a:off x="6420231" y="1800225"/>
              <a:ext cx="2105067" cy="2665095"/>
              <a:chOff x="6420231" y="1800225"/>
              <a:chExt cx="2105067" cy="2665095"/>
            </a:xfrm>
          </p:grpSpPr>
          <p:sp>
            <p:nvSpPr>
              <p:cNvPr id="23" name="TextBox 23"/>
              <p:cNvSpPr txBox="1"/>
              <p:nvPr/>
            </p:nvSpPr>
            <p:spPr>
              <a:xfrm>
                <a:off x="6420231" y="1800225"/>
                <a:ext cx="2006569"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3 · Build progeny</a:t>
                </a:r>
              </a:p>
            </p:txBody>
          </p:sp>
          <p:sp>
            <p:nvSpPr>
              <p:cNvPr id="24" name="Rectangle 24"/>
              <p:cNvSpPr/>
              <p:nvPr/>
            </p:nvSpPr>
            <p:spPr>
              <a:xfrm>
                <a:off x="6429375" y="2952750"/>
                <a:ext cx="1809750" cy="876300"/>
              </a:xfrm>
              <a:prstGeom prst="roundRect">
                <a:avLst>
                  <a:gd name="adj" fmla="val 50000"/>
                </a:avLst>
              </a:prstGeom>
              <a:solidFill>
                <a:schemeClr val="accent3">
                  <a:alpha val="22000"/>
                </a:schemeClr>
              </a:solidFill>
              <a:ln w="28575">
                <a:solidFill>
                  <a:schemeClr val="accent3"/>
                </a:solidFill>
              </a:ln>
            </p:spPr>
          </p:sp>
          <p:sp>
            <p:nvSpPr>
              <p:cNvPr id="25" name="Ellipse 25"/>
              <p:cNvSpPr/>
              <p:nvPr/>
            </p:nvSpPr>
            <p:spPr>
              <a:xfrm>
                <a:off x="6696075" y="3171825"/>
                <a:ext cx="228600" cy="228600"/>
              </a:xfrm>
              <a:prstGeom prst="ellipse">
                <a:avLst/>
              </a:prstGeom>
              <a:solidFill>
                <a:schemeClr val="accent2"/>
              </a:solidFill>
              <a:ln>
                <a:noFill/>
              </a:ln>
            </p:spPr>
          </p:sp>
          <p:sp>
            <p:nvSpPr>
              <p:cNvPr id="26" name="Ellipse 26"/>
              <p:cNvSpPr/>
              <p:nvPr/>
            </p:nvSpPr>
            <p:spPr>
              <a:xfrm>
                <a:off x="7172325" y="3171825"/>
                <a:ext cx="228600" cy="228600"/>
              </a:xfrm>
              <a:prstGeom prst="ellipse">
                <a:avLst/>
              </a:prstGeom>
              <a:solidFill>
                <a:schemeClr val="accent2"/>
              </a:solidFill>
              <a:ln>
                <a:noFill/>
              </a:ln>
            </p:spPr>
          </p:sp>
          <p:sp>
            <p:nvSpPr>
              <p:cNvPr id="27" name="Ellipse 27"/>
              <p:cNvSpPr/>
              <p:nvPr/>
            </p:nvSpPr>
            <p:spPr>
              <a:xfrm>
                <a:off x="7648575" y="3171825"/>
                <a:ext cx="228600" cy="228600"/>
              </a:xfrm>
              <a:prstGeom prst="ellipse">
                <a:avLst/>
              </a:prstGeom>
              <a:solidFill>
                <a:schemeClr val="accent2"/>
              </a:solidFill>
              <a:ln>
                <a:noFill/>
              </a:ln>
            </p:spPr>
          </p:sp>
          <p:sp>
            <p:nvSpPr>
              <p:cNvPr id="28" name="Line 28"/>
              <p:cNvSpPr/>
              <p:nvPr/>
            </p:nvSpPr>
            <p:spPr>
              <a:xfrm>
                <a:off x="6810375" y="3400425"/>
                <a:ext cx="9525" cy="219075"/>
              </a:xfrm>
              <a:custGeom>
                <a:avLst/>
                <a:gdLst/>
                <a:ahLst/>
                <a:cxnLst/>
                <a:rect l="l" t="t" r="r" b="b"/>
                <a:pathLst>
                  <a:path w="9525" h="219075">
                    <a:moveTo>
                      <a:pt x="0" y="0"/>
                    </a:moveTo>
                    <a:lnTo>
                      <a:pt x="0" y="219075"/>
                    </a:lnTo>
                  </a:path>
                </a:pathLst>
              </a:custGeom>
              <a:noFill/>
              <a:ln w="28575">
                <a:solidFill>
                  <a:schemeClr val="accent2"/>
                </a:solidFill>
              </a:ln>
            </p:spPr>
          </p:sp>
          <p:sp>
            <p:nvSpPr>
              <p:cNvPr id="29" name="Line 29"/>
              <p:cNvSpPr/>
              <p:nvPr/>
            </p:nvSpPr>
            <p:spPr>
              <a:xfrm>
                <a:off x="7286625" y="3400425"/>
                <a:ext cx="9525" cy="219075"/>
              </a:xfrm>
              <a:custGeom>
                <a:avLst/>
                <a:gdLst/>
                <a:ahLst/>
                <a:cxnLst/>
                <a:rect l="l" t="t" r="r" b="b"/>
                <a:pathLst>
                  <a:path w="9525" h="219075">
                    <a:moveTo>
                      <a:pt x="0" y="0"/>
                    </a:moveTo>
                    <a:lnTo>
                      <a:pt x="0" y="219075"/>
                    </a:lnTo>
                  </a:path>
                </a:pathLst>
              </a:custGeom>
              <a:noFill/>
              <a:ln w="28575">
                <a:solidFill>
                  <a:schemeClr val="accent2"/>
                </a:solidFill>
              </a:ln>
            </p:spPr>
          </p:sp>
          <p:sp>
            <p:nvSpPr>
              <p:cNvPr id="30" name="Line 30"/>
              <p:cNvSpPr/>
              <p:nvPr/>
            </p:nvSpPr>
            <p:spPr>
              <a:xfrm>
                <a:off x="7762875" y="3400425"/>
                <a:ext cx="9525" cy="219075"/>
              </a:xfrm>
              <a:custGeom>
                <a:avLst/>
                <a:gdLst/>
                <a:ahLst/>
                <a:cxnLst/>
                <a:rect l="l" t="t" r="r" b="b"/>
                <a:pathLst>
                  <a:path w="9525" h="219075">
                    <a:moveTo>
                      <a:pt x="0" y="0"/>
                    </a:moveTo>
                    <a:lnTo>
                      <a:pt x="0" y="219075"/>
                    </a:lnTo>
                  </a:path>
                </a:pathLst>
              </a:custGeom>
              <a:noFill/>
              <a:ln w="28575">
                <a:solidFill>
                  <a:schemeClr val="accent2"/>
                </a:solidFill>
              </a:ln>
            </p:spPr>
          </p:sp>
          <p:sp>
            <p:nvSpPr>
              <p:cNvPr id="31" name="TextBox 31"/>
              <p:cNvSpPr txBox="1"/>
              <p:nvPr/>
            </p:nvSpPr>
            <p:spPr>
              <a:xfrm>
                <a:off x="6421755" y="4171950"/>
                <a:ext cx="2103543"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Replication + assembly</a:t>
                </a:r>
              </a:p>
            </p:txBody>
          </p:sp>
        </p:grpSp>
        <p:grpSp>
          <p:nvGrpSpPr>
            <p:cNvPr id="42" name="lysis"/>
            <p:cNvGrpSpPr/>
            <p:nvPr/>
          </p:nvGrpSpPr>
          <p:grpSpPr>
            <a:xfrm>
              <a:off x="9331325" y="1800225"/>
              <a:ext cx="2046290" cy="2665095"/>
              <a:chOff x="9331325" y="1800225"/>
              <a:chExt cx="2046290" cy="2665095"/>
            </a:xfrm>
          </p:grpSpPr>
          <p:sp>
            <p:nvSpPr>
              <p:cNvPr id="33" name="TextBox 33"/>
              <p:cNvSpPr txBox="1"/>
              <p:nvPr/>
            </p:nvSpPr>
            <p:spPr>
              <a:xfrm>
                <a:off x="9334881" y="1800225"/>
                <a:ext cx="2042734"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4 · Lyse + release</a:t>
                </a:r>
              </a:p>
            </p:txBody>
          </p:sp>
          <p:sp>
            <p:nvSpPr>
              <p:cNvPr id="34" name="Freeform 34"/>
              <p:cNvSpPr/>
              <p:nvPr/>
            </p:nvSpPr>
            <p:spPr>
              <a:xfrm>
                <a:off x="9331325" y="2971800"/>
                <a:ext cx="1939925" cy="847725"/>
              </a:xfrm>
              <a:custGeom>
                <a:avLst/>
                <a:gdLst/>
                <a:ahLst/>
                <a:cxnLst/>
                <a:rect l="l" t="t" r="r" b="b"/>
                <a:pathLst>
                  <a:path w="1939925" h="847725">
                    <a:moveTo>
                      <a:pt x="222250" y="0"/>
                    </a:moveTo>
                    <a:cubicBezTo>
                      <a:pt x="0" y="260350"/>
                      <a:pt x="0" y="542925"/>
                      <a:pt x="222250" y="847725"/>
                    </a:cubicBezTo>
                    <a:moveTo>
                      <a:pt x="1717675" y="0"/>
                    </a:moveTo>
                    <a:cubicBezTo>
                      <a:pt x="1939925" y="260350"/>
                      <a:pt x="1939925" y="542925"/>
                      <a:pt x="1717675" y="847725"/>
                    </a:cubicBezTo>
                  </a:path>
                </a:pathLst>
              </a:custGeom>
              <a:noFill/>
              <a:ln w="38100">
                <a:solidFill>
                  <a:schemeClr val="accent3"/>
                </a:solidFill>
              </a:ln>
            </p:spPr>
          </p:sp>
          <p:sp>
            <p:nvSpPr>
              <p:cNvPr id="35" name="Ellipse 35"/>
              <p:cNvSpPr/>
              <p:nvPr/>
            </p:nvSpPr>
            <p:spPr>
              <a:xfrm>
                <a:off x="9696450" y="3048000"/>
                <a:ext cx="228600" cy="228600"/>
              </a:xfrm>
              <a:prstGeom prst="ellipse">
                <a:avLst/>
              </a:prstGeom>
              <a:solidFill>
                <a:schemeClr val="accent2"/>
              </a:solidFill>
              <a:ln>
                <a:noFill/>
              </a:ln>
            </p:spPr>
          </p:sp>
          <p:sp>
            <p:nvSpPr>
              <p:cNvPr id="36" name="Ellipse 36"/>
              <p:cNvSpPr/>
              <p:nvPr/>
            </p:nvSpPr>
            <p:spPr>
              <a:xfrm>
                <a:off x="10267950" y="2743200"/>
                <a:ext cx="228600" cy="228600"/>
              </a:xfrm>
              <a:prstGeom prst="ellipse">
                <a:avLst/>
              </a:prstGeom>
              <a:solidFill>
                <a:schemeClr val="accent2"/>
              </a:solidFill>
              <a:ln>
                <a:noFill/>
              </a:ln>
            </p:spPr>
          </p:sp>
          <p:sp>
            <p:nvSpPr>
              <p:cNvPr id="37" name="Ellipse 37"/>
              <p:cNvSpPr/>
              <p:nvPr/>
            </p:nvSpPr>
            <p:spPr>
              <a:xfrm>
                <a:off x="10744200" y="3419475"/>
                <a:ext cx="228600" cy="228600"/>
              </a:xfrm>
              <a:prstGeom prst="ellipse">
                <a:avLst/>
              </a:prstGeom>
              <a:solidFill>
                <a:schemeClr val="accent2"/>
              </a:solidFill>
              <a:ln>
                <a:noFill/>
              </a:ln>
            </p:spPr>
          </p:sp>
          <p:sp>
            <p:nvSpPr>
              <p:cNvPr id="38" name="Line 38"/>
              <p:cNvSpPr/>
              <p:nvPr/>
            </p:nvSpPr>
            <p:spPr>
              <a:xfrm>
                <a:off x="9810750" y="3276600"/>
                <a:ext cx="9525" cy="228600"/>
              </a:xfrm>
              <a:custGeom>
                <a:avLst/>
                <a:gdLst/>
                <a:ahLst/>
                <a:cxnLst/>
                <a:rect l="l" t="t" r="r" b="b"/>
                <a:pathLst>
                  <a:path w="9525" h="228600">
                    <a:moveTo>
                      <a:pt x="0" y="0"/>
                    </a:moveTo>
                    <a:lnTo>
                      <a:pt x="0" y="228600"/>
                    </a:lnTo>
                  </a:path>
                </a:pathLst>
              </a:custGeom>
              <a:noFill/>
              <a:ln w="28575">
                <a:solidFill>
                  <a:schemeClr val="accent2"/>
                </a:solidFill>
              </a:ln>
            </p:spPr>
          </p:sp>
          <p:sp>
            <p:nvSpPr>
              <p:cNvPr id="39" name="Line 39"/>
              <p:cNvSpPr/>
              <p:nvPr/>
            </p:nvSpPr>
            <p:spPr>
              <a:xfrm>
                <a:off x="10382250" y="2971800"/>
                <a:ext cx="9525" cy="228600"/>
              </a:xfrm>
              <a:custGeom>
                <a:avLst/>
                <a:gdLst/>
                <a:ahLst/>
                <a:cxnLst/>
                <a:rect l="l" t="t" r="r" b="b"/>
                <a:pathLst>
                  <a:path w="9525" h="228600">
                    <a:moveTo>
                      <a:pt x="0" y="0"/>
                    </a:moveTo>
                    <a:lnTo>
                      <a:pt x="0" y="228600"/>
                    </a:lnTo>
                  </a:path>
                </a:pathLst>
              </a:custGeom>
              <a:noFill/>
              <a:ln w="28575">
                <a:solidFill>
                  <a:schemeClr val="accent2"/>
                </a:solidFill>
              </a:ln>
            </p:spPr>
          </p:sp>
          <p:sp>
            <p:nvSpPr>
              <p:cNvPr id="40" name="Line 40"/>
              <p:cNvSpPr/>
              <p:nvPr/>
            </p:nvSpPr>
            <p:spPr>
              <a:xfrm>
                <a:off x="10858500" y="3648075"/>
                <a:ext cx="9525" cy="228600"/>
              </a:xfrm>
              <a:custGeom>
                <a:avLst/>
                <a:gdLst/>
                <a:ahLst/>
                <a:cxnLst/>
                <a:rect l="l" t="t" r="r" b="b"/>
                <a:pathLst>
                  <a:path w="9525" h="228600">
                    <a:moveTo>
                      <a:pt x="0" y="0"/>
                    </a:moveTo>
                    <a:lnTo>
                      <a:pt x="0" y="228600"/>
                    </a:lnTo>
                  </a:path>
                </a:pathLst>
              </a:custGeom>
              <a:noFill/>
              <a:ln w="28575">
                <a:solidFill>
                  <a:schemeClr val="accent2"/>
                </a:solidFill>
              </a:ln>
            </p:spPr>
          </p:sp>
          <p:sp>
            <p:nvSpPr>
              <p:cNvPr id="41" name="TextBox 41"/>
              <p:cNvSpPr txBox="1"/>
              <p:nvPr/>
            </p:nvSpPr>
            <p:spPr>
              <a:xfrm>
                <a:off x="9336405" y="4171950"/>
                <a:ext cx="185035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New infection cycles</a:t>
                </a:r>
              </a:p>
            </p:txBody>
          </p:sp>
        </p:grpSp>
        <p:sp>
          <p:nvSpPr>
            <p:cNvPr id="43" name="TextBox 43"/>
            <p:cNvSpPr txBox="1"/>
            <p:nvPr/>
          </p:nvSpPr>
          <p:spPr>
            <a:xfrm>
              <a:off x="659130" y="4819650"/>
              <a:ext cx="7956836"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Simplified tailed-phage model · progeny counts are illustrative, not measured burst sizes.</a:t>
              </a:r>
            </a:p>
          </p:txBody>
        </p:sp>
      </p:grpSp>
      <p:grpSp>
        <p:nvGrpSpPr>
          <p:cNvPr id="47" name="lifestyle-contrast"/>
          <p:cNvGrpSpPr/>
          <p:nvPr/>
        </p:nvGrpSpPr>
        <p:grpSpPr>
          <a:xfrm>
            <a:off x="448056" y="5562600"/>
            <a:ext cx="8411069" cy="636270"/>
            <a:chOff x="448056" y="5562600"/>
            <a:chExt cx="8411069" cy="636270"/>
          </a:xfrm>
        </p:grpSpPr>
        <p:sp>
          <p:nvSpPr>
            <p:cNvPr id="45" name="TextBox 45"/>
            <p:cNvSpPr txBox="1"/>
            <p:nvPr/>
          </p:nvSpPr>
          <p:spPr>
            <a:xfrm>
              <a:off x="448056" y="5562600"/>
              <a:ext cx="8411069"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Lytic goal:</a:t>
              </a:r>
              <a:r>
                <a:rPr lang="en-US" sz="1800" dirty="0">
                  <a:solidFill>
                    <a:schemeClr val="accent1"/>
                  </a:solidFill>
                  <a:latin typeface="+mn-lt"/>
                  <a:ea typeface="+mn-ea"/>
                  <a:cs typeface="+mn-cs"/>
                </a:rPr>
                <a:t xml:space="preserve"> productive killing. Temperate phages can instead form prophages.</a:t>
              </a:r>
            </a:p>
          </p:txBody>
        </p:sp>
        <p:sp>
          <p:nvSpPr>
            <p:cNvPr id="46" name="TextBox 46"/>
            <p:cNvSpPr txBox="1"/>
            <p:nvPr/>
          </p:nvSpPr>
          <p:spPr>
            <a:xfrm>
              <a:off x="449580" y="5905500"/>
              <a:ext cx="7183654"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Replication in the patient depends on a susceptible host and suitable conditions.</a:t>
              </a:r>
            </a:p>
          </p:txBody>
        </p:sp>
      </p:grpSp>
      <p:grpSp>
        <p:nvGrpSpPr>
          <p:cNvPr id="50" name="footer"/>
          <p:cNvGrpSpPr/>
          <p:nvPr/>
        </p:nvGrpSpPr>
        <p:grpSpPr>
          <a:xfrm>
            <a:off x="451104" y="6391275"/>
            <a:ext cx="11021819" cy="234696"/>
            <a:chOff x="451104" y="6391275"/>
            <a:chExt cx="11021819" cy="234696"/>
          </a:xfrm>
        </p:grpSpPr>
        <p:sp>
          <p:nvSpPr>
            <p:cNvPr id="48" name="TextBox 48"/>
            <p:cNvSpPr txBox="1"/>
            <p:nvPr/>
          </p:nvSpPr>
          <p:spPr>
            <a:xfrm>
              <a:off x="451104" y="6391275"/>
              <a:ext cx="4243185"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Original schematic · Weiner et al., 2025; Aslam et al., 2020</a:t>
              </a:r>
            </a:p>
          </p:txBody>
        </p:sp>
        <p:sp>
          <p:nvSpPr>
            <p:cNvPr id="49" name="TextBox 49"/>
            <p:cNvSpPr txBox="1"/>
            <p:nvPr/>
          </p:nvSpPr>
          <p:spPr>
            <a:xfrm>
              <a:off x="11281029" y="6391275"/>
              <a:ext cx="19189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03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1960" y="371475"/>
            <a:ext cx="7605487" cy="913765"/>
            <a:chOff x="441960" y="371475"/>
            <a:chExt cx="7605487" cy="913765"/>
          </a:xfrm>
        </p:grpSpPr>
        <p:sp>
          <p:nvSpPr>
            <p:cNvPr id="2" name="TextBox 2"/>
            <p:cNvSpPr txBox="1"/>
            <p:nvPr/>
          </p:nvSpPr>
          <p:spPr>
            <a:xfrm>
              <a:off x="451104" y="371475"/>
              <a:ext cx="1823840"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02 / SELECT &amp; MATCH</a:t>
              </a:r>
            </a:p>
          </p:txBody>
        </p:sp>
        <p:sp>
          <p:nvSpPr>
            <p:cNvPr id="3" name="TextBox 3"/>
            <p:cNvSpPr txBox="1"/>
            <p:nvPr/>
          </p:nvSpPr>
          <p:spPr>
            <a:xfrm>
              <a:off x="441960" y="698500"/>
              <a:ext cx="7605487"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n-lt"/>
                  <a:ea typeface="+mn-ea"/>
                  <a:cs typeface="+mn-cs"/>
                </a:rPr>
                <a:t>Match the phage to the patient’s isolate</a:t>
              </a:r>
            </a:p>
          </p:txBody>
        </p:sp>
      </p:grpSp>
      <p:grpSp>
        <p:nvGrpSpPr>
          <p:cNvPr id="28" name="matching-path"/>
          <p:cNvGrpSpPr/>
          <p:nvPr/>
        </p:nvGrpSpPr>
        <p:grpSpPr>
          <a:xfrm>
            <a:off x="656082" y="1860550"/>
            <a:ext cx="10708549" cy="2700020"/>
            <a:chOff x="656082" y="1860550"/>
            <a:chExt cx="10708549" cy="2700020"/>
          </a:xfrm>
        </p:grpSpPr>
        <p:sp>
          <p:nvSpPr>
            <p:cNvPr id="5" name="Line 5"/>
            <p:cNvSpPr/>
            <p:nvPr/>
          </p:nvSpPr>
          <p:spPr>
            <a:xfrm>
              <a:off x="2667000" y="3048000"/>
              <a:ext cx="1476375" cy="1"/>
            </a:xfrm>
            <a:prstGeom prst="line">
              <a:avLst/>
            </a:prstGeom>
            <a:noFill/>
            <a:ln w="28575">
              <a:solidFill>
                <a:schemeClr val="accent2"/>
              </a:solidFill>
              <a:tailEnd type="triangle" w="lg" len="lg"/>
            </a:ln>
          </p:spPr>
        </p:sp>
        <p:sp>
          <p:nvSpPr>
            <p:cNvPr id="6" name="Line 6"/>
            <p:cNvSpPr/>
            <p:nvPr/>
          </p:nvSpPr>
          <p:spPr>
            <a:xfrm>
              <a:off x="6477000" y="3048000"/>
              <a:ext cx="1466850" cy="1"/>
            </a:xfrm>
            <a:prstGeom prst="line">
              <a:avLst/>
            </a:prstGeom>
            <a:noFill/>
            <a:ln w="28575">
              <a:solidFill>
                <a:schemeClr val="accent2"/>
              </a:solidFill>
              <a:tailEnd type="triangle" w="lg" len="lg"/>
            </a:ln>
          </p:spPr>
        </p:sp>
        <p:grpSp>
          <p:nvGrpSpPr>
            <p:cNvPr id="11" name="patient-isolate"/>
            <p:cNvGrpSpPr/>
            <p:nvPr/>
          </p:nvGrpSpPr>
          <p:grpSpPr>
            <a:xfrm>
              <a:off x="656082" y="1860550"/>
              <a:ext cx="1954364" cy="2700020"/>
              <a:chOff x="656082" y="1860550"/>
              <a:chExt cx="1954364" cy="2700020"/>
            </a:xfrm>
          </p:grpSpPr>
          <p:sp>
            <p:nvSpPr>
              <p:cNvPr id="7" name="TextBox 7"/>
              <p:cNvSpPr txBox="1"/>
              <p:nvPr/>
            </p:nvSpPr>
            <p:spPr>
              <a:xfrm>
                <a:off x="656082" y="1860550"/>
                <a:ext cx="1945748"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Patient isolate</a:t>
                </a:r>
              </a:p>
            </p:txBody>
          </p:sp>
          <p:sp>
            <p:nvSpPr>
              <p:cNvPr id="8" name="Ellipse 8"/>
              <p:cNvSpPr/>
              <p:nvPr/>
            </p:nvSpPr>
            <p:spPr>
              <a:xfrm>
                <a:off x="838200" y="2390775"/>
                <a:ext cx="1562100" cy="1562100"/>
              </a:xfrm>
              <a:prstGeom prst="ellipse">
                <a:avLst/>
              </a:prstGeom>
              <a:solidFill>
                <a:schemeClr val="lt2"/>
              </a:solidFill>
              <a:ln w="28575">
                <a:solidFill>
                  <a:schemeClr val="accent6"/>
                </a:solidFill>
              </a:ln>
            </p:spPr>
          </p:sp>
          <p:sp>
            <p:nvSpPr>
              <p:cNvPr id="9" name="Rectangle 9"/>
              <p:cNvSpPr/>
              <p:nvPr/>
            </p:nvSpPr>
            <p:spPr>
              <a:xfrm>
                <a:off x="1238250" y="3000375"/>
                <a:ext cx="762000" cy="333375"/>
              </a:xfrm>
              <a:prstGeom prst="roundRect">
                <a:avLst>
                  <a:gd name="adj" fmla="val 50000"/>
                </a:avLst>
              </a:prstGeom>
              <a:solidFill>
                <a:schemeClr val="accent3"/>
              </a:solidFill>
              <a:ln>
                <a:noFill/>
              </a:ln>
            </p:spPr>
          </p:sp>
          <p:sp>
            <p:nvSpPr>
              <p:cNvPr id="10" name="TextBox 10"/>
              <p:cNvSpPr txBox="1"/>
              <p:nvPr/>
            </p:nvSpPr>
            <p:spPr>
              <a:xfrm>
                <a:off x="659130" y="4267200"/>
                <a:ext cx="195131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Identify the bacterium</a:t>
                </a:r>
              </a:p>
            </p:txBody>
          </p:sp>
        </p:grpSp>
        <p:grpSp>
          <p:nvGrpSpPr>
            <p:cNvPr id="20" name="candidate-panel"/>
            <p:cNvGrpSpPr/>
            <p:nvPr/>
          </p:nvGrpSpPr>
          <p:grpSpPr>
            <a:xfrm>
              <a:off x="4370832" y="1860550"/>
              <a:ext cx="2469799" cy="2700020"/>
              <a:chOff x="4370832" y="1860550"/>
              <a:chExt cx="2469799" cy="2700020"/>
            </a:xfrm>
          </p:grpSpPr>
          <p:sp>
            <p:nvSpPr>
              <p:cNvPr id="12" name="TextBox 12"/>
              <p:cNvSpPr txBox="1"/>
              <p:nvPr/>
            </p:nvSpPr>
            <p:spPr>
              <a:xfrm>
                <a:off x="4370832" y="1860550"/>
                <a:ext cx="2213641"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Candidate panel</a:t>
                </a:r>
              </a:p>
            </p:txBody>
          </p:sp>
          <p:sp>
            <p:nvSpPr>
              <p:cNvPr id="13" name="Ellipse 13"/>
              <p:cNvSpPr/>
              <p:nvPr/>
            </p:nvSpPr>
            <p:spPr>
              <a:xfrm>
                <a:off x="4448175" y="2790825"/>
                <a:ext cx="438150" cy="438150"/>
              </a:xfrm>
              <a:prstGeom prst="ellipse">
                <a:avLst/>
              </a:prstGeom>
              <a:solidFill>
                <a:schemeClr val="accent2"/>
              </a:solidFill>
              <a:ln>
                <a:noFill/>
              </a:ln>
            </p:spPr>
          </p:sp>
          <p:sp>
            <p:nvSpPr>
              <p:cNvPr id="14" name="Ellipse 14"/>
              <p:cNvSpPr/>
              <p:nvPr/>
            </p:nvSpPr>
            <p:spPr>
              <a:xfrm>
                <a:off x="5114925" y="2790825"/>
                <a:ext cx="438150" cy="438150"/>
              </a:xfrm>
              <a:prstGeom prst="ellipse">
                <a:avLst/>
              </a:prstGeom>
              <a:solidFill>
                <a:schemeClr val="accent6"/>
              </a:solidFill>
              <a:ln>
                <a:noFill/>
              </a:ln>
            </p:spPr>
          </p:sp>
          <p:sp>
            <p:nvSpPr>
              <p:cNvPr id="15" name="Ellipse 15"/>
              <p:cNvSpPr/>
              <p:nvPr/>
            </p:nvSpPr>
            <p:spPr>
              <a:xfrm>
                <a:off x="5781675" y="2790825"/>
                <a:ext cx="438150" cy="438150"/>
              </a:xfrm>
              <a:prstGeom prst="ellipse">
                <a:avLst/>
              </a:prstGeom>
              <a:solidFill>
                <a:schemeClr val="accent2"/>
              </a:solidFill>
              <a:ln>
                <a:noFill/>
              </a:ln>
            </p:spPr>
          </p:sp>
          <p:sp>
            <p:nvSpPr>
              <p:cNvPr id="16" name="Line 16"/>
              <p:cNvSpPr/>
              <p:nvPr/>
            </p:nvSpPr>
            <p:spPr>
              <a:xfrm>
                <a:off x="4667250" y="3228975"/>
                <a:ext cx="9525" cy="361950"/>
              </a:xfrm>
              <a:custGeom>
                <a:avLst/>
                <a:gdLst/>
                <a:ahLst/>
                <a:cxnLst/>
                <a:rect l="l" t="t" r="r" b="b"/>
                <a:pathLst>
                  <a:path w="9525" h="361950">
                    <a:moveTo>
                      <a:pt x="0" y="0"/>
                    </a:moveTo>
                    <a:lnTo>
                      <a:pt x="0" y="361950"/>
                    </a:lnTo>
                  </a:path>
                </a:pathLst>
              </a:custGeom>
              <a:noFill/>
              <a:ln w="47625">
                <a:solidFill>
                  <a:schemeClr val="accent2"/>
                </a:solidFill>
              </a:ln>
            </p:spPr>
          </p:sp>
          <p:sp>
            <p:nvSpPr>
              <p:cNvPr id="17" name="Line 17"/>
              <p:cNvSpPr/>
              <p:nvPr/>
            </p:nvSpPr>
            <p:spPr>
              <a:xfrm>
                <a:off x="5334000" y="3228975"/>
                <a:ext cx="9525" cy="361950"/>
              </a:xfrm>
              <a:custGeom>
                <a:avLst/>
                <a:gdLst/>
                <a:ahLst/>
                <a:cxnLst/>
                <a:rect l="l" t="t" r="r" b="b"/>
                <a:pathLst>
                  <a:path w="9525" h="361950">
                    <a:moveTo>
                      <a:pt x="0" y="0"/>
                    </a:moveTo>
                    <a:lnTo>
                      <a:pt x="0" y="361950"/>
                    </a:lnTo>
                  </a:path>
                </a:pathLst>
              </a:custGeom>
              <a:noFill/>
              <a:ln w="47625">
                <a:solidFill>
                  <a:schemeClr val="accent6"/>
                </a:solidFill>
              </a:ln>
            </p:spPr>
          </p:sp>
          <p:sp>
            <p:nvSpPr>
              <p:cNvPr id="18" name="Line 18"/>
              <p:cNvSpPr/>
              <p:nvPr/>
            </p:nvSpPr>
            <p:spPr>
              <a:xfrm>
                <a:off x="6000750" y="3228975"/>
                <a:ext cx="9525" cy="361950"/>
              </a:xfrm>
              <a:custGeom>
                <a:avLst/>
                <a:gdLst/>
                <a:ahLst/>
                <a:cxnLst/>
                <a:rect l="l" t="t" r="r" b="b"/>
                <a:pathLst>
                  <a:path w="9525" h="361950">
                    <a:moveTo>
                      <a:pt x="0" y="0"/>
                    </a:moveTo>
                    <a:lnTo>
                      <a:pt x="0" y="361950"/>
                    </a:lnTo>
                  </a:path>
                </a:pathLst>
              </a:custGeom>
              <a:noFill/>
              <a:ln w="47625">
                <a:solidFill>
                  <a:schemeClr val="accent2"/>
                </a:solidFill>
              </a:ln>
            </p:spPr>
          </p:sp>
          <p:sp>
            <p:nvSpPr>
              <p:cNvPr id="19" name="TextBox 19"/>
              <p:cNvSpPr txBox="1"/>
              <p:nvPr/>
            </p:nvSpPr>
            <p:spPr>
              <a:xfrm>
                <a:off x="4373880" y="4267200"/>
                <a:ext cx="2466751"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Test isolate-specific activity</a:t>
                </a:r>
              </a:p>
            </p:txBody>
          </p:sp>
        </p:grpSp>
        <p:grpSp>
          <p:nvGrpSpPr>
            <p:cNvPr id="27" name="plaque-assessment"/>
            <p:cNvGrpSpPr/>
            <p:nvPr/>
          </p:nvGrpSpPr>
          <p:grpSpPr>
            <a:xfrm>
              <a:off x="8180832" y="1860550"/>
              <a:ext cx="3183799" cy="2700020"/>
              <a:chOff x="8180832" y="1860550"/>
              <a:chExt cx="3183799" cy="2700020"/>
            </a:xfrm>
          </p:grpSpPr>
          <p:sp>
            <p:nvSpPr>
              <p:cNvPr id="21" name="TextBox 21"/>
              <p:cNvSpPr txBox="1"/>
              <p:nvPr/>
            </p:nvSpPr>
            <p:spPr>
              <a:xfrm>
                <a:off x="8180832" y="1860550"/>
                <a:ext cx="2920008"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Productive infection?</a:t>
                </a:r>
              </a:p>
            </p:txBody>
          </p:sp>
          <p:sp>
            <p:nvSpPr>
              <p:cNvPr id="22" name="Ellipse 22"/>
              <p:cNvSpPr/>
              <p:nvPr/>
            </p:nvSpPr>
            <p:spPr>
              <a:xfrm>
                <a:off x="8505825" y="2390775"/>
                <a:ext cx="1562100" cy="1562100"/>
              </a:xfrm>
              <a:prstGeom prst="ellipse">
                <a:avLst/>
              </a:prstGeom>
              <a:solidFill>
                <a:schemeClr val="accent2">
                  <a:alpha val="15000"/>
                </a:schemeClr>
              </a:solidFill>
              <a:ln w="28575">
                <a:solidFill>
                  <a:schemeClr val="accent2"/>
                </a:solidFill>
              </a:ln>
            </p:spPr>
          </p:sp>
          <p:sp>
            <p:nvSpPr>
              <p:cNvPr id="23" name="Ellipse 23"/>
              <p:cNvSpPr/>
              <p:nvPr/>
            </p:nvSpPr>
            <p:spPr>
              <a:xfrm>
                <a:off x="8858250" y="2857500"/>
                <a:ext cx="228600" cy="228600"/>
              </a:xfrm>
              <a:prstGeom prst="ellipse">
                <a:avLst/>
              </a:prstGeom>
              <a:solidFill>
                <a:schemeClr val="lt1"/>
              </a:solidFill>
              <a:ln>
                <a:noFill/>
              </a:ln>
            </p:spPr>
          </p:sp>
          <p:sp>
            <p:nvSpPr>
              <p:cNvPr id="24" name="Ellipse 24"/>
              <p:cNvSpPr/>
              <p:nvPr/>
            </p:nvSpPr>
            <p:spPr>
              <a:xfrm>
                <a:off x="9286875" y="3190875"/>
                <a:ext cx="285750" cy="285750"/>
              </a:xfrm>
              <a:prstGeom prst="ellipse">
                <a:avLst/>
              </a:prstGeom>
              <a:solidFill>
                <a:schemeClr val="lt1"/>
              </a:solidFill>
              <a:ln>
                <a:noFill/>
              </a:ln>
            </p:spPr>
          </p:sp>
          <p:sp>
            <p:nvSpPr>
              <p:cNvPr id="25" name="Ellipse 25"/>
              <p:cNvSpPr/>
              <p:nvPr/>
            </p:nvSpPr>
            <p:spPr>
              <a:xfrm>
                <a:off x="9505950" y="2752725"/>
                <a:ext cx="190500" cy="190500"/>
              </a:xfrm>
              <a:prstGeom prst="ellipse">
                <a:avLst/>
              </a:prstGeom>
              <a:solidFill>
                <a:schemeClr val="lt1"/>
              </a:solidFill>
              <a:ln>
                <a:noFill/>
              </a:ln>
            </p:spPr>
          </p:sp>
          <p:sp>
            <p:nvSpPr>
              <p:cNvPr id="26" name="TextBox 26"/>
              <p:cNvSpPr txBox="1"/>
              <p:nvPr/>
            </p:nvSpPr>
            <p:spPr>
              <a:xfrm>
                <a:off x="8183880" y="4267200"/>
                <a:ext cx="3180751"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Plaques + relative plating efficiency</a:t>
                </a:r>
              </a:p>
            </p:txBody>
          </p:sp>
        </p:grpSp>
      </p:grpSp>
      <p:grpSp>
        <p:nvGrpSpPr>
          <p:cNvPr id="32" name="assay-caveat"/>
          <p:cNvGrpSpPr/>
          <p:nvPr/>
        </p:nvGrpSpPr>
        <p:grpSpPr>
          <a:xfrm>
            <a:off x="446532" y="5248275"/>
            <a:ext cx="11288268" cy="883920"/>
            <a:chOff x="446532" y="5248275"/>
            <a:chExt cx="11288268" cy="883920"/>
          </a:xfrm>
        </p:grpSpPr>
        <p:sp>
          <p:nvSpPr>
            <p:cNvPr id="29" name="Line 29"/>
            <p:cNvSpPr/>
            <p:nvPr/>
          </p:nvSpPr>
          <p:spPr>
            <a:xfrm>
              <a:off x="457200" y="5248275"/>
              <a:ext cx="11277600" cy="9525"/>
            </a:xfrm>
            <a:custGeom>
              <a:avLst/>
              <a:gdLst/>
              <a:ahLst/>
              <a:cxnLst/>
              <a:rect l="l" t="t" r="r" b="b"/>
              <a:pathLst>
                <a:path w="11277600" h="9525">
                  <a:moveTo>
                    <a:pt x="0" y="0"/>
                  </a:moveTo>
                  <a:lnTo>
                    <a:pt x="11277600" y="0"/>
                  </a:lnTo>
                </a:path>
              </a:pathLst>
            </a:custGeom>
            <a:noFill/>
            <a:ln w="19050">
              <a:solidFill>
                <a:schemeClr val="accent6"/>
              </a:solidFill>
            </a:ln>
          </p:spPr>
        </p:sp>
        <p:sp>
          <p:nvSpPr>
            <p:cNvPr id="30" name="TextBox 30"/>
            <p:cNvSpPr txBox="1"/>
            <p:nvPr/>
          </p:nvSpPr>
          <p:spPr>
            <a:xfrm>
              <a:off x="446532" y="5394325"/>
              <a:ext cx="8043948" cy="410718"/>
            </a:xfrm>
            <a:prstGeom prst="rect">
              <a:avLst/>
            </a:prstGeom>
            <a:noFill/>
            <a:ln>
              <a:noFill/>
            </a:ln>
          </p:spPr>
          <p:txBody>
            <a:bodyPr wrap="none" lIns="0" tIns="0" rIns="0" bIns="0" anchor="t" anchorCtr="0">
              <a:spAutoFit/>
            </a:bodyPr>
            <a:lstStyle/>
            <a:p>
              <a:pPr algn="l"/>
              <a:r>
                <a:rPr lang="en-US" sz="2100" dirty="0">
                  <a:solidFill>
                    <a:schemeClr val="accent1"/>
                  </a:solidFill>
                  <a:latin typeface="+mn-lt"/>
                  <a:ea typeface="+mn-ea"/>
                  <a:cs typeface="+mn-cs"/>
                </a:rPr>
                <a:t xml:space="preserve">A clear spot is </a:t>
              </a:r>
              <a:r>
                <a:rPr lang="en-US" sz="2100" b="1" dirty="0">
                  <a:solidFill>
                    <a:schemeClr val="accent1"/>
                  </a:solidFill>
                  <a:latin typeface="+mn-lt"/>
                  <a:ea typeface="+mn-ea"/>
                  <a:cs typeface="+mn-cs"/>
                </a:rPr>
                <a:t>not automatically</a:t>
              </a:r>
              <a:r>
                <a:rPr lang="en-US" sz="2100" dirty="0">
                  <a:solidFill>
                    <a:schemeClr val="accent1"/>
                  </a:solidFill>
                  <a:latin typeface="+mn-lt"/>
                  <a:ea typeface="+mn-ea"/>
                  <a:cs typeface="+mn-cs"/>
                </a:rPr>
                <a:t xml:space="preserve"> evidence of phage replication.</a:t>
              </a:r>
            </a:p>
          </p:txBody>
        </p:sp>
        <p:sp>
          <p:nvSpPr>
            <p:cNvPr id="31" name="TextBox 31"/>
            <p:cNvSpPr txBox="1"/>
            <p:nvPr/>
          </p:nvSpPr>
          <p:spPr>
            <a:xfrm>
              <a:off x="449580" y="5838825"/>
              <a:ext cx="8125784"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Conceptual assay schematic; no clinical breakpoint or quantitative plaque data are implied.</a:t>
              </a:r>
            </a:p>
          </p:txBody>
        </p:sp>
      </p:grpSp>
      <p:grpSp>
        <p:nvGrpSpPr>
          <p:cNvPr id="35" name="footer"/>
          <p:cNvGrpSpPr/>
          <p:nvPr/>
        </p:nvGrpSpPr>
        <p:grpSpPr>
          <a:xfrm>
            <a:off x="451104" y="6391275"/>
            <a:ext cx="11021819" cy="234696"/>
            <a:chOff x="451104" y="6391275"/>
            <a:chExt cx="11021819" cy="234696"/>
          </a:xfrm>
        </p:grpSpPr>
        <p:sp>
          <p:nvSpPr>
            <p:cNvPr id="33" name="TextBox 33"/>
            <p:cNvSpPr txBox="1"/>
            <p:nvPr/>
          </p:nvSpPr>
          <p:spPr>
            <a:xfrm>
              <a:off x="451104" y="6391275"/>
              <a:ext cx="360590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Khan Mirzaei &amp; Nilsson, 2015; Weiner et al., 2025</a:t>
              </a:r>
            </a:p>
          </p:txBody>
        </p:sp>
        <p:sp>
          <p:nvSpPr>
            <p:cNvPr id="34" name="TextBox 34"/>
            <p:cNvSpPr txBox="1"/>
            <p:nvPr/>
          </p:nvSpPr>
          <p:spPr>
            <a:xfrm>
              <a:off x="11281029" y="6391275"/>
              <a:ext cx="19189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04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1960" y="371475"/>
            <a:ext cx="7920166" cy="913765"/>
            <a:chOff x="441960" y="371475"/>
            <a:chExt cx="7920166" cy="913765"/>
          </a:xfrm>
        </p:grpSpPr>
        <p:sp>
          <p:nvSpPr>
            <p:cNvPr id="2" name="TextBox 2"/>
            <p:cNvSpPr txBox="1"/>
            <p:nvPr/>
          </p:nvSpPr>
          <p:spPr>
            <a:xfrm>
              <a:off x="451104" y="371475"/>
              <a:ext cx="1055676"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03 / SCREEN</a:t>
              </a:r>
            </a:p>
          </p:txBody>
        </p:sp>
        <p:sp>
          <p:nvSpPr>
            <p:cNvPr id="3" name="TextBox 3"/>
            <p:cNvSpPr txBox="1"/>
            <p:nvPr/>
          </p:nvSpPr>
          <p:spPr>
            <a:xfrm>
              <a:off x="441960" y="698500"/>
              <a:ext cx="7920166"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n-lt"/>
                  <a:ea typeface="+mn-ea"/>
                  <a:cs typeface="+mn-cs"/>
                </a:rPr>
                <a:t>Screen both the genome and the product</a:t>
              </a:r>
            </a:p>
          </p:txBody>
        </p:sp>
      </p:grpSp>
      <p:grpSp>
        <p:nvGrpSpPr>
          <p:cNvPr id="10" name="genome-checks"/>
          <p:cNvGrpSpPr/>
          <p:nvPr/>
        </p:nvGrpSpPr>
        <p:grpSpPr>
          <a:xfrm>
            <a:off x="457200" y="1666875"/>
            <a:ext cx="5238750" cy="3476625"/>
            <a:chOff x="457200" y="1666875"/>
            <a:chExt cx="5238750" cy="3476625"/>
          </a:xfrm>
        </p:grpSpPr>
        <p:sp>
          <p:nvSpPr>
            <p:cNvPr id="5" name="Rectangle 5"/>
            <p:cNvSpPr/>
            <p:nvPr/>
          </p:nvSpPr>
          <p:spPr>
            <a:xfrm>
              <a:off x="457200" y="1666875"/>
              <a:ext cx="5238750" cy="3476625"/>
            </a:xfrm>
            <a:prstGeom prst="rect">
              <a:avLst/>
            </a:prstGeom>
            <a:solidFill>
              <a:schemeClr val="lt2"/>
            </a:solidFill>
            <a:ln>
              <a:noFill/>
            </a:ln>
          </p:spPr>
        </p:sp>
        <p:sp>
          <p:nvSpPr>
            <p:cNvPr id="6" name="TextBox 6"/>
            <p:cNvSpPr txBox="1"/>
            <p:nvPr/>
          </p:nvSpPr>
          <p:spPr>
            <a:xfrm>
              <a:off x="711708" y="1822450"/>
              <a:ext cx="3174366"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Biological suitability</a:t>
              </a:r>
            </a:p>
          </p:txBody>
        </p:sp>
        <p:sp>
          <p:nvSpPr>
            <p:cNvPr id="7" name="Freeform 7"/>
            <p:cNvSpPr/>
            <p:nvPr/>
          </p:nvSpPr>
          <p:spPr>
            <a:xfrm>
              <a:off x="762000" y="2460625"/>
              <a:ext cx="4000500" cy="508000"/>
            </a:xfrm>
            <a:custGeom>
              <a:avLst/>
              <a:gdLst/>
              <a:ahLst/>
              <a:cxnLst/>
              <a:rect l="l" t="t" r="r" b="b"/>
              <a:pathLst>
                <a:path w="4000500" h="508000">
                  <a:moveTo>
                    <a:pt x="0" y="254000"/>
                  </a:moveTo>
                  <a:cubicBezTo>
                    <a:pt x="222250" y="0"/>
                    <a:pt x="444500" y="0"/>
                    <a:pt x="666750" y="254000"/>
                  </a:cubicBezTo>
                  <a:cubicBezTo>
                    <a:pt x="889000" y="508000"/>
                    <a:pt x="1111250" y="508000"/>
                    <a:pt x="1333500" y="254000"/>
                  </a:cubicBezTo>
                  <a:cubicBezTo>
                    <a:pt x="1555750" y="0"/>
                    <a:pt x="1778000" y="0"/>
                    <a:pt x="2000250" y="254000"/>
                  </a:cubicBezTo>
                  <a:cubicBezTo>
                    <a:pt x="2222500" y="508000"/>
                    <a:pt x="2444750" y="508000"/>
                    <a:pt x="2667000" y="254000"/>
                  </a:cubicBezTo>
                  <a:cubicBezTo>
                    <a:pt x="2889250" y="0"/>
                    <a:pt x="3111500" y="0"/>
                    <a:pt x="3333750" y="254000"/>
                  </a:cubicBezTo>
                  <a:cubicBezTo>
                    <a:pt x="3556000" y="508000"/>
                    <a:pt x="3778250" y="508000"/>
                    <a:pt x="4000500" y="254000"/>
                  </a:cubicBezTo>
                </a:path>
              </a:pathLst>
            </a:custGeom>
            <a:noFill/>
            <a:ln w="38100">
              <a:solidFill>
                <a:schemeClr val="accent2"/>
              </a:solidFill>
            </a:ln>
          </p:spPr>
        </p:sp>
        <p:sp>
          <p:nvSpPr>
            <p:cNvPr id="8" name="TextBox 8"/>
            <p:cNvSpPr txBox="1"/>
            <p:nvPr/>
          </p:nvSpPr>
          <p:spPr>
            <a:xfrm>
              <a:off x="713232" y="3000375"/>
              <a:ext cx="3712944" cy="1325118"/>
            </a:xfrm>
            <a:prstGeom prst="rect">
              <a:avLst/>
            </a:prstGeom>
            <a:noFill/>
            <a:ln>
              <a:noFill/>
            </a:ln>
          </p:spPr>
          <p:txBody>
            <a:bodyPr wrap="none" lIns="0" tIns="0" rIns="0" bIns="0" anchor="t" anchorCtr="0">
              <a:spAutoFit/>
            </a:bodyPr>
            <a:lstStyle/>
            <a:p>
              <a:pPr algn="l">
                <a:lnSpc>
                  <a:spcPts val="3600"/>
                </a:lnSpc>
              </a:pPr>
              <a:r>
                <a:rPr lang="en-US" sz="2100" dirty="0">
                  <a:solidFill>
                    <a:schemeClr val="dk1"/>
                  </a:solidFill>
                  <a:latin typeface="+mn-lt"/>
                  <a:ea typeface="+mn-ea"/>
                  <a:cs typeface="+mn-cs"/>
                </a:rPr>
                <a:t>Lytic behavior</a:t>
              </a:r>
              <a:br>
                <a:rPr lang="en-US" sz="2100" dirty="0">
                  <a:solidFill>
                    <a:schemeClr val="dk1"/>
                  </a:solidFill>
                  <a:latin typeface="+mn-lt"/>
                  <a:ea typeface="+mn-ea"/>
                  <a:cs typeface="+mn-cs"/>
                </a:rPr>
              </a:br>
              <a:r>
                <a:rPr lang="en-US" sz="2100" dirty="0">
                  <a:solidFill>
                    <a:schemeClr val="dk1"/>
                  </a:solidFill>
                  <a:latin typeface="+mn-lt"/>
                  <a:ea typeface="+mn-ea"/>
                  <a:cs typeface="+mn-cs"/>
                </a:rPr>
                <a:t>Genome identity</a:t>
              </a:r>
              <a:br>
                <a:rPr lang="en-US" sz="2100" dirty="0">
                  <a:solidFill>
                    <a:schemeClr val="dk1"/>
                  </a:solidFill>
                  <a:latin typeface="+mn-lt"/>
                  <a:ea typeface="+mn-ea"/>
                  <a:cs typeface="+mn-cs"/>
                </a:rPr>
              </a:br>
              <a:r>
                <a:rPr lang="en-US" sz="2100" dirty="0">
                  <a:solidFill>
                    <a:schemeClr val="dk1"/>
                  </a:solidFill>
                  <a:latin typeface="+mn-lt"/>
                  <a:ea typeface="+mn-ea"/>
                  <a:cs typeface="+mn-cs"/>
                </a:rPr>
                <a:t>Known toxin / resistance genes</a:t>
              </a:r>
            </a:p>
          </p:txBody>
        </p:sp>
        <p:sp>
          <p:nvSpPr>
            <p:cNvPr id="9" name="TextBox 9"/>
            <p:cNvSpPr txBox="1"/>
            <p:nvPr/>
          </p:nvSpPr>
          <p:spPr>
            <a:xfrm>
              <a:off x="716280" y="4657725"/>
              <a:ext cx="3838920"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Screen sequence and phenotype together.</a:t>
              </a:r>
            </a:p>
          </p:txBody>
        </p:sp>
      </p:grpSp>
      <p:grpSp>
        <p:nvGrpSpPr>
          <p:cNvPr id="16" name="product-checks"/>
          <p:cNvGrpSpPr/>
          <p:nvPr/>
        </p:nvGrpSpPr>
        <p:grpSpPr>
          <a:xfrm>
            <a:off x="6445758" y="1822450"/>
            <a:ext cx="4201621" cy="3128645"/>
            <a:chOff x="6445758" y="1822450"/>
            <a:chExt cx="4201621" cy="3128645"/>
          </a:xfrm>
        </p:grpSpPr>
        <p:sp>
          <p:nvSpPr>
            <p:cNvPr id="11" name="TextBox 11"/>
            <p:cNvSpPr txBox="1"/>
            <p:nvPr/>
          </p:nvSpPr>
          <p:spPr>
            <a:xfrm>
              <a:off x="6445758" y="1822450"/>
              <a:ext cx="2385390"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Product quality</a:t>
              </a:r>
            </a:p>
          </p:txBody>
        </p:sp>
        <p:sp>
          <p:nvSpPr>
            <p:cNvPr id="12" name="Rectangle 12"/>
            <p:cNvSpPr/>
            <p:nvPr/>
          </p:nvSpPr>
          <p:spPr>
            <a:xfrm>
              <a:off x="6553200" y="2505075"/>
              <a:ext cx="457200" cy="571500"/>
            </a:xfrm>
            <a:prstGeom prst="roundRect">
              <a:avLst>
                <a:gd name="adj" fmla="val 16667"/>
              </a:avLst>
            </a:prstGeom>
            <a:noFill/>
            <a:ln w="28575">
              <a:solidFill>
                <a:schemeClr val="accent2"/>
              </a:solidFill>
            </a:ln>
          </p:spPr>
        </p:sp>
        <p:sp>
          <p:nvSpPr>
            <p:cNvPr id="13" name="Rectangle 13"/>
            <p:cNvSpPr/>
            <p:nvPr/>
          </p:nvSpPr>
          <p:spPr>
            <a:xfrm>
              <a:off x="6629400" y="2362200"/>
              <a:ext cx="304800" cy="142875"/>
            </a:xfrm>
            <a:prstGeom prst="rect">
              <a:avLst/>
            </a:prstGeom>
            <a:solidFill>
              <a:schemeClr val="accent2"/>
            </a:solidFill>
            <a:ln>
              <a:noFill/>
            </a:ln>
          </p:spPr>
        </p:sp>
        <p:sp>
          <p:nvSpPr>
            <p:cNvPr id="14" name="TextBox 14"/>
            <p:cNvSpPr txBox="1"/>
            <p:nvPr/>
          </p:nvSpPr>
          <p:spPr>
            <a:xfrm>
              <a:off x="6447282" y="3000375"/>
              <a:ext cx="2942288" cy="1325118"/>
            </a:xfrm>
            <a:prstGeom prst="rect">
              <a:avLst/>
            </a:prstGeom>
            <a:noFill/>
            <a:ln>
              <a:noFill/>
            </a:ln>
          </p:spPr>
          <p:txBody>
            <a:bodyPr wrap="none" lIns="0" tIns="0" rIns="0" bIns="0" anchor="t" anchorCtr="0">
              <a:spAutoFit/>
            </a:bodyPr>
            <a:lstStyle/>
            <a:p>
              <a:pPr algn="l">
                <a:lnSpc>
                  <a:spcPts val="3600"/>
                </a:lnSpc>
              </a:pPr>
              <a:r>
                <a:rPr lang="en-US" sz="2100" dirty="0">
                  <a:solidFill>
                    <a:schemeClr val="dk1"/>
                  </a:solidFill>
                  <a:latin typeface="+mn-lt"/>
                  <a:ea typeface="+mn-ea"/>
                  <a:cs typeface="+mn-cs"/>
                </a:rPr>
                <a:t>Sterility</a:t>
              </a:r>
              <a:br>
                <a:rPr lang="en-US" sz="2100" dirty="0">
                  <a:solidFill>
                    <a:schemeClr val="dk1"/>
                  </a:solidFill>
                  <a:latin typeface="+mn-lt"/>
                  <a:ea typeface="+mn-ea"/>
                  <a:cs typeface="+mn-cs"/>
                </a:rPr>
              </a:br>
              <a:r>
                <a:rPr lang="en-US" sz="2100" dirty="0">
                  <a:solidFill>
                    <a:schemeClr val="dk1"/>
                  </a:solidFill>
                  <a:latin typeface="+mn-lt"/>
                  <a:ea typeface="+mn-ea"/>
                  <a:cs typeface="+mn-cs"/>
                </a:rPr>
                <a:t>Endotoxin contamination</a:t>
              </a:r>
              <a:br>
                <a:rPr lang="en-US" sz="2100" dirty="0">
                  <a:solidFill>
                    <a:schemeClr val="dk1"/>
                  </a:solidFill>
                  <a:latin typeface="+mn-lt"/>
                  <a:ea typeface="+mn-ea"/>
                  <a:cs typeface="+mn-cs"/>
                </a:rPr>
              </a:br>
              <a:r>
                <a:rPr lang="en-US" sz="2100" dirty="0">
                  <a:solidFill>
                    <a:schemeClr val="dk1"/>
                  </a:solidFill>
                  <a:latin typeface="+mn-lt"/>
                  <a:ea typeface="+mn-ea"/>
                  <a:cs typeface="+mn-cs"/>
                </a:rPr>
                <a:t>Active titre + stability</a:t>
              </a:r>
            </a:p>
          </p:txBody>
        </p:sp>
        <p:sp>
          <p:nvSpPr>
            <p:cNvPr id="15" name="TextBox 15"/>
            <p:cNvSpPr txBox="1"/>
            <p:nvPr/>
          </p:nvSpPr>
          <p:spPr>
            <a:xfrm>
              <a:off x="6450330" y="4657725"/>
              <a:ext cx="4197049"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Bacteria-free does not mean contaminant-free.</a:t>
              </a:r>
            </a:p>
          </p:txBody>
        </p:sp>
      </p:grpSp>
      <p:grpSp>
        <p:nvGrpSpPr>
          <p:cNvPr id="19" name="screening-limit"/>
          <p:cNvGrpSpPr/>
          <p:nvPr/>
        </p:nvGrpSpPr>
        <p:grpSpPr>
          <a:xfrm>
            <a:off x="446532" y="5524500"/>
            <a:ext cx="11288268" cy="585343"/>
            <a:chOff x="446532" y="5524500"/>
            <a:chExt cx="11288268" cy="585343"/>
          </a:xfrm>
        </p:grpSpPr>
        <p:sp>
          <p:nvSpPr>
            <p:cNvPr id="17" name="Line 17"/>
            <p:cNvSpPr/>
            <p:nvPr/>
          </p:nvSpPr>
          <p:spPr>
            <a:xfrm>
              <a:off x="457200" y="5524500"/>
              <a:ext cx="11277600" cy="9525"/>
            </a:xfrm>
            <a:custGeom>
              <a:avLst/>
              <a:gdLst/>
              <a:ahLst/>
              <a:cxnLst/>
              <a:rect l="l" t="t" r="r" b="b"/>
              <a:pathLst>
                <a:path w="11277600" h="9525">
                  <a:moveTo>
                    <a:pt x="0" y="0"/>
                  </a:moveTo>
                  <a:lnTo>
                    <a:pt x="11277600" y="0"/>
                  </a:lnTo>
                </a:path>
              </a:pathLst>
            </a:custGeom>
            <a:noFill/>
            <a:ln w="19050">
              <a:solidFill>
                <a:schemeClr val="accent6"/>
              </a:solidFill>
            </a:ln>
          </p:spPr>
        </p:sp>
        <p:sp>
          <p:nvSpPr>
            <p:cNvPr id="18" name="TextBox 18"/>
            <p:cNvSpPr txBox="1"/>
            <p:nvPr/>
          </p:nvSpPr>
          <p:spPr>
            <a:xfrm>
              <a:off x="446532" y="5699125"/>
              <a:ext cx="9615947" cy="410718"/>
            </a:xfrm>
            <a:prstGeom prst="rect">
              <a:avLst/>
            </a:prstGeom>
            <a:noFill/>
            <a:ln>
              <a:noFill/>
            </a:ln>
          </p:spPr>
          <p:txBody>
            <a:bodyPr wrap="none" lIns="0" tIns="0" rIns="0" bIns="0" anchor="t" anchorCtr="0">
              <a:spAutoFit/>
            </a:bodyPr>
            <a:lstStyle/>
            <a:p>
              <a:pPr algn="l"/>
              <a:r>
                <a:rPr lang="en-US" sz="2100" dirty="0">
                  <a:solidFill>
                    <a:schemeClr val="accent1"/>
                  </a:solidFill>
                  <a:latin typeface="+mn-lt"/>
                  <a:ea typeface="+mn-ea"/>
                  <a:cs typeface="+mn-cs"/>
                </a:rPr>
                <a:t>Screening reduces known hazards; it does not eliminate every unknown risk.</a:t>
              </a:r>
            </a:p>
          </p:txBody>
        </p:sp>
      </p:grpSp>
      <p:grpSp>
        <p:nvGrpSpPr>
          <p:cNvPr id="22" name="footer"/>
          <p:cNvGrpSpPr/>
          <p:nvPr/>
        </p:nvGrpSpPr>
        <p:grpSpPr>
          <a:xfrm>
            <a:off x="451104" y="6391275"/>
            <a:ext cx="11021819" cy="234696"/>
            <a:chOff x="451104" y="6391275"/>
            <a:chExt cx="11021819" cy="234696"/>
          </a:xfrm>
        </p:grpSpPr>
        <p:sp>
          <p:nvSpPr>
            <p:cNvPr id="20" name="TextBox 20"/>
            <p:cNvSpPr txBox="1"/>
            <p:nvPr/>
          </p:nvSpPr>
          <p:spPr>
            <a:xfrm>
              <a:off x="451104" y="6391275"/>
              <a:ext cx="5041548"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Conceptual quality framework · Weiner et al., 2025; Aslam et al., 2020</a:t>
              </a:r>
            </a:p>
          </p:txBody>
        </p:sp>
        <p:sp>
          <p:nvSpPr>
            <p:cNvPr id="21" name="TextBox 21"/>
            <p:cNvSpPr txBox="1"/>
            <p:nvPr/>
          </p:nvSpPr>
          <p:spPr>
            <a:xfrm>
              <a:off x="11281029" y="6391275"/>
              <a:ext cx="19189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05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1960" y="371475"/>
            <a:ext cx="9087761" cy="913765"/>
            <a:chOff x="441960" y="371475"/>
            <a:chExt cx="9087761" cy="913765"/>
          </a:xfrm>
        </p:grpSpPr>
        <p:sp>
          <p:nvSpPr>
            <p:cNvPr id="2" name="TextBox 2"/>
            <p:cNvSpPr txBox="1"/>
            <p:nvPr/>
          </p:nvSpPr>
          <p:spPr>
            <a:xfrm>
              <a:off x="451104" y="371475"/>
              <a:ext cx="1160103"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04 / PREPARE</a:t>
              </a:r>
            </a:p>
          </p:txBody>
        </p:sp>
        <p:sp>
          <p:nvSpPr>
            <p:cNvPr id="3" name="TextBox 3"/>
            <p:cNvSpPr txBox="1"/>
            <p:nvPr/>
          </p:nvSpPr>
          <p:spPr>
            <a:xfrm>
              <a:off x="441960" y="698500"/>
              <a:ext cx="9087761"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n-lt"/>
                  <a:ea typeface="+mn-ea"/>
                  <a:cs typeface="+mn-cs"/>
                </a:rPr>
                <a:t>Prepare a product that stays biologically active</a:t>
              </a:r>
            </a:p>
          </p:txBody>
        </p:sp>
      </p:grpSp>
      <p:grpSp>
        <p:nvGrpSpPr>
          <p:cNvPr id="34" name="manufacturing-path"/>
          <p:cNvGrpSpPr/>
          <p:nvPr/>
        </p:nvGrpSpPr>
        <p:grpSpPr>
          <a:xfrm>
            <a:off x="657606" y="1857375"/>
            <a:ext cx="10134661" cy="2726944"/>
            <a:chOff x="657606" y="1857375"/>
            <a:chExt cx="10134661" cy="2726944"/>
          </a:xfrm>
        </p:grpSpPr>
        <p:sp>
          <p:nvSpPr>
            <p:cNvPr id="5" name="Line 5"/>
            <p:cNvSpPr/>
            <p:nvPr/>
          </p:nvSpPr>
          <p:spPr>
            <a:xfrm>
              <a:off x="2428875" y="2971800"/>
              <a:ext cx="876300" cy="1"/>
            </a:xfrm>
            <a:prstGeom prst="line">
              <a:avLst/>
            </a:prstGeom>
            <a:noFill/>
            <a:ln w="28575">
              <a:solidFill>
                <a:schemeClr val="accent2"/>
              </a:solidFill>
              <a:tailEnd type="triangle" w="lg" len="lg"/>
            </a:ln>
          </p:spPr>
        </p:sp>
        <p:sp>
          <p:nvSpPr>
            <p:cNvPr id="6" name="Line 6"/>
            <p:cNvSpPr/>
            <p:nvPr/>
          </p:nvSpPr>
          <p:spPr>
            <a:xfrm>
              <a:off x="5314950" y="2971800"/>
              <a:ext cx="857250" cy="1"/>
            </a:xfrm>
            <a:prstGeom prst="line">
              <a:avLst/>
            </a:prstGeom>
            <a:noFill/>
            <a:ln w="28575">
              <a:solidFill>
                <a:schemeClr val="accent2"/>
              </a:solidFill>
              <a:tailEnd type="triangle" w="lg" len="lg"/>
            </a:ln>
          </p:spPr>
        </p:sp>
        <p:sp>
          <p:nvSpPr>
            <p:cNvPr id="7" name="Line 7"/>
            <p:cNvSpPr/>
            <p:nvPr/>
          </p:nvSpPr>
          <p:spPr>
            <a:xfrm>
              <a:off x="8191500" y="2971800"/>
              <a:ext cx="857250" cy="1"/>
            </a:xfrm>
            <a:prstGeom prst="line">
              <a:avLst/>
            </a:prstGeom>
            <a:noFill/>
            <a:ln w="28575">
              <a:solidFill>
                <a:schemeClr val="accent2"/>
              </a:solidFill>
              <a:tailEnd type="triangle" w="lg" len="lg"/>
            </a:ln>
          </p:spPr>
        </p:sp>
        <p:grpSp>
          <p:nvGrpSpPr>
            <p:cNvPr id="14" name="amplification"/>
            <p:cNvGrpSpPr/>
            <p:nvPr/>
          </p:nvGrpSpPr>
          <p:grpSpPr>
            <a:xfrm>
              <a:off x="657606" y="1857375"/>
              <a:ext cx="1772061" cy="2726944"/>
              <a:chOff x="657606" y="1857375"/>
              <a:chExt cx="1772061" cy="2726944"/>
            </a:xfrm>
          </p:grpSpPr>
          <p:sp>
            <p:nvSpPr>
              <p:cNvPr id="8" name="TextBox 8"/>
              <p:cNvSpPr txBox="1"/>
              <p:nvPr/>
            </p:nvSpPr>
            <p:spPr>
              <a:xfrm>
                <a:off x="657606" y="1857375"/>
                <a:ext cx="1266975"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1 · Amplify</a:t>
                </a:r>
              </a:p>
            </p:txBody>
          </p:sp>
          <p:sp>
            <p:nvSpPr>
              <p:cNvPr id="9" name="Rectangle 9"/>
              <p:cNvSpPr/>
              <p:nvPr/>
            </p:nvSpPr>
            <p:spPr>
              <a:xfrm>
                <a:off x="1095375" y="2543175"/>
                <a:ext cx="857250" cy="1000125"/>
              </a:xfrm>
              <a:prstGeom prst="roundRect">
                <a:avLst>
                  <a:gd name="adj" fmla="val 13333"/>
                </a:avLst>
              </a:prstGeom>
              <a:solidFill>
                <a:schemeClr val="lt2"/>
              </a:solidFill>
              <a:ln w="28575">
                <a:solidFill>
                  <a:schemeClr val="accent2"/>
                </a:solidFill>
              </a:ln>
            </p:spPr>
          </p:sp>
          <p:sp>
            <p:nvSpPr>
              <p:cNvPr id="10" name="Rectangle 10"/>
              <p:cNvSpPr/>
              <p:nvPr/>
            </p:nvSpPr>
            <p:spPr>
              <a:xfrm>
                <a:off x="1247775" y="2362200"/>
                <a:ext cx="552450" cy="180975"/>
              </a:xfrm>
              <a:prstGeom prst="rect">
                <a:avLst/>
              </a:prstGeom>
              <a:solidFill>
                <a:schemeClr val="accent2"/>
              </a:solidFill>
              <a:ln>
                <a:noFill/>
              </a:ln>
            </p:spPr>
          </p:sp>
          <p:sp>
            <p:nvSpPr>
              <p:cNvPr id="11" name="Rectangle 11"/>
              <p:cNvSpPr/>
              <p:nvPr/>
            </p:nvSpPr>
            <p:spPr>
              <a:xfrm>
                <a:off x="1238250" y="3086100"/>
                <a:ext cx="590550" cy="276225"/>
              </a:xfrm>
              <a:prstGeom prst="roundRect">
                <a:avLst>
                  <a:gd name="adj" fmla="val 50000"/>
                </a:avLst>
              </a:prstGeom>
              <a:solidFill>
                <a:schemeClr val="accent3"/>
              </a:solidFill>
              <a:ln>
                <a:noFill/>
              </a:ln>
            </p:spPr>
          </p:sp>
          <p:sp>
            <p:nvSpPr>
              <p:cNvPr id="12" name="Ellipse 12"/>
              <p:cNvSpPr/>
              <p:nvPr/>
            </p:nvSpPr>
            <p:spPr>
              <a:xfrm>
                <a:off x="1390650" y="2743200"/>
                <a:ext cx="152400" cy="152400"/>
              </a:xfrm>
              <a:prstGeom prst="ellipse">
                <a:avLst/>
              </a:prstGeom>
              <a:solidFill>
                <a:schemeClr val="accent2"/>
              </a:solidFill>
              <a:ln>
                <a:noFill/>
              </a:ln>
            </p:spPr>
          </p:sp>
          <p:sp>
            <p:nvSpPr>
              <p:cNvPr id="13" name="TextBox 13"/>
              <p:cNvSpPr txBox="1"/>
              <p:nvPr/>
            </p:nvSpPr>
            <p:spPr>
              <a:xfrm>
                <a:off x="657606" y="3898900"/>
                <a:ext cx="1772061" cy="685419"/>
              </a:xfrm>
              <a:prstGeom prst="rect">
                <a:avLst/>
              </a:prstGeom>
              <a:noFill/>
              <a:ln>
                <a:noFill/>
              </a:ln>
            </p:spPr>
            <p:txBody>
              <a:bodyPr wrap="none" lIns="0" tIns="0" rIns="0" bIns="0" anchor="t" anchorCtr="0">
                <a:spAutoFit/>
              </a:bodyPr>
              <a:lstStyle/>
              <a:p>
                <a:pPr algn="l">
                  <a:lnSpc>
                    <a:spcPts val="2625"/>
                  </a:lnSpc>
                </a:pPr>
                <a:r>
                  <a:rPr lang="en-US" sz="1800" dirty="0">
                    <a:solidFill>
                      <a:schemeClr val="dk1"/>
                    </a:solidFill>
                    <a:latin typeface="+mn-lt"/>
                    <a:ea typeface="+mn-ea"/>
                    <a:cs typeface="+mn-cs"/>
                  </a:rPr>
                  <a:t>Suitable bacterial</a:t>
                </a:r>
                <a:br>
                  <a:rPr lang="en-US" sz="1800" dirty="0">
                    <a:solidFill>
                      <a:schemeClr val="dk1"/>
                    </a:solidFill>
                    <a:latin typeface="+mn-lt"/>
                    <a:ea typeface="+mn-ea"/>
                    <a:cs typeface="+mn-cs"/>
                  </a:rPr>
                </a:br>
                <a:r>
                  <a:rPr lang="en-US" sz="1800" dirty="0">
                    <a:solidFill>
                      <a:schemeClr val="dk1"/>
                    </a:solidFill>
                    <a:latin typeface="+mn-lt"/>
                    <a:ea typeface="+mn-ea"/>
                    <a:cs typeface="+mn-cs"/>
                  </a:rPr>
                  <a:t>production host</a:t>
                </a:r>
              </a:p>
            </p:txBody>
          </p:sp>
        </p:grpSp>
        <p:grpSp>
          <p:nvGrpSpPr>
            <p:cNvPr id="21" name="purification"/>
            <p:cNvGrpSpPr/>
            <p:nvPr/>
          </p:nvGrpSpPr>
          <p:grpSpPr>
            <a:xfrm>
              <a:off x="3515106" y="1857375"/>
              <a:ext cx="2216643" cy="2726944"/>
              <a:chOff x="3515106" y="1857375"/>
              <a:chExt cx="2216643" cy="2726944"/>
            </a:xfrm>
          </p:grpSpPr>
          <p:sp>
            <p:nvSpPr>
              <p:cNvPr id="15" name="TextBox 15"/>
              <p:cNvSpPr txBox="1"/>
              <p:nvPr/>
            </p:nvSpPr>
            <p:spPr>
              <a:xfrm>
                <a:off x="3515106" y="1857375"/>
                <a:ext cx="1064891"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2 · Purify</a:t>
                </a:r>
              </a:p>
            </p:txBody>
          </p:sp>
          <p:sp>
            <p:nvSpPr>
              <p:cNvPr id="16" name="Line 16"/>
              <p:cNvSpPr/>
              <p:nvPr/>
            </p:nvSpPr>
            <p:spPr>
              <a:xfrm>
                <a:off x="3733800" y="2647950"/>
                <a:ext cx="1219200" cy="9525"/>
              </a:xfrm>
              <a:custGeom>
                <a:avLst/>
                <a:gdLst/>
                <a:ahLst/>
                <a:cxnLst/>
                <a:rect l="l" t="t" r="r" b="b"/>
                <a:pathLst>
                  <a:path w="1219200" h="9525">
                    <a:moveTo>
                      <a:pt x="0" y="0"/>
                    </a:moveTo>
                    <a:lnTo>
                      <a:pt x="1219200" y="0"/>
                    </a:lnTo>
                  </a:path>
                </a:pathLst>
              </a:custGeom>
              <a:noFill/>
              <a:ln w="47625">
                <a:solidFill>
                  <a:schemeClr val="accent2"/>
                </a:solidFill>
              </a:ln>
            </p:spPr>
          </p:sp>
          <p:sp>
            <p:nvSpPr>
              <p:cNvPr id="17" name="Line 17"/>
              <p:cNvSpPr/>
              <p:nvPr/>
            </p:nvSpPr>
            <p:spPr>
              <a:xfrm>
                <a:off x="3733800" y="2981325"/>
                <a:ext cx="1219200" cy="9525"/>
              </a:xfrm>
              <a:custGeom>
                <a:avLst/>
                <a:gdLst/>
                <a:ahLst/>
                <a:cxnLst/>
                <a:rect l="l" t="t" r="r" b="b"/>
                <a:pathLst>
                  <a:path w="1219200" h="9525">
                    <a:moveTo>
                      <a:pt x="0" y="0"/>
                    </a:moveTo>
                    <a:lnTo>
                      <a:pt x="1219200" y="0"/>
                    </a:lnTo>
                  </a:path>
                </a:pathLst>
              </a:custGeom>
              <a:noFill/>
              <a:ln w="47625">
                <a:solidFill>
                  <a:schemeClr val="accent2"/>
                </a:solidFill>
              </a:ln>
            </p:spPr>
          </p:sp>
          <p:sp>
            <p:nvSpPr>
              <p:cNvPr id="18" name="Line 18"/>
              <p:cNvSpPr/>
              <p:nvPr/>
            </p:nvSpPr>
            <p:spPr>
              <a:xfrm>
                <a:off x="3733800" y="3314700"/>
                <a:ext cx="1219200" cy="9525"/>
              </a:xfrm>
              <a:custGeom>
                <a:avLst/>
                <a:gdLst/>
                <a:ahLst/>
                <a:cxnLst/>
                <a:rect l="l" t="t" r="r" b="b"/>
                <a:pathLst>
                  <a:path w="1219200" h="9525">
                    <a:moveTo>
                      <a:pt x="0" y="0"/>
                    </a:moveTo>
                    <a:lnTo>
                      <a:pt x="1219200" y="0"/>
                    </a:lnTo>
                  </a:path>
                </a:pathLst>
              </a:custGeom>
              <a:noFill/>
              <a:ln w="47625">
                <a:solidFill>
                  <a:schemeClr val="accent2"/>
                </a:solidFill>
              </a:ln>
            </p:spPr>
          </p:sp>
          <p:sp>
            <p:nvSpPr>
              <p:cNvPr id="19" name="Ellipse 19"/>
              <p:cNvSpPr/>
              <p:nvPr/>
            </p:nvSpPr>
            <p:spPr>
              <a:xfrm>
                <a:off x="4143375" y="3448050"/>
                <a:ext cx="152400" cy="152400"/>
              </a:xfrm>
              <a:prstGeom prst="ellipse">
                <a:avLst/>
              </a:prstGeom>
              <a:solidFill>
                <a:schemeClr val="accent2"/>
              </a:solidFill>
              <a:ln>
                <a:noFill/>
              </a:ln>
            </p:spPr>
          </p:sp>
          <p:sp>
            <p:nvSpPr>
              <p:cNvPr id="20" name="TextBox 20"/>
              <p:cNvSpPr txBox="1"/>
              <p:nvPr/>
            </p:nvSpPr>
            <p:spPr>
              <a:xfrm>
                <a:off x="3515106" y="3898900"/>
                <a:ext cx="2216643" cy="685419"/>
              </a:xfrm>
              <a:prstGeom prst="rect">
                <a:avLst/>
              </a:prstGeom>
              <a:noFill/>
              <a:ln>
                <a:noFill/>
              </a:ln>
            </p:spPr>
            <p:txBody>
              <a:bodyPr wrap="none" lIns="0" tIns="0" rIns="0" bIns="0" anchor="t" anchorCtr="0">
                <a:spAutoFit/>
              </a:bodyPr>
              <a:lstStyle/>
              <a:p>
                <a:pPr algn="l">
                  <a:lnSpc>
                    <a:spcPts val="2625"/>
                  </a:lnSpc>
                </a:pPr>
                <a:r>
                  <a:rPr lang="en-US" sz="1800" dirty="0">
                    <a:solidFill>
                      <a:schemeClr val="dk1"/>
                    </a:solidFill>
                    <a:latin typeface="+mn-lt"/>
                    <a:ea typeface="+mn-ea"/>
                    <a:cs typeface="+mn-cs"/>
                  </a:rPr>
                  <a:t>Separate cells, debris</a:t>
                </a:r>
                <a:br>
                  <a:rPr lang="en-US" sz="1800" dirty="0">
                    <a:solidFill>
                      <a:schemeClr val="dk1"/>
                    </a:solidFill>
                    <a:latin typeface="+mn-lt"/>
                    <a:ea typeface="+mn-ea"/>
                    <a:cs typeface="+mn-cs"/>
                  </a:rPr>
                </a:br>
                <a:r>
                  <a:rPr lang="en-US" sz="1800" dirty="0">
                    <a:solidFill>
                      <a:schemeClr val="dk1"/>
                    </a:solidFill>
                    <a:latin typeface="+mn-lt"/>
                    <a:ea typeface="+mn-ea"/>
                    <a:cs typeface="+mn-cs"/>
                  </a:rPr>
                  <a:t>and contaminants</a:t>
                </a:r>
              </a:p>
            </p:txBody>
          </p:sp>
        </p:grpSp>
        <p:grpSp>
          <p:nvGrpSpPr>
            <p:cNvPr id="28" name="formulation"/>
            <p:cNvGrpSpPr/>
            <p:nvPr/>
          </p:nvGrpSpPr>
          <p:grpSpPr>
            <a:xfrm>
              <a:off x="6401181" y="1857375"/>
              <a:ext cx="1962348" cy="2726944"/>
              <a:chOff x="6401181" y="1857375"/>
              <a:chExt cx="1962348" cy="2726944"/>
            </a:xfrm>
          </p:grpSpPr>
          <p:sp>
            <p:nvSpPr>
              <p:cNvPr id="22" name="TextBox 22"/>
              <p:cNvSpPr txBox="1"/>
              <p:nvPr/>
            </p:nvSpPr>
            <p:spPr>
              <a:xfrm>
                <a:off x="6401181" y="1857375"/>
                <a:ext cx="1549311"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3 · Formulate</a:t>
                </a:r>
              </a:p>
            </p:txBody>
          </p:sp>
          <p:sp>
            <p:nvSpPr>
              <p:cNvPr id="23" name="Rectangle 23"/>
              <p:cNvSpPr/>
              <p:nvPr/>
            </p:nvSpPr>
            <p:spPr>
              <a:xfrm>
                <a:off x="6772275" y="2667000"/>
                <a:ext cx="762000" cy="857250"/>
              </a:xfrm>
              <a:prstGeom prst="roundRect">
                <a:avLst>
                  <a:gd name="adj" fmla="val 12500"/>
                </a:avLst>
              </a:prstGeom>
              <a:noFill/>
              <a:ln w="28575">
                <a:solidFill>
                  <a:schemeClr val="accent2"/>
                </a:solidFill>
              </a:ln>
            </p:spPr>
          </p:sp>
          <p:sp>
            <p:nvSpPr>
              <p:cNvPr id="24" name="Rectangle 24"/>
              <p:cNvSpPr/>
              <p:nvPr/>
            </p:nvSpPr>
            <p:spPr>
              <a:xfrm>
                <a:off x="6934200" y="2476500"/>
                <a:ext cx="438150" cy="190500"/>
              </a:xfrm>
              <a:prstGeom prst="rect">
                <a:avLst/>
              </a:prstGeom>
              <a:solidFill>
                <a:schemeClr val="accent2"/>
              </a:solidFill>
              <a:ln>
                <a:noFill/>
              </a:ln>
            </p:spPr>
          </p:sp>
          <p:sp>
            <p:nvSpPr>
              <p:cNvPr id="25" name="Ellipse 25"/>
              <p:cNvSpPr/>
              <p:nvPr/>
            </p:nvSpPr>
            <p:spPr>
              <a:xfrm>
                <a:off x="6962775" y="3114675"/>
                <a:ext cx="133350" cy="133350"/>
              </a:xfrm>
              <a:prstGeom prst="ellipse">
                <a:avLst/>
              </a:prstGeom>
              <a:solidFill>
                <a:schemeClr val="accent2"/>
              </a:solidFill>
              <a:ln>
                <a:noFill/>
              </a:ln>
            </p:spPr>
          </p:sp>
          <p:sp>
            <p:nvSpPr>
              <p:cNvPr id="26" name="Ellipse 26"/>
              <p:cNvSpPr/>
              <p:nvPr/>
            </p:nvSpPr>
            <p:spPr>
              <a:xfrm>
                <a:off x="7219950" y="3228975"/>
                <a:ext cx="133350" cy="133350"/>
              </a:xfrm>
              <a:prstGeom prst="ellipse">
                <a:avLst/>
              </a:prstGeom>
              <a:solidFill>
                <a:schemeClr val="accent2"/>
              </a:solidFill>
              <a:ln>
                <a:noFill/>
              </a:ln>
            </p:spPr>
          </p:sp>
          <p:sp>
            <p:nvSpPr>
              <p:cNvPr id="27" name="TextBox 27"/>
              <p:cNvSpPr txBox="1"/>
              <p:nvPr/>
            </p:nvSpPr>
            <p:spPr>
              <a:xfrm>
                <a:off x="6401181" y="3898900"/>
                <a:ext cx="1962348" cy="685419"/>
              </a:xfrm>
              <a:prstGeom prst="rect">
                <a:avLst/>
              </a:prstGeom>
              <a:noFill/>
              <a:ln>
                <a:noFill/>
              </a:ln>
            </p:spPr>
            <p:txBody>
              <a:bodyPr wrap="none" lIns="0" tIns="0" rIns="0" bIns="0" anchor="t" anchorCtr="0">
                <a:spAutoFit/>
              </a:bodyPr>
              <a:lstStyle/>
              <a:p>
                <a:pPr algn="l">
                  <a:lnSpc>
                    <a:spcPts val="2625"/>
                  </a:lnSpc>
                </a:pPr>
                <a:r>
                  <a:rPr lang="en-US" sz="1800" dirty="0">
                    <a:solidFill>
                      <a:schemeClr val="dk1"/>
                    </a:solidFill>
                    <a:latin typeface="+mn-lt"/>
                    <a:ea typeface="+mn-ea"/>
                    <a:cs typeface="+mn-cs"/>
                  </a:rPr>
                  <a:t>Compatible vehicle</a:t>
                </a:r>
                <a:br>
                  <a:rPr lang="en-US" sz="1800" dirty="0">
                    <a:solidFill>
                      <a:schemeClr val="dk1"/>
                    </a:solidFill>
                    <a:latin typeface="+mn-lt"/>
                    <a:ea typeface="+mn-ea"/>
                    <a:cs typeface="+mn-cs"/>
                  </a:rPr>
                </a:br>
                <a:r>
                  <a:rPr lang="en-US" sz="1800" dirty="0">
                    <a:solidFill>
                      <a:schemeClr val="dk1"/>
                    </a:solidFill>
                    <a:latin typeface="+mn-lt"/>
                    <a:ea typeface="+mn-ea"/>
                    <a:cs typeface="+mn-cs"/>
                  </a:rPr>
                  <a:t>and delivery format</a:t>
                </a:r>
              </a:p>
            </p:txBody>
          </p:sp>
        </p:grpSp>
        <p:grpSp>
          <p:nvGrpSpPr>
            <p:cNvPr id="33" name="release"/>
            <p:cNvGrpSpPr/>
            <p:nvPr/>
          </p:nvGrpSpPr>
          <p:grpSpPr>
            <a:xfrm>
              <a:off x="9287256" y="1857375"/>
              <a:ext cx="1505011" cy="2726944"/>
              <a:chOff x="9287256" y="1857375"/>
              <a:chExt cx="1505011" cy="2726944"/>
            </a:xfrm>
          </p:grpSpPr>
          <p:sp>
            <p:nvSpPr>
              <p:cNvPr id="29" name="TextBox 29"/>
              <p:cNvSpPr txBox="1"/>
              <p:nvPr/>
            </p:nvSpPr>
            <p:spPr>
              <a:xfrm>
                <a:off x="9287256" y="1857375"/>
                <a:ext cx="1051536"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4 · Verify</a:t>
                </a:r>
              </a:p>
            </p:txBody>
          </p:sp>
          <p:sp>
            <p:nvSpPr>
              <p:cNvPr id="30" name="Ellipse 30"/>
              <p:cNvSpPr/>
              <p:nvPr/>
            </p:nvSpPr>
            <p:spPr>
              <a:xfrm>
                <a:off x="9591675" y="2533650"/>
                <a:ext cx="1009650" cy="1009650"/>
              </a:xfrm>
              <a:prstGeom prst="ellipse">
                <a:avLst/>
              </a:prstGeom>
              <a:solidFill>
                <a:schemeClr val="accent2">
                  <a:alpha val="12000"/>
                </a:schemeClr>
              </a:solidFill>
              <a:ln w="28575">
                <a:solidFill>
                  <a:schemeClr val="accent2"/>
                </a:solidFill>
              </a:ln>
            </p:spPr>
          </p:sp>
          <p:sp>
            <p:nvSpPr>
              <p:cNvPr id="31" name="Freeform 31"/>
              <p:cNvSpPr/>
              <p:nvPr/>
            </p:nvSpPr>
            <p:spPr>
              <a:xfrm>
                <a:off x="9848850" y="2828925"/>
                <a:ext cx="514350" cy="409575"/>
              </a:xfrm>
              <a:custGeom>
                <a:avLst/>
                <a:gdLst/>
                <a:ahLst/>
                <a:cxnLst/>
                <a:rect l="l" t="t" r="r" b="b"/>
                <a:pathLst>
                  <a:path w="514350" h="409575">
                    <a:moveTo>
                      <a:pt x="0" y="219075"/>
                    </a:moveTo>
                    <a:lnTo>
                      <a:pt x="180975" y="409575"/>
                    </a:lnTo>
                    <a:lnTo>
                      <a:pt x="514350" y="0"/>
                    </a:lnTo>
                  </a:path>
                </a:pathLst>
              </a:custGeom>
              <a:noFill/>
              <a:ln w="47625">
                <a:solidFill>
                  <a:schemeClr val="accent2"/>
                </a:solidFill>
              </a:ln>
            </p:spPr>
          </p:sp>
          <p:sp>
            <p:nvSpPr>
              <p:cNvPr id="32" name="TextBox 32"/>
              <p:cNvSpPr txBox="1"/>
              <p:nvPr/>
            </p:nvSpPr>
            <p:spPr>
              <a:xfrm>
                <a:off x="9287256" y="3898900"/>
                <a:ext cx="1505011" cy="685419"/>
              </a:xfrm>
              <a:prstGeom prst="rect">
                <a:avLst/>
              </a:prstGeom>
              <a:noFill/>
              <a:ln>
                <a:noFill/>
              </a:ln>
            </p:spPr>
            <p:txBody>
              <a:bodyPr wrap="none" lIns="0" tIns="0" rIns="0" bIns="0" anchor="t" anchorCtr="0">
                <a:spAutoFit/>
              </a:bodyPr>
              <a:lstStyle/>
              <a:p>
                <a:pPr algn="l">
                  <a:lnSpc>
                    <a:spcPts val="2625"/>
                  </a:lnSpc>
                </a:pPr>
                <a:r>
                  <a:rPr lang="en-US" sz="1800" dirty="0">
                    <a:solidFill>
                      <a:schemeClr val="dk1"/>
                    </a:solidFill>
                    <a:latin typeface="+mn-lt"/>
                    <a:ea typeface="+mn-ea"/>
                    <a:cs typeface="+mn-cs"/>
                  </a:rPr>
                  <a:t>Identity, purity</a:t>
                </a:r>
                <a:br>
                  <a:rPr lang="en-US" sz="1800" dirty="0">
                    <a:solidFill>
                      <a:schemeClr val="dk1"/>
                    </a:solidFill>
                    <a:latin typeface="+mn-lt"/>
                    <a:ea typeface="+mn-ea"/>
                    <a:cs typeface="+mn-cs"/>
                  </a:rPr>
                </a:br>
                <a:r>
                  <a:rPr lang="en-US" sz="1800" dirty="0">
                    <a:solidFill>
                      <a:schemeClr val="dk1"/>
                    </a:solidFill>
                    <a:latin typeface="+mn-lt"/>
                    <a:ea typeface="+mn-ea"/>
                    <a:cs typeface="+mn-cs"/>
                  </a:rPr>
                  <a:t>and active titre</a:t>
                </a:r>
              </a:p>
            </p:txBody>
          </p:sp>
        </p:grpSp>
      </p:grpSp>
      <p:grpSp>
        <p:nvGrpSpPr>
          <p:cNvPr id="38" name="potency-check"/>
          <p:cNvGrpSpPr/>
          <p:nvPr/>
        </p:nvGrpSpPr>
        <p:grpSpPr>
          <a:xfrm>
            <a:off x="446532" y="5305425"/>
            <a:ext cx="11288268" cy="874395"/>
            <a:chOff x="446532" y="5305425"/>
            <a:chExt cx="11288268" cy="874395"/>
          </a:xfrm>
        </p:grpSpPr>
        <p:sp>
          <p:nvSpPr>
            <p:cNvPr id="35" name="Line 35"/>
            <p:cNvSpPr/>
            <p:nvPr/>
          </p:nvSpPr>
          <p:spPr>
            <a:xfrm>
              <a:off x="457200" y="5305425"/>
              <a:ext cx="11277600" cy="9525"/>
            </a:xfrm>
            <a:custGeom>
              <a:avLst/>
              <a:gdLst/>
              <a:ahLst/>
              <a:cxnLst/>
              <a:rect l="l" t="t" r="r" b="b"/>
              <a:pathLst>
                <a:path w="11277600" h="9525">
                  <a:moveTo>
                    <a:pt x="0" y="0"/>
                  </a:moveTo>
                  <a:lnTo>
                    <a:pt x="11277600" y="0"/>
                  </a:lnTo>
                </a:path>
              </a:pathLst>
            </a:custGeom>
            <a:noFill/>
            <a:ln w="19050">
              <a:solidFill>
                <a:schemeClr val="accent6"/>
              </a:solidFill>
            </a:ln>
          </p:spPr>
        </p:sp>
        <p:sp>
          <p:nvSpPr>
            <p:cNvPr id="36" name="TextBox 36"/>
            <p:cNvSpPr txBox="1"/>
            <p:nvPr/>
          </p:nvSpPr>
          <p:spPr>
            <a:xfrm>
              <a:off x="446532" y="5461000"/>
              <a:ext cx="8214141" cy="410718"/>
            </a:xfrm>
            <a:prstGeom prst="rect">
              <a:avLst/>
            </a:prstGeom>
            <a:noFill/>
            <a:ln>
              <a:noFill/>
            </a:ln>
          </p:spPr>
          <p:txBody>
            <a:bodyPr wrap="none" lIns="0" tIns="0" rIns="0" bIns="0" anchor="t" anchorCtr="0">
              <a:spAutoFit/>
            </a:bodyPr>
            <a:lstStyle/>
            <a:p>
              <a:pPr algn="l"/>
              <a:r>
                <a:rPr lang="en-US" sz="2100" dirty="0">
                  <a:solidFill>
                    <a:schemeClr val="accent1"/>
                  </a:solidFill>
                  <a:latin typeface="+mn-lt"/>
                  <a:ea typeface="+mn-ea"/>
                  <a:cs typeface="+mn-cs"/>
                </a:rPr>
                <a:t xml:space="preserve">Potency must survive </a:t>
              </a:r>
              <a:r>
                <a:rPr lang="en-US" sz="2100" b="1" dirty="0">
                  <a:solidFill>
                    <a:schemeClr val="accent1"/>
                  </a:solidFill>
                  <a:latin typeface="+mn-lt"/>
                  <a:ea typeface="+mn-ea"/>
                  <a:cs typeface="+mn-cs"/>
                </a:rPr>
                <a:t>storage, formulation and administration.</a:t>
              </a:r>
            </a:p>
          </p:txBody>
        </p:sp>
        <p:sp>
          <p:nvSpPr>
            <p:cNvPr id="37" name="TextBox 37"/>
            <p:cNvSpPr txBox="1"/>
            <p:nvPr/>
          </p:nvSpPr>
          <p:spPr>
            <a:xfrm>
              <a:off x="449580" y="5886450"/>
              <a:ext cx="5465517"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Conceptual manufacturing stages—not a laboratory protocol.</a:t>
              </a:r>
            </a:p>
          </p:txBody>
        </p:sp>
      </p:grpSp>
      <p:grpSp>
        <p:nvGrpSpPr>
          <p:cNvPr id="41" name="footer"/>
          <p:cNvGrpSpPr/>
          <p:nvPr/>
        </p:nvGrpSpPr>
        <p:grpSpPr>
          <a:xfrm>
            <a:off x="451104" y="6391275"/>
            <a:ext cx="11021819" cy="234696"/>
            <a:chOff x="451104" y="6391275"/>
            <a:chExt cx="11021819" cy="234696"/>
          </a:xfrm>
        </p:grpSpPr>
        <p:sp>
          <p:nvSpPr>
            <p:cNvPr id="39" name="TextBox 39"/>
            <p:cNvSpPr txBox="1"/>
            <p:nvPr/>
          </p:nvSpPr>
          <p:spPr>
            <a:xfrm>
              <a:off x="451104" y="6391275"/>
              <a:ext cx="405061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Weiner et al., 2025; Aslam et al., 2020; Jault et al., 2019</a:t>
              </a:r>
            </a:p>
          </p:txBody>
        </p:sp>
        <p:sp>
          <p:nvSpPr>
            <p:cNvPr id="40" name="TextBox 40"/>
            <p:cNvSpPr txBox="1"/>
            <p:nvPr/>
          </p:nvSpPr>
          <p:spPr>
            <a:xfrm>
              <a:off x="11281029" y="6391275"/>
              <a:ext cx="19189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06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1960" y="371475"/>
            <a:ext cx="9603158" cy="913765"/>
            <a:chOff x="441960" y="371475"/>
            <a:chExt cx="9603158" cy="913765"/>
          </a:xfrm>
        </p:grpSpPr>
        <p:sp>
          <p:nvSpPr>
            <p:cNvPr id="2" name="TextBox 2"/>
            <p:cNvSpPr txBox="1"/>
            <p:nvPr/>
          </p:nvSpPr>
          <p:spPr>
            <a:xfrm>
              <a:off x="451104" y="371475"/>
              <a:ext cx="1396950"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05 / ADMINISTER</a:t>
              </a:r>
            </a:p>
          </p:txBody>
        </p:sp>
        <p:sp>
          <p:nvSpPr>
            <p:cNvPr id="3" name="TextBox 3"/>
            <p:cNvSpPr txBox="1"/>
            <p:nvPr/>
          </p:nvSpPr>
          <p:spPr>
            <a:xfrm>
              <a:off x="441960" y="698500"/>
              <a:ext cx="9603158"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n-lt"/>
                  <a:ea typeface="+mn-ea"/>
                  <a:cs typeface="+mn-cs"/>
                </a:rPr>
                <a:t>Delivery must bring active phages to the infection</a:t>
              </a:r>
            </a:p>
          </p:txBody>
        </p:sp>
      </p:grpSp>
      <p:grpSp>
        <p:nvGrpSpPr>
          <p:cNvPr id="26" name="delivery-routes"/>
          <p:cNvGrpSpPr/>
          <p:nvPr/>
        </p:nvGrpSpPr>
        <p:grpSpPr>
          <a:xfrm>
            <a:off x="654558" y="1822450"/>
            <a:ext cx="10489692" cy="2523744"/>
            <a:chOff x="654558" y="1822450"/>
            <a:chExt cx="10489692" cy="2523744"/>
          </a:xfrm>
        </p:grpSpPr>
        <p:grpSp>
          <p:nvGrpSpPr>
            <p:cNvPr id="10" name="topical"/>
            <p:cNvGrpSpPr/>
            <p:nvPr/>
          </p:nvGrpSpPr>
          <p:grpSpPr>
            <a:xfrm>
              <a:off x="654558" y="1822450"/>
              <a:ext cx="2822067" cy="2523744"/>
              <a:chOff x="654558" y="1822450"/>
              <a:chExt cx="2822067" cy="2523744"/>
            </a:xfrm>
          </p:grpSpPr>
          <p:sp>
            <p:nvSpPr>
              <p:cNvPr id="5" name="TextBox 5"/>
              <p:cNvSpPr txBox="1"/>
              <p:nvPr/>
            </p:nvSpPr>
            <p:spPr>
              <a:xfrm>
                <a:off x="654558" y="1822450"/>
                <a:ext cx="1164466"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Topical</a:t>
                </a:r>
              </a:p>
            </p:txBody>
          </p:sp>
          <p:sp>
            <p:nvSpPr>
              <p:cNvPr id="6" name="Line 6"/>
              <p:cNvSpPr/>
              <p:nvPr/>
            </p:nvSpPr>
            <p:spPr>
              <a:xfrm>
                <a:off x="666750" y="3238500"/>
                <a:ext cx="2809875" cy="9525"/>
              </a:xfrm>
              <a:custGeom>
                <a:avLst/>
                <a:gdLst/>
                <a:ahLst/>
                <a:cxnLst/>
                <a:rect l="l" t="t" r="r" b="b"/>
                <a:pathLst>
                  <a:path w="2809875" h="9525">
                    <a:moveTo>
                      <a:pt x="0" y="0"/>
                    </a:moveTo>
                    <a:lnTo>
                      <a:pt x="2809875" y="0"/>
                    </a:lnTo>
                  </a:path>
                </a:pathLst>
              </a:custGeom>
              <a:noFill/>
              <a:ln w="76200">
                <a:solidFill>
                  <a:schemeClr val="accent3"/>
                </a:solidFill>
              </a:ln>
            </p:spPr>
          </p:sp>
          <p:sp>
            <p:nvSpPr>
              <p:cNvPr id="7" name="Ellipse 7"/>
              <p:cNvSpPr/>
              <p:nvPr/>
            </p:nvSpPr>
            <p:spPr>
              <a:xfrm>
                <a:off x="1962150" y="2667000"/>
                <a:ext cx="190500" cy="190500"/>
              </a:xfrm>
              <a:prstGeom prst="ellipse">
                <a:avLst/>
              </a:prstGeom>
              <a:solidFill>
                <a:schemeClr val="accent2"/>
              </a:solidFill>
              <a:ln>
                <a:noFill/>
              </a:ln>
            </p:spPr>
          </p:sp>
          <p:sp>
            <p:nvSpPr>
              <p:cNvPr id="8" name="Line 8"/>
              <p:cNvSpPr/>
              <p:nvPr/>
            </p:nvSpPr>
            <p:spPr>
              <a:xfrm>
                <a:off x="2057400" y="2905125"/>
                <a:ext cx="1" cy="285750"/>
              </a:xfrm>
              <a:prstGeom prst="line">
                <a:avLst/>
              </a:prstGeom>
              <a:noFill/>
              <a:ln w="28575">
                <a:solidFill>
                  <a:schemeClr val="accent2"/>
                </a:solidFill>
                <a:tailEnd type="triangle" w="lg" len="lg"/>
              </a:ln>
            </p:spPr>
          </p:sp>
          <p:sp>
            <p:nvSpPr>
              <p:cNvPr id="9" name="TextBox 9"/>
              <p:cNvSpPr txBox="1"/>
              <p:nvPr/>
            </p:nvSpPr>
            <p:spPr>
              <a:xfrm>
                <a:off x="657606" y="3651250"/>
                <a:ext cx="1848185" cy="694944"/>
              </a:xfrm>
              <a:prstGeom prst="rect">
                <a:avLst/>
              </a:prstGeom>
              <a:noFill/>
              <a:ln>
                <a:noFill/>
              </a:ln>
            </p:spPr>
            <p:txBody>
              <a:bodyPr wrap="none" lIns="0" tIns="0" rIns="0" bIns="0" anchor="t" anchorCtr="0">
                <a:spAutoFit/>
              </a:bodyPr>
              <a:lstStyle/>
              <a:p>
                <a:pPr algn="l">
                  <a:lnSpc>
                    <a:spcPts val="2700"/>
                  </a:lnSpc>
                </a:pPr>
                <a:r>
                  <a:rPr lang="en-US" sz="1800" dirty="0">
                    <a:solidFill>
                      <a:schemeClr val="dk1"/>
                    </a:solidFill>
                    <a:latin typeface="+mn-lt"/>
                    <a:ea typeface="+mn-ea"/>
                    <a:cs typeface="+mn-cs"/>
                  </a:rPr>
                  <a:t>Accessible wound</a:t>
                </a:r>
                <a:br>
                  <a:rPr lang="en-US" sz="1800" dirty="0">
                    <a:solidFill>
                      <a:schemeClr val="dk1"/>
                    </a:solidFill>
                    <a:latin typeface="+mn-lt"/>
                    <a:ea typeface="+mn-ea"/>
                    <a:cs typeface="+mn-cs"/>
                  </a:rPr>
                </a:br>
                <a:r>
                  <a:rPr lang="en-US" sz="1800" dirty="0">
                    <a:solidFill>
                      <a:schemeClr val="dk1"/>
                    </a:solidFill>
                    <a:latin typeface="+mn-lt"/>
                    <a:ea typeface="+mn-ea"/>
                    <a:cs typeface="+mn-cs"/>
                  </a:rPr>
                  <a:t>PhagoBurn</a:t>
                </a:r>
              </a:p>
            </p:txBody>
          </p:sp>
        </p:grpSp>
        <p:grpSp>
          <p:nvGrpSpPr>
            <p:cNvPr id="18" name="inhaled"/>
            <p:cNvGrpSpPr/>
            <p:nvPr/>
          </p:nvGrpSpPr>
          <p:grpSpPr>
            <a:xfrm>
              <a:off x="4464558" y="1822450"/>
              <a:ext cx="2295449" cy="2523744"/>
              <a:chOff x="4464558" y="1822450"/>
              <a:chExt cx="2295449" cy="2523744"/>
            </a:xfrm>
          </p:grpSpPr>
          <p:sp>
            <p:nvSpPr>
              <p:cNvPr id="11" name="TextBox 11"/>
              <p:cNvSpPr txBox="1"/>
              <p:nvPr/>
            </p:nvSpPr>
            <p:spPr>
              <a:xfrm>
                <a:off x="4464558" y="1822450"/>
                <a:ext cx="1164466"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Inhaled</a:t>
                </a:r>
              </a:p>
            </p:txBody>
          </p:sp>
          <p:sp>
            <p:nvSpPr>
              <p:cNvPr id="12" name="Line 12"/>
              <p:cNvSpPr/>
              <p:nvPr/>
            </p:nvSpPr>
            <p:spPr>
              <a:xfrm>
                <a:off x="5753100" y="2505075"/>
                <a:ext cx="9525" cy="400050"/>
              </a:xfrm>
              <a:custGeom>
                <a:avLst/>
                <a:gdLst/>
                <a:ahLst/>
                <a:cxnLst/>
                <a:rect l="l" t="t" r="r" b="b"/>
                <a:pathLst>
                  <a:path w="9525" h="400050">
                    <a:moveTo>
                      <a:pt x="0" y="0"/>
                    </a:moveTo>
                    <a:lnTo>
                      <a:pt x="0" y="400050"/>
                    </a:lnTo>
                  </a:path>
                </a:pathLst>
              </a:custGeom>
              <a:noFill/>
              <a:ln w="38100">
                <a:solidFill>
                  <a:schemeClr val="accent2"/>
                </a:solidFill>
              </a:ln>
            </p:spPr>
          </p:sp>
          <p:sp>
            <p:nvSpPr>
              <p:cNvPr id="13" name="Line 13"/>
              <p:cNvSpPr/>
              <p:nvPr/>
            </p:nvSpPr>
            <p:spPr>
              <a:xfrm>
                <a:off x="5353050" y="2905125"/>
                <a:ext cx="400050" cy="381000"/>
              </a:xfrm>
              <a:custGeom>
                <a:avLst/>
                <a:gdLst/>
                <a:ahLst/>
                <a:cxnLst/>
                <a:rect l="l" t="t" r="r" b="b"/>
                <a:pathLst>
                  <a:path w="400050" h="381000">
                    <a:moveTo>
                      <a:pt x="400050" y="0"/>
                    </a:moveTo>
                    <a:lnTo>
                      <a:pt x="0" y="381000"/>
                    </a:lnTo>
                  </a:path>
                </a:pathLst>
              </a:custGeom>
              <a:noFill/>
              <a:ln w="38100">
                <a:solidFill>
                  <a:schemeClr val="accent2"/>
                </a:solidFill>
              </a:ln>
            </p:spPr>
          </p:sp>
          <p:sp>
            <p:nvSpPr>
              <p:cNvPr id="14" name="Line 14"/>
              <p:cNvSpPr/>
              <p:nvPr/>
            </p:nvSpPr>
            <p:spPr>
              <a:xfrm>
                <a:off x="5753100" y="2905125"/>
                <a:ext cx="400050" cy="381000"/>
              </a:xfrm>
              <a:custGeom>
                <a:avLst/>
                <a:gdLst/>
                <a:ahLst/>
                <a:cxnLst/>
                <a:rect l="l" t="t" r="r" b="b"/>
                <a:pathLst>
                  <a:path w="400050" h="381000">
                    <a:moveTo>
                      <a:pt x="0" y="0"/>
                    </a:moveTo>
                    <a:lnTo>
                      <a:pt x="400050" y="381000"/>
                    </a:lnTo>
                  </a:path>
                </a:pathLst>
              </a:custGeom>
              <a:noFill/>
              <a:ln w="38100">
                <a:solidFill>
                  <a:schemeClr val="accent2"/>
                </a:solidFill>
              </a:ln>
            </p:spPr>
          </p:sp>
          <p:sp>
            <p:nvSpPr>
              <p:cNvPr id="15" name="Ellipse 15"/>
              <p:cNvSpPr/>
              <p:nvPr/>
            </p:nvSpPr>
            <p:spPr>
              <a:xfrm>
                <a:off x="5010150" y="2771775"/>
                <a:ext cx="552450" cy="876300"/>
              </a:xfrm>
              <a:prstGeom prst="ellipse">
                <a:avLst/>
              </a:prstGeom>
              <a:solidFill>
                <a:schemeClr val="accent2">
                  <a:alpha val="15000"/>
                </a:schemeClr>
              </a:solidFill>
              <a:ln w="19050">
                <a:solidFill>
                  <a:schemeClr val="accent2"/>
                </a:solidFill>
              </a:ln>
            </p:spPr>
          </p:sp>
          <p:sp>
            <p:nvSpPr>
              <p:cNvPr id="16" name="Ellipse 16"/>
              <p:cNvSpPr/>
              <p:nvPr/>
            </p:nvSpPr>
            <p:spPr>
              <a:xfrm>
                <a:off x="5943600" y="2771775"/>
                <a:ext cx="552450" cy="876300"/>
              </a:xfrm>
              <a:prstGeom prst="ellipse">
                <a:avLst/>
              </a:prstGeom>
              <a:solidFill>
                <a:schemeClr val="accent2">
                  <a:alpha val="15000"/>
                </a:schemeClr>
              </a:solidFill>
              <a:ln w="19050">
                <a:solidFill>
                  <a:schemeClr val="accent2"/>
                </a:solidFill>
              </a:ln>
            </p:spPr>
          </p:sp>
          <p:sp>
            <p:nvSpPr>
              <p:cNvPr id="17" name="TextBox 17"/>
              <p:cNvSpPr txBox="1"/>
              <p:nvPr/>
            </p:nvSpPr>
            <p:spPr>
              <a:xfrm>
                <a:off x="4467606" y="3651250"/>
                <a:ext cx="2292401" cy="694944"/>
              </a:xfrm>
              <a:prstGeom prst="rect">
                <a:avLst/>
              </a:prstGeom>
              <a:noFill/>
              <a:ln>
                <a:noFill/>
              </a:ln>
            </p:spPr>
            <p:txBody>
              <a:bodyPr wrap="none" lIns="0" tIns="0" rIns="0" bIns="0" anchor="t" anchorCtr="0">
                <a:spAutoFit/>
              </a:bodyPr>
              <a:lstStyle/>
              <a:p>
                <a:pPr algn="l">
                  <a:lnSpc>
                    <a:spcPts val="2700"/>
                  </a:lnSpc>
                </a:pPr>
                <a:r>
                  <a:rPr lang="en-US" sz="1800" dirty="0">
                    <a:solidFill>
                      <a:schemeClr val="dk1"/>
                    </a:solidFill>
                    <a:latin typeface="+mn-lt"/>
                    <a:ea typeface="+mn-ea"/>
                    <a:cs typeface="+mn-cs"/>
                  </a:rPr>
                  <a:t>Lower respiratory tract</a:t>
                </a:r>
                <a:br>
                  <a:rPr lang="en-US" sz="1800" dirty="0">
                    <a:solidFill>
                      <a:schemeClr val="dk1"/>
                    </a:solidFill>
                    <a:latin typeface="+mn-lt"/>
                    <a:ea typeface="+mn-ea"/>
                    <a:cs typeface="+mn-cs"/>
                  </a:rPr>
                </a:br>
                <a:r>
                  <a:rPr lang="en-US" sz="1800" dirty="0">
                    <a:solidFill>
                      <a:schemeClr val="dk1"/>
                    </a:solidFill>
                    <a:latin typeface="+mn-lt"/>
                    <a:ea typeface="+mn-ea"/>
                    <a:cs typeface="+mn-cs"/>
                  </a:rPr>
                  <a:t>BX004-A</a:t>
                </a:r>
              </a:p>
            </p:txBody>
          </p:sp>
        </p:grpSp>
        <p:grpSp>
          <p:nvGrpSpPr>
            <p:cNvPr id="25" name="intravenous"/>
            <p:cNvGrpSpPr/>
            <p:nvPr/>
          </p:nvGrpSpPr>
          <p:grpSpPr>
            <a:xfrm>
              <a:off x="8322183" y="1822450"/>
              <a:ext cx="2822067" cy="2523744"/>
              <a:chOff x="8322183" y="1822450"/>
              <a:chExt cx="2822067" cy="2523744"/>
            </a:xfrm>
          </p:grpSpPr>
          <p:sp>
            <p:nvSpPr>
              <p:cNvPr id="19" name="TextBox 19"/>
              <p:cNvSpPr txBox="1"/>
              <p:nvPr/>
            </p:nvSpPr>
            <p:spPr>
              <a:xfrm>
                <a:off x="8322183" y="1822450"/>
                <a:ext cx="1865070"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Intravenous</a:t>
                </a:r>
              </a:p>
            </p:txBody>
          </p:sp>
          <p:sp>
            <p:nvSpPr>
              <p:cNvPr id="20" name="Line 20"/>
              <p:cNvSpPr/>
              <p:nvPr/>
            </p:nvSpPr>
            <p:spPr>
              <a:xfrm>
                <a:off x="8334375" y="3000375"/>
                <a:ext cx="2809875" cy="9525"/>
              </a:xfrm>
              <a:custGeom>
                <a:avLst/>
                <a:gdLst/>
                <a:ahLst/>
                <a:cxnLst/>
                <a:rect l="l" t="t" r="r" b="b"/>
                <a:pathLst>
                  <a:path w="2809875" h="9525">
                    <a:moveTo>
                      <a:pt x="0" y="0"/>
                    </a:moveTo>
                    <a:lnTo>
                      <a:pt x="2809875" y="0"/>
                    </a:lnTo>
                  </a:path>
                </a:pathLst>
              </a:custGeom>
              <a:noFill/>
              <a:ln w="28575">
                <a:solidFill>
                  <a:schemeClr val="accent3"/>
                </a:solidFill>
              </a:ln>
            </p:spPr>
          </p:sp>
          <p:sp>
            <p:nvSpPr>
              <p:cNvPr id="21" name="Line 21"/>
              <p:cNvSpPr/>
              <p:nvPr/>
            </p:nvSpPr>
            <p:spPr>
              <a:xfrm>
                <a:off x="8334375" y="3381375"/>
                <a:ext cx="2809875" cy="9525"/>
              </a:xfrm>
              <a:custGeom>
                <a:avLst/>
                <a:gdLst/>
                <a:ahLst/>
                <a:cxnLst/>
                <a:rect l="l" t="t" r="r" b="b"/>
                <a:pathLst>
                  <a:path w="2809875" h="9525">
                    <a:moveTo>
                      <a:pt x="0" y="0"/>
                    </a:moveTo>
                    <a:lnTo>
                      <a:pt x="2809875" y="0"/>
                    </a:lnTo>
                  </a:path>
                </a:pathLst>
              </a:custGeom>
              <a:noFill/>
              <a:ln w="28575">
                <a:solidFill>
                  <a:schemeClr val="accent3"/>
                </a:solidFill>
              </a:ln>
            </p:spPr>
          </p:sp>
          <p:sp>
            <p:nvSpPr>
              <p:cNvPr id="22" name="Ellipse 22"/>
              <p:cNvSpPr/>
              <p:nvPr/>
            </p:nvSpPr>
            <p:spPr>
              <a:xfrm>
                <a:off x="8943975" y="3114675"/>
                <a:ext cx="152400" cy="152400"/>
              </a:xfrm>
              <a:prstGeom prst="ellipse">
                <a:avLst/>
              </a:prstGeom>
              <a:solidFill>
                <a:schemeClr val="accent2"/>
              </a:solidFill>
              <a:ln>
                <a:noFill/>
              </a:ln>
            </p:spPr>
          </p:sp>
          <p:sp>
            <p:nvSpPr>
              <p:cNvPr id="23" name="Line 23"/>
              <p:cNvSpPr/>
              <p:nvPr/>
            </p:nvSpPr>
            <p:spPr>
              <a:xfrm>
                <a:off x="9286875" y="3190875"/>
                <a:ext cx="1209675" cy="1"/>
              </a:xfrm>
              <a:prstGeom prst="line">
                <a:avLst/>
              </a:prstGeom>
              <a:noFill/>
              <a:ln w="28575">
                <a:solidFill>
                  <a:schemeClr val="accent2"/>
                </a:solidFill>
                <a:tailEnd type="triangle" w="lg" len="lg"/>
              </a:ln>
            </p:spPr>
          </p:sp>
          <p:sp>
            <p:nvSpPr>
              <p:cNvPr id="24" name="TextBox 24"/>
              <p:cNvSpPr txBox="1"/>
              <p:nvPr/>
            </p:nvSpPr>
            <p:spPr>
              <a:xfrm>
                <a:off x="8325231" y="3651250"/>
                <a:ext cx="2114596" cy="694944"/>
              </a:xfrm>
              <a:prstGeom prst="rect">
                <a:avLst/>
              </a:prstGeom>
              <a:noFill/>
              <a:ln>
                <a:noFill/>
              </a:ln>
            </p:spPr>
            <p:txBody>
              <a:bodyPr wrap="none" lIns="0" tIns="0" rIns="0" bIns="0" anchor="t" anchorCtr="0">
                <a:spAutoFit/>
              </a:bodyPr>
              <a:lstStyle/>
              <a:p>
                <a:pPr algn="l">
                  <a:lnSpc>
                    <a:spcPts val="2700"/>
                  </a:lnSpc>
                </a:pPr>
                <a:r>
                  <a:rPr lang="en-US" sz="1800" dirty="0">
                    <a:solidFill>
                      <a:schemeClr val="dk1"/>
                    </a:solidFill>
                    <a:latin typeface="+mn-lt"/>
                    <a:ea typeface="+mn-ea"/>
                    <a:cs typeface="+mn-cs"/>
                  </a:rPr>
                  <a:t>Systemic distribution</a:t>
                </a:r>
                <a:br>
                  <a:rPr lang="en-US" sz="1800" dirty="0">
                    <a:solidFill>
                      <a:schemeClr val="dk1"/>
                    </a:solidFill>
                    <a:latin typeface="+mn-lt"/>
                    <a:ea typeface="+mn-ea"/>
                    <a:cs typeface="+mn-cs"/>
                  </a:rPr>
                </a:br>
                <a:r>
                  <a:rPr lang="en-US" sz="1800" dirty="0">
                    <a:solidFill>
                      <a:schemeClr val="dk1"/>
                    </a:solidFill>
                    <a:latin typeface="+mn-lt"/>
                    <a:ea typeface="+mn-ea"/>
                    <a:cs typeface="+mn-cs"/>
                  </a:rPr>
                  <a:t>Personalized cases</a:t>
                </a:r>
              </a:p>
            </p:txBody>
          </p:sp>
        </p:grpSp>
      </p:grpSp>
      <p:grpSp>
        <p:nvGrpSpPr>
          <p:cNvPr id="30" name="exposure-limit"/>
          <p:cNvGrpSpPr/>
          <p:nvPr/>
        </p:nvGrpSpPr>
        <p:grpSpPr>
          <a:xfrm>
            <a:off x="446532" y="5162550"/>
            <a:ext cx="11288268" cy="942594"/>
            <a:chOff x="446532" y="5162550"/>
            <a:chExt cx="11288268" cy="942594"/>
          </a:xfrm>
        </p:grpSpPr>
        <p:sp>
          <p:nvSpPr>
            <p:cNvPr id="27" name="Line 27"/>
            <p:cNvSpPr/>
            <p:nvPr/>
          </p:nvSpPr>
          <p:spPr>
            <a:xfrm>
              <a:off x="457200" y="5162550"/>
              <a:ext cx="11277600" cy="9525"/>
            </a:xfrm>
            <a:custGeom>
              <a:avLst/>
              <a:gdLst/>
              <a:ahLst/>
              <a:cxnLst/>
              <a:rect l="l" t="t" r="r" b="b"/>
              <a:pathLst>
                <a:path w="11277600" h="9525">
                  <a:moveTo>
                    <a:pt x="0" y="0"/>
                  </a:moveTo>
                  <a:lnTo>
                    <a:pt x="11277600" y="0"/>
                  </a:lnTo>
                </a:path>
              </a:pathLst>
            </a:custGeom>
            <a:noFill/>
            <a:ln w="19050">
              <a:solidFill>
                <a:schemeClr val="accent6"/>
              </a:solidFill>
            </a:ln>
          </p:spPr>
        </p:sp>
        <p:sp>
          <p:nvSpPr>
            <p:cNvPr id="28" name="TextBox 28"/>
            <p:cNvSpPr txBox="1"/>
            <p:nvPr/>
          </p:nvSpPr>
          <p:spPr>
            <a:xfrm>
              <a:off x="446532" y="5318125"/>
              <a:ext cx="7177999" cy="410718"/>
            </a:xfrm>
            <a:prstGeom prst="rect">
              <a:avLst/>
            </a:prstGeom>
            <a:noFill/>
            <a:ln>
              <a:noFill/>
            </a:ln>
          </p:spPr>
          <p:txBody>
            <a:bodyPr wrap="none" lIns="0" tIns="0" rIns="0" bIns="0" anchor="t" anchorCtr="0">
              <a:spAutoFit/>
            </a:bodyPr>
            <a:lstStyle/>
            <a:p>
              <a:pPr algn="l"/>
              <a:r>
                <a:rPr lang="en-US" sz="2100" dirty="0">
                  <a:solidFill>
                    <a:schemeClr val="accent1"/>
                  </a:solidFill>
                  <a:latin typeface="+mn-lt"/>
                  <a:ea typeface="+mn-ea"/>
                  <a:cs typeface="+mn-cs"/>
                </a:rPr>
                <a:t>Administered dose ≠ active exposure at the infection site.</a:t>
              </a:r>
            </a:p>
          </p:txBody>
        </p:sp>
        <p:sp>
          <p:nvSpPr>
            <p:cNvPr id="29" name="TextBox 29"/>
            <p:cNvSpPr txBox="1"/>
            <p:nvPr/>
          </p:nvSpPr>
          <p:spPr>
            <a:xfrm>
              <a:off x="448056" y="5753100"/>
              <a:ext cx="7688637"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mn-lt"/>
                  <a:ea typeface="+mn-ea"/>
                  <a:cs typeface="+mn-cs"/>
                </a:rPr>
                <a:t>Delivery, clearance, neutralization and bacterial susceptibility all matter.</a:t>
              </a:r>
            </a:p>
          </p:txBody>
        </p:sp>
      </p:grpSp>
      <p:grpSp>
        <p:nvGrpSpPr>
          <p:cNvPr id="33" name="footer"/>
          <p:cNvGrpSpPr/>
          <p:nvPr/>
        </p:nvGrpSpPr>
        <p:grpSpPr>
          <a:xfrm>
            <a:off x="451104" y="6391275"/>
            <a:ext cx="11021819" cy="234696"/>
            <a:chOff x="451104" y="6391275"/>
            <a:chExt cx="11021819" cy="234696"/>
          </a:xfrm>
        </p:grpSpPr>
        <p:sp>
          <p:nvSpPr>
            <p:cNvPr id="31" name="TextBox 31"/>
            <p:cNvSpPr txBox="1"/>
            <p:nvPr/>
          </p:nvSpPr>
          <p:spPr>
            <a:xfrm>
              <a:off x="451104" y="6391275"/>
              <a:ext cx="594735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Simplified route symbols · Jault et al., 2019; Weiner et al., 2025; Aslam et al., 2020</a:t>
              </a:r>
            </a:p>
          </p:txBody>
        </p:sp>
        <p:sp>
          <p:nvSpPr>
            <p:cNvPr id="32" name="TextBox 32"/>
            <p:cNvSpPr txBox="1"/>
            <p:nvPr/>
          </p:nvSpPr>
          <p:spPr>
            <a:xfrm>
              <a:off x="11281029" y="6391275"/>
              <a:ext cx="19189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07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1960" y="371475"/>
            <a:ext cx="9348310" cy="913765"/>
            <a:chOff x="441960" y="371475"/>
            <a:chExt cx="9348310" cy="913765"/>
          </a:xfrm>
        </p:grpSpPr>
        <p:sp>
          <p:nvSpPr>
            <p:cNvPr id="2" name="TextBox 2"/>
            <p:cNvSpPr txBox="1"/>
            <p:nvPr/>
          </p:nvSpPr>
          <p:spPr>
            <a:xfrm>
              <a:off x="451104" y="371475"/>
              <a:ext cx="3312513"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06 / TEST THE PRODUCT · PHAGOBURN</a:t>
              </a:r>
            </a:p>
          </p:txBody>
        </p:sp>
        <p:sp>
          <p:nvSpPr>
            <p:cNvPr id="3" name="TextBox 3"/>
            <p:cNvSpPr txBox="1"/>
            <p:nvPr/>
          </p:nvSpPr>
          <p:spPr>
            <a:xfrm>
              <a:off x="441960" y="698500"/>
              <a:ext cx="9348310"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n-lt"/>
                  <a:ea typeface="+mn-ea"/>
                  <a:cs typeface="+mn-cs"/>
                </a:rPr>
                <a:t>PhagoBurn exposed a product-performance gap</a:t>
              </a:r>
            </a:p>
          </p:txBody>
        </p:sp>
      </p:grpSp>
      <p:grpSp>
        <p:nvGrpSpPr>
          <p:cNvPr id="7" name="design"/>
          <p:cNvGrpSpPr/>
          <p:nvPr/>
        </p:nvGrpSpPr>
        <p:grpSpPr>
          <a:xfrm>
            <a:off x="448056" y="1600200"/>
            <a:ext cx="8529039" cy="693420"/>
            <a:chOff x="448056" y="1600200"/>
            <a:chExt cx="8529039" cy="693420"/>
          </a:xfrm>
        </p:grpSpPr>
        <p:sp>
          <p:nvSpPr>
            <p:cNvPr id="5" name="TextBox 5"/>
            <p:cNvSpPr txBox="1"/>
            <p:nvPr/>
          </p:nvSpPr>
          <p:spPr>
            <a:xfrm>
              <a:off x="448056" y="1600200"/>
              <a:ext cx="7806863"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Randomized, double-blind phase 1/2 trial · Pseudomonas-infected burns</a:t>
              </a:r>
            </a:p>
          </p:txBody>
        </p:sp>
        <p:sp>
          <p:nvSpPr>
            <p:cNvPr id="6" name="TextBox 6"/>
            <p:cNvSpPr txBox="1"/>
            <p:nvPr/>
          </p:nvSpPr>
          <p:spPr>
            <a:xfrm>
              <a:off x="449580" y="2000250"/>
              <a:ext cx="8527515"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27 randomized; 25 efficacy population · topical 12-phage PP1131 versus 1% silver sulfadiazine</a:t>
              </a:r>
            </a:p>
          </p:txBody>
        </p:sp>
      </p:grpSp>
      <p:grpSp>
        <p:nvGrpSpPr>
          <p:cNvPr id="15" name="endpoint-comparison"/>
          <p:cNvGrpSpPr/>
          <p:nvPr/>
        </p:nvGrpSpPr>
        <p:grpSpPr>
          <a:xfrm>
            <a:off x="438150" y="2600325"/>
            <a:ext cx="5912453" cy="2522220"/>
            <a:chOff x="438150" y="2600325"/>
            <a:chExt cx="5912453" cy="2522220"/>
          </a:xfrm>
        </p:grpSpPr>
        <p:sp>
          <p:nvSpPr>
            <p:cNvPr id="8" name="TextBox 8"/>
            <p:cNvSpPr txBox="1"/>
            <p:nvPr/>
          </p:nvSpPr>
          <p:spPr>
            <a:xfrm>
              <a:off x="448056" y="2600325"/>
              <a:ext cx="4899834"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Time to sustained bacterial-load reduction</a:t>
              </a:r>
            </a:p>
          </p:txBody>
        </p:sp>
        <p:sp>
          <p:nvSpPr>
            <p:cNvPr id="9" name="TextBox 9"/>
            <p:cNvSpPr txBox="1"/>
            <p:nvPr/>
          </p:nvSpPr>
          <p:spPr>
            <a:xfrm>
              <a:off x="438150" y="3127375"/>
              <a:ext cx="1690501" cy="933450"/>
            </a:xfrm>
            <a:prstGeom prst="rect">
              <a:avLst/>
            </a:prstGeom>
            <a:noFill/>
            <a:ln>
              <a:noFill/>
            </a:ln>
          </p:spPr>
          <p:txBody>
            <a:bodyPr wrap="none" lIns="0" tIns="0" rIns="0" bIns="0" anchor="t" anchorCtr="0">
              <a:spAutoFit/>
            </a:bodyPr>
            <a:lstStyle/>
            <a:p>
              <a:pPr algn="l"/>
              <a:r>
                <a:rPr lang="en-US" sz="4800" b="1" dirty="0">
                  <a:solidFill>
                    <a:schemeClr val="accent2"/>
                  </a:solidFill>
                  <a:latin typeface="+mn-lt"/>
                  <a:ea typeface="+mn-ea"/>
                  <a:cs typeface="+mn-cs"/>
                </a:rPr>
                <a:t>144 h</a:t>
              </a:r>
            </a:p>
          </p:txBody>
        </p:sp>
        <p:sp>
          <p:nvSpPr>
            <p:cNvPr id="10" name="TextBox 10"/>
            <p:cNvSpPr txBox="1"/>
            <p:nvPr/>
          </p:nvSpPr>
          <p:spPr>
            <a:xfrm>
              <a:off x="4029075" y="3127375"/>
              <a:ext cx="1331098" cy="933450"/>
            </a:xfrm>
            <a:prstGeom prst="rect">
              <a:avLst/>
            </a:prstGeom>
            <a:noFill/>
            <a:ln>
              <a:noFill/>
            </a:ln>
          </p:spPr>
          <p:txBody>
            <a:bodyPr wrap="none" lIns="0" tIns="0" rIns="0" bIns="0" anchor="t" anchorCtr="0">
              <a:spAutoFit/>
            </a:bodyPr>
            <a:lstStyle/>
            <a:p>
              <a:pPr algn="l"/>
              <a:r>
                <a:rPr lang="en-US" sz="4800" b="1" dirty="0">
                  <a:solidFill>
                    <a:schemeClr val="accent1"/>
                  </a:solidFill>
                  <a:latin typeface="+mn-lt"/>
                  <a:ea typeface="+mn-ea"/>
                  <a:cs typeface="+mn-cs"/>
                </a:rPr>
                <a:t>47 h</a:t>
              </a:r>
            </a:p>
          </p:txBody>
        </p:sp>
        <p:sp>
          <p:nvSpPr>
            <p:cNvPr id="11" name="TextBox 11"/>
            <p:cNvSpPr txBox="1"/>
            <p:nvPr/>
          </p:nvSpPr>
          <p:spPr>
            <a:xfrm>
              <a:off x="448056" y="3943350"/>
              <a:ext cx="1493972" cy="352044"/>
            </a:xfrm>
            <a:prstGeom prst="rect">
              <a:avLst/>
            </a:prstGeom>
            <a:noFill/>
            <a:ln>
              <a:noFill/>
            </a:ln>
          </p:spPr>
          <p:txBody>
            <a:bodyPr wrap="none" lIns="0" tIns="0" rIns="0" bIns="0" anchor="t" anchorCtr="0">
              <a:spAutoFit/>
            </a:bodyPr>
            <a:lstStyle/>
            <a:p>
              <a:pPr algn="l"/>
              <a:r>
                <a:rPr lang="en-US" sz="1800" dirty="0">
                  <a:solidFill>
                    <a:schemeClr val="accent1"/>
                  </a:solidFill>
                  <a:latin typeface="+mn-lt"/>
                  <a:ea typeface="+mn-ea"/>
                  <a:cs typeface="+mn-cs"/>
                </a:rPr>
                <a:t>Phage · n=12</a:t>
              </a:r>
            </a:p>
          </p:txBody>
        </p:sp>
        <p:sp>
          <p:nvSpPr>
            <p:cNvPr id="12" name="TextBox 12"/>
            <p:cNvSpPr txBox="1"/>
            <p:nvPr/>
          </p:nvSpPr>
          <p:spPr>
            <a:xfrm>
              <a:off x="4038981" y="3943350"/>
              <a:ext cx="2311622" cy="352044"/>
            </a:xfrm>
            <a:prstGeom prst="rect">
              <a:avLst/>
            </a:prstGeom>
            <a:noFill/>
            <a:ln>
              <a:noFill/>
            </a:ln>
          </p:spPr>
          <p:txBody>
            <a:bodyPr wrap="none" lIns="0" tIns="0" rIns="0" bIns="0" anchor="t" anchorCtr="0">
              <a:spAutoFit/>
            </a:bodyPr>
            <a:lstStyle/>
            <a:p>
              <a:pPr algn="l"/>
              <a:r>
                <a:rPr lang="en-US" sz="1800" dirty="0">
                  <a:solidFill>
                    <a:schemeClr val="accent1"/>
                  </a:solidFill>
                  <a:latin typeface="+mn-lt"/>
                  <a:ea typeface="+mn-ea"/>
                  <a:cs typeface="+mn-cs"/>
                </a:rPr>
                <a:t>Standard care · n=13</a:t>
              </a:r>
            </a:p>
          </p:txBody>
        </p:sp>
        <p:sp>
          <p:nvSpPr>
            <p:cNvPr id="13" name="TextBox 13"/>
            <p:cNvSpPr txBox="1"/>
            <p:nvPr/>
          </p:nvSpPr>
          <p:spPr>
            <a:xfrm>
              <a:off x="449580" y="4495800"/>
              <a:ext cx="3626955" cy="293370"/>
            </a:xfrm>
            <a:prstGeom prst="rect">
              <a:avLst/>
            </a:prstGeom>
            <a:noFill/>
            <a:ln>
              <a:noFill/>
            </a:ln>
          </p:spPr>
          <p:txBody>
            <a:bodyPr wrap="none" lIns="0" tIns="0" rIns="0" bIns="0" anchor="t" anchorCtr="0">
              <a:spAutoFit/>
            </a:bodyPr>
            <a:lstStyle/>
            <a:p>
              <a:pPr algn="l"/>
              <a:r>
                <a:rPr lang="en-US" sz="1500" dirty="0">
                  <a:solidFill>
                    <a:schemeClr val="accent1"/>
                  </a:solidFill>
                  <a:latin typeface="+mn-lt"/>
                  <a:ea typeface="+mn-ea"/>
                  <a:cs typeface="+mn-cs"/>
                </a:rPr>
                <a:t>HR 0.29 (95% CI 0.10–0.79); P=0.018</a:t>
              </a:r>
            </a:p>
          </p:txBody>
        </p:sp>
        <p:sp>
          <p:nvSpPr>
            <p:cNvPr id="14" name="TextBox 14"/>
            <p:cNvSpPr txBox="1"/>
            <p:nvPr/>
          </p:nvSpPr>
          <p:spPr>
            <a:xfrm>
              <a:off x="449580" y="4829175"/>
              <a:ext cx="4614455"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Slower reduction with PP1131 at the delivered titre.</a:t>
              </a:r>
            </a:p>
          </p:txBody>
        </p:sp>
      </p:grpSp>
      <p:grpSp>
        <p:nvGrpSpPr>
          <p:cNvPr id="22" name="potency-gap"/>
          <p:cNvGrpSpPr/>
          <p:nvPr/>
        </p:nvGrpSpPr>
        <p:grpSpPr>
          <a:xfrm>
            <a:off x="7858125" y="2524125"/>
            <a:ext cx="3876675" cy="2667000"/>
            <a:chOff x="7858125" y="2524125"/>
            <a:chExt cx="3876675" cy="2667000"/>
          </a:xfrm>
        </p:grpSpPr>
        <p:sp>
          <p:nvSpPr>
            <p:cNvPr id="16" name="Rectangle 16"/>
            <p:cNvSpPr/>
            <p:nvPr/>
          </p:nvSpPr>
          <p:spPr>
            <a:xfrm>
              <a:off x="7858125" y="2524125"/>
              <a:ext cx="3876675" cy="2667000"/>
            </a:xfrm>
            <a:prstGeom prst="rect">
              <a:avLst/>
            </a:prstGeom>
            <a:solidFill>
              <a:schemeClr val="lt2"/>
            </a:solidFill>
            <a:ln>
              <a:noFill/>
            </a:ln>
          </p:spPr>
        </p:sp>
        <p:sp>
          <p:nvSpPr>
            <p:cNvPr id="17" name="TextBox 17"/>
            <p:cNvSpPr txBox="1"/>
            <p:nvPr/>
          </p:nvSpPr>
          <p:spPr>
            <a:xfrm>
              <a:off x="8087106" y="2695575"/>
              <a:ext cx="2786224"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A manufacturing lesson</a:t>
              </a:r>
            </a:p>
          </p:txBody>
        </p:sp>
        <p:sp>
          <p:nvSpPr>
            <p:cNvPr id="18" name="TextBox 18"/>
            <p:cNvSpPr txBox="1"/>
            <p:nvPr/>
          </p:nvSpPr>
          <p:spPr>
            <a:xfrm>
              <a:off x="8084058" y="3232150"/>
              <a:ext cx="1918039" cy="469392"/>
            </a:xfrm>
            <a:prstGeom prst="rect">
              <a:avLst/>
            </a:prstGeom>
            <a:noFill/>
            <a:ln>
              <a:noFill/>
            </a:ln>
          </p:spPr>
          <p:txBody>
            <a:bodyPr wrap="none" lIns="0" tIns="0" rIns="0" bIns="0" anchor="t" anchorCtr="0">
              <a:spAutoFit/>
            </a:bodyPr>
            <a:lstStyle/>
            <a:p>
              <a:pPr algn="l"/>
              <a:r>
                <a:rPr lang="en-US" sz="2400" dirty="0">
                  <a:solidFill>
                    <a:schemeClr val="dk1"/>
                  </a:solidFill>
                  <a:latin typeface="+mn-lt"/>
                  <a:ea typeface="+mn-ea"/>
                  <a:cs typeface="+mn-cs"/>
                </a:rPr>
                <a:t>10⁶ PFU/mL</a:t>
              </a:r>
            </a:p>
          </p:txBody>
        </p:sp>
        <p:sp>
          <p:nvSpPr>
            <p:cNvPr id="19" name="TextBox 19"/>
            <p:cNvSpPr txBox="1"/>
            <p:nvPr/>
          </p:nvSpPr>
          <p:spPr>
            <a:xfrm>
              <a:off x="8088630" y="3676650"/>
              <a:ext cx="2058610"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intended concentration</a:t>
              </a:r>
            </a:p>
          </p:txBody>
        </p:sp>
        <p:sp>
          <p:nvSpPr>
            <p:cNvPr id="20" name="TextBox 20"/>
            <p:cNvSpPr txBox="1"/>
            <p:nvPr/>
          </p:nvSpPr>
          <p:spPr>
            <a:xfrm>
              <a:off x="8084058" y="4117975"/>
              <a:ext cx="2067513" cy="469392"/>
            </a:xfrm>
            <a:prstGeom prst="rect">
              <a:avLst/>
            </a:prstGeom>
            <a:noFill/>
            <a:ln>
              <a:noFill/>
            </a:ln>
          </p:spPr>
          <p:txBody>
            <a:bodyPr wrap="none" lIns="0" tIns="0" rIns="0" bIns="0" anchor="t" anchorCtr="0">
              <a:spAutoFit/>
            </a:bodyPr>
            <a:lstStyle/>
            <a:p>
              <a:pPr algn="l"/>
              <a:r>
                <a:rPr lang="en-US" sz="2400" b="1" dirty="0">
                  <a:solidFill>
                    <a:schemeClr val="accent2"/>
                  </a:solidFill>
                  <a:latin typeface="+mn-lt"/>
                  <a:ea typeface="+mn-ea"/>
                  <a:cs typeface="+mn-cs"/>
                </a:rPr>
                <a:t>≈10² PFU/mL</a:t>
              </a:r>
            </a:p>
          </p:txBody>
        </p:sp>
        <p:sp>
          <p:nvSpPr>
            <p:cNvPr id="21" name="TextBox 21"/>
            <p:cNvSpPr txBox="1"/>
            <p:nvPr/>
          </p:nvSpPr>
          <p:spPr>
            <a:xfrm>
              <a:off x="8088630" y="4572000"/>
              <a:ext cx="2383677"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delivered after titre decline</a:t>
              </a:r>
            </a:p>
          </p:txBody>
        </p:sp>
      </p:grpSp>
      <p:grpSp>
        <p:nvGrpSpPr>
          <p:cNvPr id="25" name="legitimate-conclusion"/>
          <p:cNvGrpSpPr/>
          <p:nvPr/>
        </p:nvGrpSpPr>
        <p:grpSpPr>
          <a:xfrm>
            <a:off x="448056" y="5505450"/>
            <a:ext cx="8458849" cy="664845"/>
            <a:chOff x="448056" y="5505450"/>
            <a:chExt cx="8458849" cy="664845"/>
          </a:xfrm>
        </p:grpSpPr>
        <p:sp>
          <p:nvSpPr>
            <p:cNvPr id="23" name="TextBox 23"/>
            <p:cNvSpPr txBox="1"/>
            <p:nvPr/>
          </p:nvSpPr>
          <p:spPr>
            <a:xfrm>
              <a:off x="448056" y="5505450"/>
              <a:ext cx="5804043"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Conclusion:</a:t>
              </a:r>
              <a:r>
                <a:rPr lang="en-US" sz="1800" dirty="0">
                  <a:solidFill>
                    <a:schemeClr val="accent1"/>
                  </a:solidFill>
                  <a:latin typeface="+mn-lt"/>
                  <a:ea typeface="+mn-ea"/>
                  <a:cs typeface="+mn-cs"/>
                </a:rPr>
                <a:t xml:space="preserve"> potency must be controlled through use.</a:t>
              </a:r>
            </a:p>
          </p:txBody>
        </p:sp>
        <p:sp>
          <p:nvSpPr>
            <p:cNvPr id="24" name="TextBox 24"/>
            <p:cNvSpPr txBox="1"/>
            <p:nvPr/>
          </p:nvSpPr>
          <p:spPr>
            <a:xfrm>
              <a:off x="449580" y="5876925"/>
              <a:ext cx="8457325"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Low titre does not prove a higher dose would work. Microbiological endpoint—not clinical cure.</a:t>
              </a:r>
            </a:p>
          </p:txBody>
        </p:sp>
      </p:grpSp>
      <p:grpSp>
        <p:nvGrpSpPr>
          <p:cNvPr id="28" name="footer"/>
          <p:cNvGrpSpPr/>
          <p:nvPr/>
        </p:nvGrpSpPr>
        <p:grpSpPr>
          <a:xfrm>
            <a:off x="451104" y="6391275"/>
            <a:ext cx="11021819" cy="234696"/>
            <a:chOff x="451104" y="6391275"/>
            <a:chExt cx="11021819" cy="234696"/>
          </a:xfrm>
        </p:grpSpPr>
        <p:sp>
          <p:nvSpPr>
            <p:cNvPr id="26" name="TextBox 26"/>
            <p:cNvSpPr txBox="1"/>
            <p:nvPr/>
          </p:nvSpPr>
          <p:spPr>
            <a:xfrm>
              <a:off x="451104" y="6391275"/>
              <a:ext cx="6117715"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Jault et al., 2019 · Lancet Infect Dis 19:35–45 · doi:10.1016/S1473-3099(18)30482-1</a:t>
              </a:r>
            </a:p>
          </p:txBody>
        </p:sp>
        <p:sp>
          <p:nvSpPr>
            <p:cNvPr id="27" name="TextBox 27"/>
            <p:cNvSpPr txBox="1"/>
            <p:nvPr/>
          </p:nvSpPr>
          <p:spPr>
            <a:xfrm>
              <a:off x="11281029" y="6391275"/>
              <a:ext cx="19189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08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1960" y="371475"/>
            <a:ext cx="9454964" cy="913765"/>
            <a:chOff x="441960" y="371475"/>
            <a:chExt cx="9454964" cy="913765"/>
          </a:xfrm>
        </p:grpSpPr>
        <p:sp>
          <p:nvSpPr>
            <p:cNvPr id="2" name="TextBox 2"/>
            <p:cNvSpPr txBox="1"/>
            <p:nvPr/>
          </p:nvSpPr>
          <p:spPr>
            <a:xfrm>
              <a:off x="451104" y="371475"/>
              <a:ext cx="2507104"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07 / TEST DELIVERY · BX004-A</a:t>
              </a:r>
            </a:p>
          </p:txBody>
        </p:sp>
        <p:sp>
          <p:nvSpPr>
            <p:cNvPr id="3" name="TextBox 3"/>
            <p:cNvSpPr txBox="1"/>
            <p:nvPr/>
          </p:nvSpPr>
          <p:spPr>
            <a:xfrm>
              <a:off x="441960" y="698500"/>
              <a:ext cx="9454964"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n-lt"/>
                  <a:ea typeface="+mn-ea"/>
                  <a:cs typeface="+mn-cs"/>
                </a:rPr>
                <a:t>BX004-A established delivery and an early signal</a:t>
              </a:r>
            </a:p>
          </p:txBody>
        </p:sp>
      </p:grpSp>
      <p:grpSp>
        <p:nvGrpSpPr>
          <p:cNvPr id="12" name="trial-design"/>
          <p:cNvGrpSpPr/>
          <p:nvPr/>
        </p:nvGrpSpPr>
        <p:grpSpPr>
          <a:xfrm>
            <a:off x="438150" y="1651000"/>
            <a:ext cx="3351661" cy="3188970"/>
            <a:chOff x="438150" y="1651000"/>
            <a:chExt cx="3351661" cy="3188970"/>
          </a:xfrm>
        </p:grpSpPr>
        <p:sp>
          <p:nvSpPr>
            <p:cNvPr id="5" name="TextBox 5"/>
            <p:cNvSpPr txBox="1"/>
            <p:nvPr/>
          </p:nvSpPr>
          <p:spPr>
            <a:xfrm>
              <a:off x="446532" y="1651000"/>
              <a:ext cx="2560670"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Part 1 · nine adults</a:t>
              </a:r>
            </a:p>
          </p:txBody>
        </p:sp>
        <p:sp>
          <p:nvSpPr>
            <p:cNvPr id="6" name="TextBox 6"/>
            <p:cNvSpPr txBox="1"/>
            <p:nvPr/>
          </p:nvSpPr>
          <p:spPr>
            <a:xfrm>
              <a:off x="449580" y="2133600"/>
              <a:ext cx="3340231"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CF + chronic Pseudomonas infection</a:t>
              </a:r>
            </a:p>
          </p:txBody>
        </p:sp>
        <p:sp>
          <p:nvSpPr>
            <p:cNvPr id="7" name="TextBox 7"/>
            <p:cNvSpPr txBox="1"/>
            <p:nvPr/>
          </p:nvSpPr>
          <p:spPr>
            <a:xfrm>
              <a:off x="438150" y="2413000"/>
              <a:ext cx="397503" cy="933450"/>
            </a:xfrm>
            <a:prstGeom prst="rect">
              <a:avLst/>
            </a:prstGeom>
            <a:noFill/>
            <a:ln>
              <a:noFill/>
            </a:ln>
          </p:spPr>
          <p:txBody>
            <a:bodyPr wrap="none" lIns="0" tIns="0" rIns="0" bIns="0" anchor="t" anchorCtr="0">
              <a:spAutoFit/>
            </a:bodyPr>
            <a:lstStyle/>
            <a:p>
              <a:pPr algn="l"/>
              <a:r>
                <a:rPr lang="en-US" sz="4800" b="1" dirty="0">
                  <a:solidFill>
                    <a:schemeClr val="accent2"/>
                  </a:solidFill>
                  <a:latin typeface="+mn-lt"/>
                  <a:ea typeface="+mn-ea"/>
                  <a:cs typeface="+mn-cs"/>
                </a:rPr>
                <a:t>7</a:t>
              </a:r>
            </a:p>
          </p:txBody>
        </p:sp>
        <p:sp>
          <p:nvSpPr>
            <p:cNvPr id="8" name="TextBox 8"/>
            <p:cNvSpPr txBox="1"/>
            <p:nvPr/>
          </p:nvSpPr>
          <p:spPr>
            <a:xfrm>
              <a:off x="1210056" y="2724150"/>
              <a:ext cx="1043082"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BX004-A</a:t>
              </a:r>
            </a:p>
          </p:txBody>
        </p:sp>
        <p:sp>
          <p:nvSpPr>
            <p:cNvPr id="9" name="TextBox 9"/>
            <p:cNvSpPr txBox="1"/>
            <p:nvPr/>
          </p:nvSpPr>
          <p:spPr>
            <a:xfrm>
              <a:off x="438150" y="3232150"/>
              <a:ext cx="397503" cy="933450"/>
            </a:xfrm>
            <a:prstGeom prst="rect">
              <a:avLst/>
            </a:prstGeom>
            <a:noFill/>
            <a:ln>
              <a:noFill/>
            </a:ln>
          </p:spPr>
          <p:txBody>
            <a:bodyPr wrap="none" lIns="0" tIns="0" rIns="0" bIns="0" anchor="t" anchorCtr="0">
              <a:spAutoFit/>
            </a:bodyPr>
            <a:lstStyle/>
            <a:p>
              <a:pPr algn="l"/>
              <a:r>
                <a:rPr lang="en-US" sz="4800" b="1" dirty="0">
                  <a:solidFill>
                    <a:schemeClr val="dk1"/>
                  </a:solidFill>
                  <a:latin typeface="+mn-lt"/>
                  <a:ea typeface="+mn-ea"/>
                  <a:cs typeface="+mn-cs"/>
                </a:rPr>
                <a:t>2</a:t>
              </a:r>
            </a:p>
          </p:txBody>
        </p:sp>
        <p:sp>
          <p:nvSpPr>
            <p:cNvPr id="10" name="TextBox 10"/>
            <p:cNvSpPr txBox="1"/>
            <p:nvPr/>
          </p:nvSpPr>
          <p:spPr>
            <a:xfrm>
              <a:off x="1210056" y="3543300"/>
              <a:ext cx="901099"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Placebo</a:t>
              </a:r>
            </a:p>
          </p:txBody>
        </p:sp>
        <p:sp>
          <p:nvSpPr>
            <p:cNvPr id="11" name="TextBox 11"/>
            <p:cNvSpPr txBox="1"/>
            <p:nvPr/>
          </p:nvSpPr>
          <p:spPr>
            <a:xfrm>
              <a:off x="449580" y="4260850"/>
              <a:ext cx="2631034" cy="579120"/>
            </a:xfrm>
            <a:prstGeom prst="rect">
              <a:avLst/>
            </a:prstGeom>
            <a:noFill/>
            <a:ln>
              <a:noFill/>
            </a:ln>
          </p:spPr>
          <p:txBody>
            <a:bodyPr wrap="none" lIns="0" tIns="0" rIns="0" bIns="0" anchor="t" anchorCtr="0">
              <a:spAutoFit/>
            </a:bodyPr>
            <a:lstStyle/>
            <a:p>
              <a:pPr algn="l">
                <a:lnSpc>
                  <a:spcPts val="2250"/>
                </a:lnSpc>
              </a:pPr>
              <a:r>
                <a:rPr lang="en-US" sz="1500" dirty="0">
                  <a:solidFill>
                    <a:schemeClr val="dk1"/>
                  </a:solidFill>
                  <a:latin typeface="+mn-lt"/>
                  <a:ea typeface="+mn-ea"/>
                  <a:cs typeface="+mn-cs"/>
                </a:rPr>
                <a:t>Randomized, double-blind</a:t>
              </a:r>
              <a:br>
                <a:rPr lang="en-US" sz="1500" dirty="0">
                  <a:solidFill>
                    <a:schemeClr val="dk1"/>
                  </a:solidFill>
                  <a:latin typeface="+mn-lt"/>
                  <a:ea typeface="+mn-ea"/>
                  <a:cs typeface="+mn-cs"/>
                </a:rPr>
              </a:br>
              <a:r>
                <a:rPr lang="en-US" sz="1500" dirty="0">
                  <a:solidFill>
                    <a:schemeClr val="dk1"/>
                  </a:solidFill>
                  <a:latin typeface="+mn-lt"/>
                  <a:ea typeface="+mn-ea"/>
                  <a:cs typeface="+mn-cs"/>
                </a:rPr>
                <a:t>Nebulized three-phage cocktail</a:t>
              </a:r>
            </a:p>
          </p:txBody>
        </p:sp>
      </p:grpSp>
      <p:grpSp>
        <p:nvGrpSpPr>
          <p:cNvPr id="21" name="endpoint-results"/>
          <p:cNvGrpSpPr/>
          <p:nvPr/>
        </p:nvGrpSpPr>
        <p:grpSpPr>
          <a:xfrm>
            <a:off x="5207508" y="1651000"/>
            <a:ext cx="6317742" cy="3261995"/>
            <a:chOff x="5207508" y="1651000"/>
            <a:chExt cx="6317742" cy="3261995"/>
          </a:xfrm>
        </p:grpSpPr>
        <p:sp>
          <p:nvSpPr>
            <p:cNvPr id="13" name="TextBox 13"/>
            <p:cNvSpPr txBox="1"/>
            <p:nvPr/>
          </p:nvSpPr>
          <p:spPr>
            <a:xfrm>
              <a:off x="5209032" y="1651000"/>
              <a:ext cx="3824523"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Primary: safety + tolerability</a:t>
              </a:r>
            </a:p>
          </p:txBody>
        </p:sp>
        <p:sp>
          <p:nvSpPr>
            <p:cNvPr id="14" name="TextBox 14"/>
            <p:cNvSpPr txBox="1"/>
            <p:nvPr/>
          </p:nvSpPr>
          <p:spPr>
            <a:xfrm>
              <a:off x="5210556" y="2095500"/>
              <a:ext cx="4470199" cy="352044"/>
            </a:xfrm>
            <a:prstGeom prst="rect">
              <a:avLst/>
            </a:prstGeom>
            <a:noFill/>
            <a:ln>
              <a:noFill/>
            </a:ln>
          </p:spPr>
          <p:txBody>
            <a:bodyPr wrap="none" lIns="0" tIns="0" rIns="0" bIns="0" anchor="t" anchorCtr="0">
              <a:spAutoFit/>
            </a:bodyPr>
            <a:lstStyle/>
            <a:p>
              <a:pPr algn="l"/>
              <a:r>
                <a:rPr lang="en-US" sz="1800" dirty="0">
                  <a:solidFill>
                    <a:schemeClr val="accent1"/>
                  </a:solidFill>
                  <a:latin typeface="+mn-lt"/>
                  <a:ea typeface="+mn-ea"/>
                  <a:cs typeface="+mn-cs"/>
                </a:rPr>
                <a:t>Met; sputum recovery supported delivery.</a:t>
              </a:r>
            </a:p>
          </p:txBody>
        </p:sp>
        <p:sp>
          <p:nvSpPr>
            <p:cNvPr id="15" name="Line 15"/>
            <p:cNvSpPr/>
            <p:nvPr/>
          </p:nvSpPr>
          <p:spPr>
            <a:xfrm>
              <a:off x="5219700" y="2619375"/>
              <a:ext cx="6305550" cy="9525"/>
            </a:xfrm>
            <a:custGeom>
              <a:avLst/>
              <a:gdLst/>
              <a:ahLst/>
              <a:cxnLst/>
              <a:rect l="l" t="t" r="r" b="b"/>
              <a:pathLst>
                <a:path w="6305550" h="9525">
                  <a:moveTo>
                    <a:pt x="0" y="0"/>
                  </a:moveTo>
                  <a:lnTo>
                    <a:pt x="6305550" y="0"/>
                  </a:lnTo>
                </a:path>
              </a:pathLst>
            </a:custGeom>
            <a:noFill/>
            <a:ln w="19050">
              <a:solidFill>
                <a:schemeClr val="accent6"/>
              </a:solidFill>
            </a:ln>
          </p:spPr>
        </p:sp>
        <p:sp>
          <p:nvSpPr>
            <p:cNvPr id="16" name="TextBox 16"/>
            <p:cNvSpPr txBox="1"/>
            <p:nvPr/>
          </p:nvSpPr>
          <p:spPr>
            <a:xfrm>
              <a:off x="5210556" y="2790825"/>
              <a:ext cx="4523181"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Exploratory bacterial-density contrasts</a:t>
              </a:r>
            </a:p>
          </p:txBody>
        </p:sp>
        <p:sp>
          <p:nvSpPr>
            <p:cNvPr id="17" name="TextBox 17"/>
            <p:cNvSpPr txBox="1"/>
            <p:nvPr/>
          </p:nvSpPr>
          <p:spPr>
            <a:xfrm>
              <a:off x="5207508" y="3327400"/>
              <a:ext cx="3583025" cy="469392"/>
            </a:xfrm>
            <a:prstGeom prst="rect">
              <a:avLst/>
            </a:prstGeom>
            <a:noFill/>
            <a:ln>
              <a:noFill/>
            </a:ln>
          </p:spPr>
          <p:txBody>
            <a:bodyPr wrap="none" lIns="0" tIns="0" rIns="0" bIns="0" anchor="t" anchorCtr="0">
              <a:spAutoFit/>
            </a:bodyPr>
            <a:lstStyle/>
            <a:p>
              <a:pPr algn="l"/>
              <a:r>
                <a:rPr lang="en-US" sz="2400" dirty="0">
                  <a:solidFill>
                    <a:schemeClr val="accent2"/>
                  </a:solidFill>
                  <a:latin typeface="+mn-lt"/>
                  <a:ea typeface="+mn-ea"/>
                  <a:cs typeface="+mn-cs"/>
                </a:rPr>
                <a:t>Day 4 · 1.9 log₁₀ CFU/g</a:t>
              </a:r>
            </a:p>
          </p:txBody>
        </p:sp>
        <p:sp>
          <p:nvSpPr>
            <p:cNvPr id="18" name="TextBox 18"/>
            <p:cNvSpPr txBox="1"/>
            <p:nvPr/>
          </p:nvSpPr>
          <p:spPr>
            <a:xfrm>
              <a:off x="5212080" y="3762375"/>
              <a:ext cx="2866661"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Lower versus placebo; P=0.035</a:t>
              </a:r>
            </a:p>
          </p:txBody>
        </p:sp>
        <p:sp>
          <p:nvSpPr>
            <p:cNvPr id="19" name="TextBox 19"/>
            <p:cNvSpPr txBox="1"/>
            <p:nvPr/>
          </p:nvSpPr>
          <p:spPr>
            <a:xfrm>
              <a:off x="5207508" y="4184650"/>
              <a:ext cx="3766795" cy="469392"/>
            </a:xfrm>
            <a:prstGeom prst="rect">
              <a:avLst/>
            </a:prstGeom>
            <a:noFill/>
            <a:ln>
              <a:noFill/>
            </a:ln>
          </p:spPr>
          <p:txBody>
            <a:bodyPr wrap="none" lIns="0" tIns="0" rIns="0" bIns="0" anchor="t" anchorCtr="0">
              <a:spAutoFit/>
            </a:bodyPr>
            <a:lstStyle/>
            <a:p>
              <a:pPr algn="l"/>
              <a:r>
                <a:rPr lang="en-US" sz="2400" dirty="0">
                  <a:solidFill>
                    <a:schemeClr val="accent2"/>
                  </a:solidFill>
                  <a:latin typeface="+mn-lt"/>
                  <a:ea typeface="+mn-ea"/>
                  <a:cs typeface="+mn-cs"/>
                </a:rPr>
                <a:t>Day 15 · 2.7 log₁₀ CFU/g</a:t>
              </a:r>
            </a:p>
          </p:txBody>
        </p:sp>
        <p:sp>
          <p:nvSpPr>
            <p:cNvPr id="20" name="TextBox 20"/>
            <p:cNvSpPr txBox="1"/>
            <p:nvPr/>
          </p:nvSpPr>
          <p:spPr>
            <a:xfrm>
              <a:off x="5212080" y="4619625"/>
              <a:ext cx="2866661"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Lower versus placebo; P=0.029</a:t>
              </a:r>
            </a:p>
          </p:txBody>
        </p:sp>
      </p:grpSp>
      <p:grpSp>
        <p:nvGrpSpPr>
          <p:cNvPr id="26" name="trial-limits"/>
          <p:cNvGrpSpPr/>
          <p:nvPr/>
        </p:nvGrpSpPr>
        <p:grpSpPr>
          <a:xfrm>
            <a:off x="448056" y="5257800"/>
            <a:ext cx="11286744" cy="1015746"/>
            <a:chOff x="448056" y="5257800"/>
            <a:chExt cx="11286744" cy="1015746"/>
          </a:xfrm>
        </p:grpSpPr>
        <p:sp>
          <p:nvSpPr>
            <p:cNvPr id="22" name="Line 22"/>
            <p:cNvSpPr/>
            <p:nvPr/>
          </p:nvSpPr>
          <p:spPr>
            <a:xfrm>
              <a:off x="457200" y="5257800"/>
              <a:ext cx="11277600" cy="9525"/>
            </a:xfrm>
            <a:custGeom>
              <a:avLst/>
              <a:gdLst/>
              <a:ahLst/>
              <a:cxnLst/>
              <a:rect l="l" t="t" r="r" b="b"/>
              <a:pathLst>
                <a:path w="11277600" h="9525">
                  <a:moveTo>
                    <a:pt x="0" y="0"/>
                  </a:moveTo>
                  <a:lnTo>
                    <a:pt x="11277600" y="0"/>
                  </a:lnTo>
                </a:path>
              </a:pathLst>
            </a:custGeom>
            <a:noFill/>
            <a:ln w="19050">
              <a:solidFill>
                <a:schemeClr val="accent6"/>
              </a:solidFill>
            </a:ln>
          </p:spPr>
        </p:sp>
        <p:sp>
          <p:nvSpPr>
            <p:cNvPr id="23" name="TextBox 23"/>
            <p:cNvSpPr txBox="1"/>
            <p:nvPr/>
          </p:nvSpPr>
          <p:spPr>
            <a:xfrm>
              <a:off x="448056" y="5391150"/>
              <a:ext cx="7352181"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Legitimate conclusion:</a:t>
              </a:r>
              <a:r>
                <a:rPr lang="en-US" sz="1800" dirty="0">
                  <a:solidFill>
                    <a:schemeClr val="accent1"/>
                  </a:solidFill>
                  <a:latin typeface="+mn-lt"/>
                  <a:ea typeface="+mn-ea"/>
                  <a:cs typeface="+mn-cs"/>
                </a:rPr>
                <a:t xml:space="preserve"> feasible delivery and a signal worth testing.</a:t>
              </a:r>
            </a:p>
          </p:txBody>
        </p:sp>
        <p:sp>
          <p:nvSpPr>
            <p:cNvPr id="24" name="TextBox 24"/>
            <p:cNvSpPr txBox="1"/>
            <p:nvPr/>
          </p:nvSpPr>
          <p:spPr>
            <a:xfrm>
              <a:off x="449580" y="5762625"/>
              <a:ext cx="8449843"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Two placebo patients; exploratory microbiology ≠ proven lung-function or exacerbation benefit.</a:t>
              </a:r>
            </a:p>
          </p:txBody>
        </p:sp>
        <p:sp>
          <p:nvSpPr>
            <p:cNvPr id="25" name="TextBox 25"/>
            <p:cNvSpPr txBox="1"/>
            <p:nvPr/>
          </p:nvSpPr>
          <p:spPr>
            <a:xfrm>
              <a:off x="451104" y="6038850"/>
              <a:ext cx="7025366"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2026 correction: preclinical transcriptomic sample inclusion; authors state conclusions unchanged.</a:t>
              </a:r>
            </a:p>
          </p:txBody>
        </p:sp>
      </p:grpSp>
      <p:grpSp>
        <p:nvGrpSpPr>
          <p:cNvPr id="29" name="footer"/>
          <p:cNvGrpSpPr/>
          <p:nvPr/>
        </p:nvGrpSpPr>
        <p:grpSpPr>
          <a:xfrm>
            <a:off x="451104" y="6391275"/>
            <a:ext cx="11021819" cy="234696"/>
            <a:chOff x="451104" y="6391275"/>
            <a:chExt cx="11021819" cy="234696"/>
          </a:xfrm>
        </p:grpSpPr>
        <p:sp>
          <p:nvSpPr>
            <p:cNvPr id="27" name="TextBox 27"/>
            <p:cNvSpPr txBox="1"/>
            <p:nvPr/>
          </p:nvSpPr>
          <p:spPr>
            <a:xfrm>
              <a:off x="451104" y="6391275"/>
              <a:ext cx="5489748"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Weiner et al., 2025, Nat Commun 16:5579; author correction, 2026, 17:2057</a:t>
              </a:r>
            </a:p>
          </p:txBody>
        </p:sp>
        <p:sp>
          <p:nvSpPr>
            <p:cNvPr id="28" name="TextBox 28"/>
            <p:cNvSpPr txBox="1"/>
            <p:nvPr/>
          </p:nvSpPr>
          <p:spPr>
            <a:xfrm>
              <a:off x="11281029" y="6391275"/>
              <a:ext cx="19189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09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1960" y="371475"/>
            <a:ext cx="9828354" cy="913765"/>
            <a:chOff x="441960" y="371475"/>
            <a:chExt cx="9828354" cy="913765"/>
          </a:xfrm>
        </p:grpSpPr>
        <p:sp>
          <p:nvSpPr>
            <p:cNvPr id="2" name="TextBox 2"/>
            <p:cNvSpPr txBox="1"/>
            <p:nvPr/>
          </p:nvSpPr>
          <p:spPr>
            <a:xfrm>
              <a:off x="451104" y="371475"/>
              <a:ext cx="2971581"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08 / PERSONALIZE · DEDRICK CASE</a:t>
              </a:r>
            </a:p>
          </p:txBody>
        </p:sp>
        <p:sp>
          <p:nvSpPr>
            <p:cNvPr id="3" name="TextBox 3"/>
            <p:cNvSpPr txBox="1"/>
            <p:nvPr/>
          </p:nvSpPr>
          <p:spPr>
            <a:xfrm>
              <a:off x="441960" y="698500"/>
              <a:ext cx="9828354"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n-lt"/>
                  <a:ea typeface="+mn-ea"/>
                  <a:cs typeface="+mn-cs"/>
                </a:rPr>
                <a:t>Engineering made a personalized cocktail possible</a:t>
              </a:r>
            </a:p>
          </p:txBody>
        </p:sp>
      </p:grpSp>
      <p:grpSp>
        <p:nvGrpSpPr>
          <p:cNvPr id="7" name="clinical-setting"/>
          <p:cNvGrpSpPr/>
          <p:nvPr/>
        </p:nvGrpSpPr>
        <p:grpSpPr>
          <a:xfrm>
            <a:off x="448056" y="1609725"/>
            <a:ext cx="8645847" cy="626745"/>
            <a:chOff x="448056" y="1609725"/>
            <a:chExt cx="8645847" cy="626745"/>
          </a:xfrm>
        </p:grpSpPr>
        <p:sp>
          <p:nvSpPr>
            <p:cNvPr id="5" name="TextBox 5"/>
            <p:cNvSpPr txBox="1"/>
            <p:nvPr/>
          </p:nvSpPr>
          <p:spPr>
            <a:xfrm>
              <a:off x="448056" y="1609725"/>
              <a:ext cx="8645847"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15-year-old lung-transplant recipient · disseminated drug-resistant M. abscessus</a:t>
              </a:r>
            </a:p>
          </p:txBody>
        </p:sp>
        <p:sp>
          <p:nvSpPr>
            <p:cNvPr id="6" name="TextBox 6"/>
            <p:cNvSpPr txBox="1"/>
            <p:nvPr/>
          </p:nvSpPr>
          <p:spPr>
            <a:xfrm>
              <a:off x="449580" y="1943100"/>
              <a:ext cx="5813093"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Single-patient compassionate use—not a controlled efficacy trial.</a:t>
              </a:r>
            </a:p>
          </p:txBody>
        </p:sp>
      </p:grpSp>
      <p:grpSp>
        <p:nvGrpSpPr>
          <p:cNvPr id="23" name="engineering-path"/>
          <p:cNvGrpSpPr/>
          <p:nvPr/>
        </p:nvGrpSpPr>
        <p:grpSpPr>
          <a:xfrm>
            <a:off x="656082" y="2565400"/>
            <a:ext cx="10999195" cy="2033270"/>
            <a:chOff x="656082" y="2565400"/>
            <a:chExt cx="10999195" cy="2033270"/>
          </a:xfrm>
        </p:grpSpPr>
        <p:sp>
          <p:nvSpPr>
            <p:cNvPr id="8" name="Line 8"/>
            <p:cNvSpPr/>
            <p:nvPr/>
          </p:nvSpPr>
          <p:spPr>
            <a:xfrm>
              <a:off x="3286125" y="3476625"/>
              <a:ext cx="952500" cy="1"/>
            </a:xfrm>
            <a:prstGeom prst="line">
              <a:avLst/>
            </a:prstGeom>
            <a:noFill/>
            <a:ln w="28575">
              <a:solidFill>
                <a:schemeClr val="accent2"/>
              </a:solidFill>
              <a:tailEnd type="triangle" w="lg" len="lg"/>
            </a:ln>
          </p:spPr>
        </p:sp>
        <p:sp>
          <p:nvSpPr>
            <p:cNvPr id="9" name="Line 9"/>
            <p:cNvSpPr/>
            <p:nvPr/>
          </p:nvSpPr>
          <p:spPr>
            <a:xfrm>
              <a:off x="7381875" y="3476625"/>
              <a:ext cx="857250" cy="1"/>
            </a:xfrm>
            <a:prstGeom prst="line">
              <a:avLst/>
            </a:prstGeom>
            <a:noFill/>
            <a:ln w="28575">
              <a:solidFill>
                <a:schemeClr val="accent2"/>
              </a:solidFill>
              <a:tailEnd type="triangle" w="lg" len="lg"/>
            </a:ln>
          </p:spPr>
        </p:sp>
        <p:sp>
          <p:nvSpPr>
            <p:cNvPr id="10" name="TextBox 10"/>
            <p:cNvSpPr txBox="1"/>
            <p:nvPr/>
          </p:nvSpPr>
          <p:spPr>
            <a:xfrm>
              <a:off x="656082" y="2565400"/>
              <a:ext cx="2097556"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Match + modify</a:t>
              </a:r>
            </a:p>
          </p:txBody>
        </p:sp>
        <p:sp>
          <p:nvSpPr>
            <p:cNvPr id="11" name="TextBox 11"/>
            <p:cNvSpPr txBox="1"/>
            <p:nvPr/>
          </p:nvSpPr>
          <p:spPr>
            <a:xfrm>
              <a:off x="657606" y="3095625"/>
              <a:ext cx="2483419" cy="1418844"/>
            </a:xfrm>
            <a:prstGeom prst="rect">
              <a:avLst/>
            </a:prstGeom>
            <a:noFill/>
            <a:ln>
              <a:noFill/>
            </a:ln>
          </p:spPr>
          <p:txBody>
            <a:bodyPr wrap="none" lIns="0" tIns="0" rIns="0" bIns="0" anchor="t" anchorCtr="0">
              <a:spAutoFit/>
            </a:bodyPr>
            <a:lstStyle/>
            <a:p>
              <a:pPr algn="l">
                <a:lnSpc>
                  <a:spcPts val="2400"/>
                </a:lnSpc>
              </a:pPr>
              <a:r>
                <a:rPr lang="en-US" sz="1800" dirty="0">
                  <a:solidFill>
                    <a:schemeClr val="dk1"/>
                  </a:solidFill>
                  <a:latin typeface="+mn-lt"/>
                  <a:ea typeface="+mn-ea"/>
                  <a:cs typeface="+mn-cs"/>
                </a:rPr>
                <a:t>Muddy: natural activity</a:t>
              </a:r>
            </a:p>
            <a:p>
              <a:pPr algn="l">
                <a:lnSpc>
                  <a:spcPts val="2400"/>
                </a:lnSpc>
                <a:spcBef>
                  <a:spcPts val="600"/>
                </a:spcBef>
              </a:pPr>
              <a:r>
                <a:rPr lang="en-US" sz="1800" dirty="0">
                  <a:solidFill>
                    <a:schemeClr val="dk1"/>
                  </a:solidFill>
                  <a:latin typeface="+mn-lt"/>
                  <a:ea typeface="+mn-ea"/>
                  <a:cs typeface="+mn-cs"/>
                </a:rPr>
                <a:t>ZoeJ: repressor deletion</a:t>
              </a:r>
            </a:p>
            <a:p>
              <a:pPr algn="l">
                <a:lnSpc>
                  <a:spcPts val="2400"/>
                </a:lnSpc>
                <a:spcBef>
                  <a:spcPts val="600"/>
                </a:spcBef>
              </a:pPr>
              <a:r>
                <a:rPr lang="en-US" sz="1800" dirty="0">
                  <a:solidFill>
                    <a:schemeClr val="dk1"/>
                  </a:solidFill>
                  <a:latin typeface="+mn-lt"/>
                  <a:ea typeface="+mn-ea"/>
                  <a:cs typeface="+mn-cs"/>
                </a:rPr>
                <a:t>BPs: lytic + host-range</a:t>
              </a:r>
              <a:br>
                <a:rPr lang="en-US" sz="1800" dirty="0">
                  <a:solidFill>
                    <a:schemeClr val="dk1"/>
                  </a:solidFill>
                  <a:latin typeface="+mn-lt"/>
                  <a:ea typeface="+mn-ea"/>
                  <a:cs typeface="+mn-cs"/>
                </a:rPr>
              </a:br>
              <a:r>
                <a:rPr lang="en-US" sz="1800" dirty="0">
                  <a:solidFill>
                    <a:schemeClr val="dk1"/>
                  </a:solidFill>
                  <a:latin typeface="+mn-lt"/>
                  <a:ea typeface="+mn-ea"/>
                  <a:cs typeface="+mn-cs"/>
                </a:rPr>
                <a:t>selection</a:t>
              </a:r>
            </a:p>
          </p:txBody>
        </p:sp>
        <p:sp>
          <p:nvSpPr>
            <p:cNvPr id="12" name="TextBox 12"/>
            <p:cNvSpPr txBox="1"/>
            <p:nvPr/>
          </p:nvSpPr>
          <p:spPr>
            <a:xfrm>
              <a:off x="4466082" y="2565400"/>
              <a:ext cx="2858097"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Three-phage cocktail</a:t>
              </a:r>
            </a:p>
          </p:txBody>
        </p:sp>
        <p:sp>
          <p:nvSpPr>
            <p:cNvPr id="13" name="Ellipse 13"/>
            <p:cNvSpPr/>
            <p:nvPr/>
          </p:nvSpPr>
          <p:spPr>
            <a:xfrm>
              <a:off x="4752975" y="3238500"/>
              <a:ext cx="419100" cy="419100"/>
            </a:xfrm>
            <a:prstGeom prst="ellipse">
              <a:avLst/>
            </a:prstGeom>
            <a:solidFill>
              <a:schemeClr val="accent2"/>
            </a:solidFill>
            <a:ln>
              <a:noFill/>
            </a:ln>
          </p:spPr>
        </p:sp>
        <p:sp>
          <p:nvSpPr>
            <p:cNvPr id="14" name="Ellipse 14"/>
            <p:cNvSpPr/>
            <p:nvPr/>
          </p:nvSpPr>
          <p:spPr>
            <a:xfrm>
              <a:off x="5610225" y="3238500"/>
              <a:ext cx="419100" cy="419100"/>
            </a:xfrm>
            <a:prstGeom prst="ellipse">
              <a:avLst/>
            </a:prstGeom>
            <a:solidFill>
              <a:schemeClr val="accent2"/>
            </a:solidFill>
            <a:ln>
              <a:noFill/>
            </a:ln>
          </p:spPr>
        </p:sp>
        <p:sp>
          <p:nvSpPr>
            <p:cNvPr id="15" name="Ellipse 15"/>
            <p:cNvSpPr/>
            <p:nvPr/>
          </p:nvSpPr>
          <p:spPr>
            <a:xfrm>
              <a:off x="6467475" y="3238500"/>
              <a:ext cx="419100" cy="419100"/>
            </a:xfrm>
            <a:prstGeom prst="ellipse">
              <a:avLst/>
            </a:prstGeom>
            <a:solidFill>
              <a:schemeClr val="accent2"/>
            </a:solidFill>
            <a:ln>
              <a:noFill/>
            </a:ln>
          </p:spPr>
        </p:sp>
        <p:sp>
          <p:nvSpPr>
            <p:cNvPr id="16" name="Line 16"/>
            <p:cNvSpPr/>
            <p:nvPr/>
          </p:nvSpPr>
          <p:spPr>
            <a:xfrm>
              <a:off x="4962525" y="3657600"/>
              <a:ext cx="9525" cy="352425"/>
            </a:xfrm>
            <a:custGeom>
              <a:avLst/>
              <a:gdLst/>
              <a:ahLst/>
              <a:cxnLst/>
              <a:rect l="l" t="t" r="r" b="b"/>
              <a:pathLst>
                <a:path w="9525" h="352425">
                  <a:moveTo>
                    <a:pt x="0" y="0"/>
                  </a:moveTo>
                  <a:lnTo>
                    <a:pt x="0" y="352425"/>
                  </a:lnTo>
                </a:path>
              </a:pathLst>
            </a:custGeom>
            <a:noFill/>
            <a:ln w="38100">
              <a:solidFill>
                <a:schemeClr val="accent2"/>
              </a:solidFill>
            </a:ln>
          </p:spPr>
        </p:sp>
        <p:sp>
          <p:nvSpPr>
            <p:cNvPr id="17" name="Line 17"/>
            <p:cNvSpPr/>
            <p:nvPr/>
          </p:nvSpPr>
          <p:spPr>
            <a:xfrm>
              <a:off x="5819775" y="3657600"/>
              <a:ext cx="9525" cy="352425"/>
            </a:xfrm>
            <a:custGeom>
              <a:avLst/>
              <a:gdLst/>
              <a:ahLst/>
              <a:cxnLst/>
              <a:rect l="l" t="t" r="r" b="b"/>
              <a:pathLst>
                <a:path w="9525" h="352425">
                  <a:moveTo>
                    <a:pt x="0" y="0"/>
                  </a:moveTo>
                  <a:lnTo>
                    <a:pt x="0" y="352425"/>
                  </a:lnTo>
                </a:path>
              </a:pathLst>
            </a:custGeom>
            <a:noFill/>
            <a:ln w="38100">
              <a:solidFill>
                <a:schemeClr val="accent2"/>
              </a:solidFill>
            </a:ln>
          </p:spPr>
        </p:sp>
        <p:sp>
          <p:nvSpPr>
            <p:cNvPr id="18" name="Line 18"/>
            <p:cNvSpPr/>
            <p:nvPr/>
          </p:nvSpPr>
          <p:spPr>
            <a:xfrm>
              <a:off x="6677025" y="3657600"/>
              <a:ext cx="9525" cy="352425"/>
            </a:xfrm>
            <a:custGeom>
              <a:avLst/>
              <a:gdLst/>
              <a:ahLst/>
              <a:cxnLst/>
              <a:rect l="l" t="t" r="r" b="b"/>
              <a:pathLst>
                <a:path w="9525" h="352425">
                  <a:moveTo>
                    <a:pt x="0" y="0"/>
                  </a:moveTo>
                  <a:lnTo>
                    <a:pt x="0" y="352425"/>
                  </a:lnTo>
                </a:path>
              </a:pathLst>
            </a:custGeom>
            <a:noFill/>
            <a:ln w="38100">
              <a:solidFill>
                <a:schemeClr val="accent2"/>
              </a:solidFill>
            </a:ln>
          </p:spPr>
        </p:sp>
        <p:sp>
          <p:nvSpPr>
            <p:cNvPr id="19" name="TextBox 19"/>
            <p:cNvSpPr txBox="1"/>
            <p:nvPr/>
          </p:nvSpPr>
          <p:spPr>
            <a:xfrm>
              <a:off x="4469130" y="4305300"/>
              <a:ext cx="279925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Intravenous + topical treatment</a:t>
              </a:r>
            </a:p>
          </p:txBody>
        </p:sp>
        <p:sp>
          <p:nvSpPr>
            <p:cNvPr id="20" name="TextBox 20"/>
            <p:cNvSpPr txBox="1"/>
            <p:nvPr/>
          </p:nvSpPr>
          <p:spPr>
            <a:xfrm>
              <a:off x="8466582" y="2565400"/>
              <a:ext cx="3188695"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Observed improvement</a:t>
              </a:r>
            </a:p>
          </p:txBody>
        </p:sp>
        <p:sp>
          <p:nvSpPr>
            <p:cNvPr id="21" name="TextBox 21"/>
            <p:cNvSpPr txBox="1"/>
            <p:nvPr/>
          </p:nvSpPr>
          <p:spPr>
            <a:xfrm>
              <a:off x="8468106" y="3032125"/>
              <a:ext cx="2331080" cy="733044"/>
            </a:xfrm>
            <a:prstGeom prst="rect">
              <a:avLst/>
            </a:prstGeom>
            <a:noFill/>
            <a:ln>
              <a:noFill/>
            </a:ln>
          </p:spPr>
          <p:txBody>
            <a:bodyPr wrap="none" lIns="0" tIns="0" rIns="0" bIns="0" anchor="t" anchorCtr="0">
              <a:spAutoFit/>
            </a:bodyPr>
            <a:lstStyle/>
            <a:p>
              <a:pPr algn="l">
                <a:lnSpc>
                  <a:spcPts val="3000"/>
                </a:lnSpc>
              </a:pPr>
              <a:r>
                <a:rPr lang="en-US" sz="1800" dirty="0">
                  <a:solidFill>
                    <a:schemeClr val="dk1"/>
                  </a:solidFill>
                  <a:latin typeface="+mn-lt"/>
                  <a:ea typeface="+mn-ea"/>
                  <a:cs typeface="+mn-cs"/>
                </a:rPr>
                <a:t>Sternal wound closure</a:t>
              </a:r>
              <a:br>
                <a:rPr lang="en-US" sz="1800" dirty="0">
                  <a:solidFill>
                    <a:schemeClr val="dk1"/>
                  </a:solidFill>
                  <a:latin typeface="+mn-lt"/>
                  <a:ea typeface="+mn-ea"/>
                  <a:cs typeface="+mn-cs"/>
                </a:rPr>
              </a:br>
              <a:r>
                <a:rPr lang="en-US" sz="1800" dirty="0">
                  <a:solidFill>
                    <a:schemeClr val="dk1"/>
                  </a:solidFill>
                  <a:latin typeface="+mn-lt"/>
                  <a:ea typeface="+mn-ea"/>
                  <a:cs typeface="+mn-cs"/>
                </a:rPr>
                <a:t>Skin nodules improved</a:t>
              </a:r>
            </a:p>
          </p:txBody>
        </p:sp>
        <p:sp>
          <p:nvSpPr>
            <p:cNvPr id="22" name="TextBox 22"/>
            <p:cNvSpPr txBox="1"/>
            <p:nvPr/>
          </p:nvSpPr>
          <p:spPr>
            <a:xfrm>
              <a:off x="8469630" y="4000500"/>
              <a:ext cx="2658632"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During combined clinical care</a:t>
              </a:r>
            </a:p>
          </p:txBody>
        </p:sp>
      </p:grpSp>
      <p:grpSp>
        <p:nvGrpSpPr>
          <p:cNvPr id="27" name="case-limit"/>
          <p:cNvGrpSpPr/>
          <p:nvPr/>
        </p:nvGrpSpPr>
        <p:grpSpPr>
          <a:xfrm>
            <a:off x="446532" y="5067300"/>
            <a:ext cx="11288268" cy="1018794"/>
            <a:chOff x="446532" y="5067300"/>
            <a:chExt cx="11288268" cy="1018794"/>
          </a:xfrm>
        </p:grpSpPr>
        <p:sp>
          <p:nvSpPr>
            <p:cNvPr id="24" name="Line 24"/>
            <p:cNvSpPr/>
            <p:nvPr/>
          </p:nvSpPr>
          <p:spPr>
            <a:xfrm>
              <a:off x="457200" y="5067300"/>
              <a:ext cx="11277600" cy="9525"/>
            </a:xfrm>
            <a:custGeom>
              <a:avLst/>
              <a:gdLst/>
              <a:ahLst/>
              <a:cxnLst/>
              <a:rect l="l" t="t" r="r" b="b"/>
              <a:pathLst>
                <a:path w="11277600" h="9525">
                  <a:moveTo>
                    <a:pt x="0" y="0"/>
                  </a:moveTo>
                  <a:lnTo>
                    <a:pt x="11277600" y="0"/>
                  </a:lnTo>
                </a:path>
              </a:pathLst>
            </a:custGeom>
            <a:noFill/>
            <a:ln w="19050">
              <a:solidFill>
                <a:schemeClr val="accent6"/>
              </a:solidFill>
            </a:ln>
          </p:spPr>
        </p:sp>
        <p:sp>
          <p:nvSpPr>
            <p:cNvPr id="25" name="TextBox 25"/>
            <p:cNvSpPr txBox="1"/>
            <p:nvPr/>
          </p:nvSpPr>
          <p:spPr>
            <a:xfrm>
              <a:off x="446532" y="5260975"/>
              <a:ext cx="7698836" cy="410718"/>
            </a:xfrm>
            <a:prstGeom prst="rect">
              <a:avLst/>
            </a:prstGeom>
            <a:noFill/>
            <a:ln>
              <a:noFill/>
            </a:ln>
          </p:spPr>
          <p:txBody>
            <a:bodyPr wrap="none" lIns="0" tIns="0" rIns="0" bIns="0" anchor="t" anchorCtr="0">
              <a:spAutoFit/>
            </a:bodyPr>
            <a:lstStyle/>
            <a:p>
              <a:pPr algn="l"/>
              <a:r>
                <a:rPr lang="en-US" sz="2100" dirty="0">
                  <a:solidFill>
                    <a:schemeClr val="accent1"/>
                  </a:solidFill>
                  <a:latin typeface="+mn-lt"/>
                  <a:ea typeface="+mn-ea"/>
                  <a:cs typeface="+mn-cs"/>
                </a:rPr>
                <a:t>A biotechnology proof of feasibility—not a generalizable cure.</a:t>
              </a:r>
            </a:p>
          </p:txBody>
        </p:sp>
        <p:sp>
          <p:nvSpPr>
            <p:cNvPr id="26" name="TextBox 26"/>
            <p:cNvSpPr txBox="1"/>
            <p:nvPr/>
          </p:nvSpPr>
          <p:spPr>
            <a:xfrm>
              <a:off x="448056" y="5734050"/>
              <a:ext cx="6637775"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mn-lt"/>
                  <a:ea typeface="+mn-ea"/>
                  <a:cs typeface="+mn-cs"/>
                </a:rPr>
                <a:t>The cocktail did not efficiently kill other tested clinical isolates.</a:t>
              </a:r>
            </a:p>
          </p:txBody>
        </p:sp>
      </p:grpSp>
      <p:grpSp>
        <p:nvGrpSpPr>
          <p:cNvPr id="30" name="footer"/>
          <p:cNvGrpSpPr/>
          <p:nvPr/>
        </p:nvGrpSpPr>
        <p:grpSpPr>
          <a:xfrm>
            <a:off x="451104" y="6391275"/>
            <a:ext cx="11021819" cy="234696"/>
            <a:chOff x="451104" y="6391275"/>
            <a:chExt cx="11021819" cy="234696"/>
          </a:xfrm>
        </p:grpSpPr>
        <p:sp>
          <p:nvSpPr>
            <p:cNvPr id="28" name="TextBox 28"/>
            <p:cNvSpPr txBox="1"/>
            <p:nvPr/>
          </p:nvSpPr>
          <p:spPr>
            <a:xfrm>
              <a:off x="451104" y="6391275"/>
              <a:ext cx="5532855"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Dedrick et al., 2019 · Nat Med 25:730–733 · doi:10.1038/s41591-019-0437-z</a:t>
              </a:r>
            </a:p>
          </p:txBody>
        </p:sp>
        <p:sp>
          <p:nvSpPr>
            <p:cNvPr id="29" name="TextBox 29"/>
            <p:cNvSpPr txBox="1"/>
            <p:nvPr/>
          </p:nvSpPr>
          <p:spPr>
            <a:xfrm>
              <a:off x="11281029" y="6391275"/>
              <a:ext cx="19189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1960" y="371475"/>
            <a:ext cx="8615428" cy="913765"/>
            <a:chOff x="441960" y="371475"/>
            <a:chExt cx="8615428" cy="913765"/>
          </a:xfrm>
        </p:grpSpPr>
        <p:sp>
          <p:nvSpPr>
            <p:cNvPr id="2" name="TextBox 2"/>
            <p:cNvSpPr txBox="1"/>
            <p:nvPr/>
          </p:nvSpPr>
          <p:spPr>
            <a:xfrm>
              <a:off x="451104" y="371475"/>
              <a:ext cx="1311776"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09 / SYNTHESIS</a:t>
              </a:r>
            </a:p>
          </p:txBody>
        </p:sp>
        <p:sp>
          <p:nvSpPr>
            <p:cNvPr id="3" name="TextBox 3"/>
            <p:cNvSpPr txBox="1"/>
            <p:nvPr/>
          </p:nvSpPr>
          <p:spPr>
            <a:xfrm>
              <a:off x="441960" y="698500"/>
              <a:ext cx="8615428"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n-lt"/>
                  <a:ea typeface="+mn-ea"/>
                  <a:cs typeface="+mn-cs"/>
                </a:rPr>
                <a:t>The studies test three different requirements</a:t>
              </a:r>
            </a:p>
          </p:txBody>
        </p:sp>
      </p:grpSp>
      <p:grpSp>
        <p:nvGrpSpPr>
          <p:cNvPr id="8" name="biology-requirement"/>
          <p:cNvGrpSpPr/>
          <p:nvPr/>
        </p:nvGrpSpPr>
        <p:grpSpPr>
          <a:xfrm>
            <a:off x="457200" y="1666875"/>
            <a:ext cx="7582379" cy="1047750"/>
            <a:chOff x="457200" y="1666875"/>
            <a:chExt cx="7582379" cy="1047750"/>
          </a:xfrm>
        </p:grpSpPr>
        <p:sp>
          <p:nvSpPr>
            <p:cNvPr id="5" name="Rectangle 5"/>
            <p:cNvSpPr/>
            <p:nvPr/>
          </p:nvSpPr>
          <p:spPr>
            <a:xfrm>
              <a:off x="457200" y="1666875"/>
              <a:ext cx="76200" cy="1047750"/>
            </a:xfrm>
            <a:prstGeom prst="rect">
              <a:avLst/>
            </a:prstGeom>
            <a:solidFill>
              <a:schemeClr val="accent2"/>
            </a:solidFill>
            <a:ln>
              <a:noFill/>
            </a:ln>
          </p:spPr>
        </p:sp>
        <p:sp>
          <p:nvSpPr>
            <p:cNvPr id="6" name="TextBox 6"/>
            <p:cNvSpPr txBox="1"/>
            <p:nvPr/>
          </p:nvSpPr>
          <p:spPr>
            <a:xfrm>
              <a:off x="749808" y="1765300"/>
              <a:ext cx="4380223"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1 · Active against the isolate</a:t>
              </a:r>
            </a:p>
          </p:txBody>
        </p:sp>
        <p:sp>
          <p:nvSpPr>
            <p:cNvPr id="7" name="TextBox 7"/>
            <p:cNvSpPr txBox="1"/>
            <p:nvPr/>
          </p:nvSpPr>
          <p:spPr>
            <a:xfrm>
              <a:off x="752856" y="2257425"/>
              <a:ext cx="7286723"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Dedrick: engineering and matching enabled a personalized product.</a:t>
              </a:r>
            </a:p>
          </p:txBody>
        </p:sp>
      </p:grpSp>
      <p:grpSp>
        <p:nvGrpSpPr>
          <p:cNvPr id="12" name="exposure-requirement"/>
          <p:cNvGrpSpPr/>
          <p:nvPr/>
        </p:nvGrpSpPr>
        <p:grpSpPr>
          <a:xfrm>
            <a:off x="457200" y="2952750"/>
            <a:ext cx="8220004" cy="1047750"/>
            <a:chOff x="457200" y="2952750"/>
            <a:chExt cx="8220004" cy="1047750"/>
          </a:xfrm>
        </p:grpSpPr>
        <p:sp>
          <p:nvSpPr>
            <p:cNvPr id="9" name="Rectangle 9"/>
            <p:cNvSpPr/>
            <p:nvPr/>
          </p:nvSpPr>
          <p:spPr>
            <a:xfrm>
              <a:off x="457200" y="2952750"/>
              <a:ext cx="76200" cy="1047750"/>
            </a:xfrm>
            <a:prstGeom prst="rect">
              <a:avLst/>
            </a:prstGeom>
            <a:solidFill>
              <a:schemeClr val="accent2"/>
            </a:solidFill>
            <a:ln>
              <a:noFill/>
            </a:ln>
          </p:spPr>
        </p:sp>
        <p:sp>
          <p:nvSpPr>
            <p:cNvPr id="10" name="TextBox 10"/>
            <p:cNvSpPr txBox="1"/>
            <p:nvPr/>
          </p:nvSpPr>
          <p:spPr>
            <a:xfrm>
              <a:off x="749808" y="3051175"/>
              <a:ext cx="5296384"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2 · Active product reaches the site</a:t>
              </a:r>
            </a:p>
          </p:txBody>
        </p:sp>
        <p:sp>
          <p:nvSpPr>
            <p:cNvPr id="11" name="TextBox 11"/>
            <p:cNvSpPr txBox="1"/>
            <p:nvPr/>
          </p:nvSpPr>
          <p:spPr>
            <a:xfrm>
              <a:off x="752856" y="3543300"/>
              <a:ext cx="7924348"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PhagoBurn: titre declined. BX004-A: sputum recovery supported delivery.</a:t>
              </a:r>
            </a:p>
          </p:txBody>
        </p:sp>
      </p:grpSp>
      <p:grpSp>
        <p:nvGrpSpPr>
          <p:cNvPr id="16" name="clinical-requirement"/>
          <p:cNvGrpSpPr/>
          <p:nvPr/>
        </p:nvGrpSpPr>
        <p:grpSpPr>
          <a:xfrm>
            <a:off x="457200" y="4238625"/>
            <a:ext cx="8578380" cy="1047750"/>
            <a:chOff x="457200" y="4238625"/>
            <a:chExt cx="8578380" cy="1047750"/>
          </a:xfrm>
        </p:grpSpPr>
        <p:sp>
          <p:nvSpPr>
            <p:cNvPr id="13" name="Rectangle 13"/>
            <p:cNvSpPr/>
            <p:nvPr/>
          </p:nvSpPr>
          <p:spPr>
            <a:xfrm>
              <a:off x="457200" y="4238625"/>
              <a:ext cx="76200" cy="1047750"/>
            </a:xfrm>
            <a:prstGeom prst="rect">
              <a:avLst/>
            </a:prstGeom>
            <a:solidFill>
              <a:schemeClr val="accent3"/>
            </a:solidFill>
            <a:ln>
              <a:noFill/>
            </a:ln>
          </p:spPr>
        </p:sp>
        <p:sp>
          <p:nvSpPr>
            <p:cNvPr id="14" name="TextBox 14"/>
            <p:cNvSpPr txBox="1"/>
            <p:nvPr/>
          </p:nvSpPr>
          <p:spPr>
            <a:xfrm>
              <a:off x="749808" y="4337050"/>
              <a:ext cx="6247117"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3 · Patients benefit because of treatment</a:t>
              </a:r>
            </a:p>
          </p:txBody>
        </p:sp>
        <p:sp>
          <p:nvSpPr>
            <p:cNvPr id="15" name="TextBox 15"/>
            <p:cNvSpPr txBox="1"/>
            <p:nvPr/>
          </p:nvSpPr>
          <p:spPr>
            <a:xfrm>
              <a:off x="752856" y="4829175"/>
              <a:ext cx="8282724"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Requires adequate controls, sample size and clinically meaningful endpoints.</a:t>
              </a:r>
            </a:p>
          </p:txBody>
        </p:sp>
      </p:grpSp>
      <p:grpSp>
        <p:nvGrpSpPr>
          <p:cNvPr id="18" name="synthesis"/>
          <p:cNvGrpSpPr/>
          <p:nvPr/>
        </p:nvGrpSpPr>
        <p:grpSpPr>
          <a:xfrm>
            <a:off x="446532" y="5699125"/>
            <a:ext cx="8469638" cy="410718"/>
            <a:chOff x="446532" y="5699125"/>
            <a:chExt cx="8469638" cy="410718"/>
          </a:xfrm>
        </p:grpSpPr>
        <p:sp>
          <p:nvSpPr>
            <p:cNvPr id="17" name="TextBox 17"/>
            <p:cNvSpPr txBox="1"/>
            <p:nvPr/>
          </p:nvSpPr>
          <p:spPr>
            <a:xfrm>
              <a:off x="446532" y="5699125"/>
              <a:ext cx="8469638" cy="410718"/>
            </a:xfrm>
            <a:prstGeom prst="rect">
              <a:avLst/>
            </a:prstGeom>
            <a:noFill/>
            <a:ln>
              <a:noFill/>
            </a:ln>
          </p:spPr>
          <p:txBody>
            <a:bodyPr wrap="none" lIns="0" tIns="0" rIns="0" bIns="0" anchor="t" anchorCtr="0">
              <a:spAutoFit/>
            </a:bodyPr>
            <a:lstStyle/>
            <a:p>
              <a:pPr algn="l"/>
              <a:r>
                <a:rPr lang="en-US" sz="2100" dirty="0">
                  <a:solidFill>
                    <a:schemeClr val="accent1"/>
                  </a:solidFill>
                  <a:latin typeface="+mn-lt"/>
                  <a:ea typeface="+mn-ea"/>
                  <a:cs typeface="+mn-cs"/>
                </a:rPr>
                <a:t>These are connected requirements—not interchangeable evidence.</a:t>
              </a:r>
            </a:p>
          </p:txBody>
        </p:sp>
      </p:grpSp>
      <p:grpSp>
        <p:nvGrpSpPr>
          <p:cNvPr id="21" name="footer"/>
          <p:cNvGrpSpPr/>
          <p:nvPr/>
        </p:nvGrpSpPr>
        <p:grpSpPr>
          <a:xfrm>
            <a:off x="451104" y="6391275"/>
            <a:ext cx="11021819" cy="234696"/>
            <a:chOff x="451104" y="6391275"/>
            <a:chExt cx="11021819" cy="234696"/>
          </a:xfrm>
        </p:grpSpPr>
        <p:sp>
          <p:nvSpPr>
            <p:cNvPr id="19" name="TextBox 19"/>
            <p:cNvSpPr txBox="1"/>
            <p:nvPr/>
          </p:nvSpPr>
          <p:spPr>
            <a:xfrm>
              <a:off x="451104" y="6391275"/>
              <a:ext cx="618856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Presentation synthesis from Dedrick et al., 2019; Jault et al., 2019; Weiner et al., 2025</a:t>
              </a:r>
            </a:p>
          </p:txBody>
        </p:sp>
        <p:sp>
          <p:nvSpPr>
            <p:cNvPr id="20" name="TextBox 20"/>
            <p:cNvSpPr txBox="1"/>
            <p:nvPr/>
          </p:nvSpPr>
          <p:spPr>
            <a:xfrm>
              <a:off x="11281029" y="6391275"/>
              <a:ext cx="19189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title"/>
          <p:cNvGrpSpPr/>
          <p:nvPr/>
        </p:nvGrpSpPr>
        <p:grpSpPr>
          <a:xfrm>
            <a:off x="441960" y="590550"/>
            <a:ext cx="7829540" cy="1056640"/>
            <a:chOff x="441960" y="590550"/>
            <a:chExt cx="7829540" cy="1056640"/>
          </a:xfrm>
        </p:grpSpPr>
        <p:sp>
          <p:nvSpPr>
            <p:cNvPr id="2" name="TextBox 2"/>
            <p:cNvSpPr txBox="1"/>
            <p:nvPr/>
          </p:nvSpPr>
          <p:spPr>
            <a:xfrm>
              <a:off x="451104" y="590550"/>
              <a:ext cx="3673211" cy="234696"/>
            </a:xfrm>
            <a:prstGeom prst="rect">
              <a:avLst/>
            </a:prstGeom>
            <a:noFill/>
            <a:ln>
              <a:noFill/>
            </a:ln>
          </p:spPr>
          <p:txBody>
            <a:bodyPr wrap="none" lIns="0" tIns="0" rIns="0" bIns="0" anchor="t" anchorCtr="0">
              <a:spAutoFit/>
            </a:bodyPr>
            <a:lstStyle/>
            <a:p>
              <a:pPr algn="l"/>
              <a:r>
                <a:rPr lang="en-US" sz="1200" dirty="0">
                  <a:solidFill>
                    <a:schemeClr val="accent6"/>
                  </a:solidFill>
                  <a:latin typeface="+mn-lt"/>
                  <a:ea typeface="+mn-ea"/>
                  <a:cs typeface="+mn-cs"/>
                </a:rPr>
                <a:t>BIOLOGY → BIOTECHNOLOGY → EVIDENCE</a:t>
              </a:r>
            </a:p>
          </p:txBody>
        </p:sp>
        <p:sp>
          <p:nvSpPr>
            <p:cNvPr id="3" name="TextBox 3"/>
            <p:cNvSpPr txBox="1"/>
            <p:nvPr/>
          </p:nvSpPr>
          <p:spPr>
            <a:xfrm>
              <a:off x="441960" y="1060450"/>
              <a:ext cx="7829540" cy="586740"/>
            </a:xfrm>
            <a:prstGeom prst="rect">
              <a:avLst/>
            </a:prstGeom>
            <a:noFill/>
            <a:ln>
              <a:noFill/>
            </a:ln>
          </p:spPr>
          <p:txBody>
            <a:bodyPr wrap="none" lIns="0" tIns="0" rIns="0" bIns="0" anchor="t" anchorCtr="0">
              <a:spAutoFit/>
            </a:bodyPr>
            <a:lstStyle/>
            <a:p>
              <a:pPr algn="l"/>
              <a:r>
                <a:rPr lang="en-US" sz="3000" b="1" dirty="0">
                  <a:solidFill>
                    <a:srgbClr val="FFFFFF"/>
                  </a:solidFill>
                  <a:latin typeface="+mn-lt"/>
                  <a:ea typeface="+mn-ea"/>
                  <a:cs typeface="+mn-cs"/>
                </a:rPr>
                <a:t>Build the treatment—and test the benefit</a:t>
              </a:r>
            </a:p>
          </p:txBody>
        </p:sp>
      </p:grpSp>
      <p:grpSp>
        <p:nvGrpSpPr>
          <p:cNvPr id="12" name="closing-argument"/>
          <p:cNvGrpSpPr/>
          <p:nvPr/>
        </p:nvGrpSpPr>
        <p:grpSpPr>
          <a:xfrm>
            <a:off x="445008" y="2422525"/>
            <a:ext cx="9784842" cy="1802892"/>
            <a:chOff x="445008" y="2422525"/>
            <a:chExt cx="9784842" cy="1802892"/>
          </a:xfrm>
        </p:grpSpPr>
        <p:sp>
          <p:nvSpPr>
            <p:cNvPr id="5" name="TextBox 5"/>
            <p:cNvSpPr txBox="1"/>
            <p:nvPr/>
          </p:nvSpPr>
          <p:spPr>
            <a:xfrm>
              <a:off x="445008" y="2422525"/>
              <a:ext cx="2656461" cy="469392"/>
            </a:xfrm>
            <a:prstGeom prst="rect">
              <a:avLst/>
            </a:prstGeom>
            <a:noFill/>
            <a:ln>
              <a:noFill/>
            </a:ln>
          </p:spPr>
          <p:txBody>
            <a:bodyPr wrap="none" lIns="0" tIns="0" rIns="0" bIns="0" anchor="t" anchorCtr="0">
              <a:spAutoFit/>
            </a:bodyPr>
            <a:lstStyle/>
            <a:p>
              <a:pPr algn="l"/>
              <a:r>
                <a:rPr lang="en-US" sz="2400" dirty="0">
                  <a:solidFill>
                    <a:srgbClr val="FFFFFF"/>
                  </a:solidFill>
                  <a:latin typeface="+mn-lt"/>
                  <a:ea typeface="+mn-ea"/>
                  <a:cs typeface="+mn-cs"/>
                </a:rPr>
                <a:t>Match the biology.</a:t>
              </a:r>
            </a:p>
          </p:txBody>
        </p:sp>
        <p:sp>
          <p:nvSpPr>
            <p:cNvPr id="6" name="TextBox 6"/>
            <p:cNvSpPr txBox="1"/>
            <p:nvPr/>
          </p:nvSpPr>
          <p:spPr>
            <a:xfrm>
              <a:off x="445008" y="3089275"/>
              <a:ext cx="2871514" cy="469392"/>
            </a:xfrm>
            <a:prstGeom prst="rect">
              <a:avLst/>
            </a:prstGeom>
            <a:noFill/>
            <a:ln>
              <a:noFill/>
            </a:ln>
          </p:spPr>
          <p:txBody>
            <a:bodyPr wrap="none" lIns="0" tIns="0" rIns="0" bIns="0" anchor="t" anchorCtr="0">
              <a:spAutoFit/>
            </a:bodyPr>
            <a:lstStyle/>
            <a:p>
              <a:pPr algn="l"/>
              <a:r>
                <a:rPr lang="en-US" sz="2400" dirty="0">
                  <a:solidFill>
                    <a:srgbClr val="FFFFFF"/>
                  </a:solidFill>
                  <a:latin typeface="+mn-lt"/>
                  <a:ea typeface="+mn-ea"/>
                  <a:cs typeface="+mn-cs"/>
                </a:rPr>
                <a:t>Control the product.</a:t>
              </a:r>
            </a:p>
          </p:txBody>
        </p:sp>
        <p:sp>
          <p:nvSpPr>
            <p:cNvPr id="7" name="TextBox 7"/>
            <p:cNvSpPr txBox="1"/>
            <p:nvPr/>
          </p:nvSpPr>
          <p:spPr>
            <a:xfrm>
              <a:off x="445008" y="3756025"/>
              <a:ext cx="2745516" cy="469392"/>
            </a:xfrm>
            <a:prstGeom prst="rect">
              <a:avLst/>
            </a:prstGeom>
            <a:noFill/>
            <a:ln>
              <a:noFill/>
            </a:ln>
          </p:spPr>
          <p:txBody>
            <a:bodyPr wrap="none" lIns="0" tIns="0" rIns="0" bIns="0" anchor="t" anchorCtr="0">
              <a:spAutoFit/>
            </a:bodyPr>
            <a:lstStyle/>
            <a:p>
              <a:pPr algn="l"/>
              <a:r>
                <a:rPr lang="en-US" sz="2400" b="1" dirty="0">
                  <a:solidFill>
                    <a:schemeClr val="accent6"/>
                  </a:solidFill>
                  <a:latin typeface="+mn-lt"/>
                  <a:ea typeface="+mn-ea"/>
                  <a:cs typeface="+mn-cs"/>
                </a:rPr>
                <a:t>Prove the benefit.</a:t>
              </a:r>
            </a:p>
          </p:txBody>
        </p:sp>
        <p:sp>
          <p:nvSpPr>
            <p:cNvPr id="8" name="Line 8"/>
            <p:cNvSpPr/>
            <p:nvPr/>
          </p:nvSpPr>
          <p:spPr>
            <a:xfrm>
              <a:off x="10096500" y="2428875"/>
              <a:ext cx="9525" cy="1666875"/>
            </a:xfrm>
            <a:custGeom>
              <a:avLst/>
              <a:gdLst/>
              <a:ahLst/>
              <a:cxnLst/>
              <a:rect l="l" t="t" r="r" b="b"/>
              <a:pathLst>
                <a:path w="9525" h="1666875">
                  <a:moveTo>
                    <a:pt x="0" y="0"/>
                  </a:moveTo>
                  <a:lnTo>
                    <a:pt x="0" y="1666875"/>
                  </a:lnTo>
                </a:path>
              </a:pathLst>
            </a:custGeom>
            <a:noFill/>
            <a:ln w="57150">
              <a:solidFill>
                <a:schemeClr val="accent2"/>
              </a:solidFill>
            </a:ln>
          </p:spPr>
        </p:sp>
        <p:sp>
          <p:nvSpPr>
            <p:cNvPr id="9" name="Ellipse 9"/>
            <p:cNvSpPr/>
            <p:nvPr/>
          </p:nvSpPr>
          <p:spPr>
            <a:xfrm>
              <a:off x="9963150" y="2486025"/>
              <a:ext cx="266700" cy="266700"/>
            </a:xfrm>
            <a:prstGeom prst="ellipse">
              <a:avLst/>
            </a:prstGeom>
            <a:solidFill>
              <a:schemeClr val="accent2"/>
            </a:solidFill>
            <a:ln>
              <a:noFill/>
            </a:ln>
          </p:spPr>
        </p:sp>
        <p:sp>
          <p:nvSpPr>
            <p:cNvPr id="10" name="Ellipse 10"/>
            <p:cNvSpPr/>
            <p:nvPr/>
          </p:nvSpPr>
          <p:spPr>
            <a:xfrm>
              <a:off x="9963150" y="3152775"/>
              <a:ext cx="266700" cy="266700"/>
            </a:xfrm>
            <a:prstGeom prst="ellipse">
              <a:avLst/>
            </a:prstGeom>
            <a:solidFill>
              <a:schemeClr val="accent2"/>
            </a:solidFill>
            <a:ln>
              <a:noFill/>
            </a:ln>
          </p:spPr>
        </p:sp>
        <p:sp>
          <p:nvSpPr>
            <p:cNvPr id="11" name="Ellipse 11"/>
            <p:cNvSpPr/>
            <p:nvPr/>
          </p:nvSpPr>
          <p:spPr>
            <a:xfrm>
              <a:off x="9963150" y="3819525"/>
              <a:ext cx="266700" cy="266700"/>
            </a:xfrm>
            <a:prstGeom prst="ellipse">
              <a:avLst/>
            </a:prstGeom>
            <a:solidFill>
              <a:schemeClr val="accent3"/>
            </a:solidFill>
            <a:ln>
              <a:noFill/>
            </a:ln>
          </p:spPr>
        </p:sp>
      </p:grpSp>
      <p:grpSp>
        <p:nvGrpSpPr>
          <p:cNvPr id="15" name="discussion"/>
          <p:cNvGrpSpPr/>
          <p:nvPr/>
        </p:nvGrpSpPr>
        <p:grpSpPr>
          <a:xfrm>
            <a:off x="446532" y="4953000"/>
            <a:ext cx="6663393" cy="1172718"/>
            <a:chOff x="446532" y="4953000"/>
            <a:chExt cx="6663393" cy="1172718"/>
          </a:xfrm>
        </p:grpSpPr>
        <p:sp>
          <p:nvSpPr>
            <p:cNvPr id="13" name="TextBox 13"/>
            <p:cNvSpPr txBox="1"/>
            <p:nvPr/>
          </p:nvSpPr>
          <p:spPr>
            <a:xfrm>
              <a:off x="449580" y="4953000"/>
              <a:ext cx="1343022" cy="293370"/>
            </a:xfrm>
            <a:prstGeom prst="rect">
              <a:avLst/>
            </a:prstGeom>
            <a:noFill/>
            <a:ln>
              <a:noFill/>
            </a:ln>
          </p:spPr>
          <p:txBody>
            <a:bodyPr wrap="none" lIns="0" tIns="0" rIns="0" bIns="0" anchor="t" anchorCtr="0">
              <a:spAutoFit/>
            </a:bodyPr>
            <a:lstStyle/>
            <a:p>
              <a:pPr algn="l"/>
              <a:r>
                <a:rPr lang="en-US" sz="1500" dirty="0">
                  <a:solidFill>
                    <a:schemeClr val="accent6"/>
                  </a:solidFill>
                  <a:latin typeface="+mn-lt"/>
                  <a:ea typeface="+mn-ea"/>
                  <a:cs typeface="+mn-cs"/>
                </a:rPr>
                <a:t>DISCUSSION</a:t>
              </a:r>
            </a:p>
          </p:txBody>
        </p:sp>
        <p:sp>
          <p:nvSpPr>
            <p:cNvPr id="14" name="TextBox 14"/>
            <p:cNvSpPr txBox="1"/>
            <p:nvPr/>
          </p:nvSpPr>
          <p:spPr>
            <a:xfrm>
              <a:off x="446532" y="5314950"/>
              <a:ext cx="6663393" cy="810768"/>
            </a:xfrm>
            <a:prstGeom prst="rect">
              <a:avLst/>
            </a:prstGeom>
            <a:noFill/>
            <a:ln>
              <a:noFill/>
            </a:ln>
          </p:spPr>
          <p:txBody>
            <a:bodyPr wrap="none" lIns="0" tIns="0" rIns="0" bIns="0" anchor="t" anchorCtr="0">
              <a:spAutoFit/>
            </a:bodyPr>
            <a:lstStyle/>
            <a:p>
              <a:pPr algn="l">
                <a:lnSpc>
                  <a:spcPts val="3150"/>
                </a:lnSpc>
              </a:pPr>
              <a:r>
                <a:rPr lang="en-US" sz="2100" dirty="0">
                  <a:solidFill>
                    <a:srgbClr val="FFFFFF"/>
                  </a:solidFill>
                  <a:latin typeface="+mn-lt"/>
                  <a:ea typeface="+mn-ea"/>
                  <a:cs typeface="+mn-cs"/>
                </a:rPr>
                <a:t>If bacterial burden falls but the patient does not improve,</a:t>
              </a:r>
              <a:br>
                <a:rPr lang="en-US" sz="2100" dirty="0">
                  <a:solidFill>
                    <a:srgbClr val="FFFFFF"/>
                  </a:solidFill>
                  <a:latin typeface="+mn-lt"/>
                  <a:ea typeface="+mn-ea"/>
                  <a:cs typeface="+mn-cs"/>
                </a:rPr>
              </a:br>
              <a:r>
                <a:rPr lang="en-US" sz="2100" dirty="0">
                  <a:solidFill>
                    <a:srgbClr val="FFFFFF"/>
                  </a:solidFill>
                  <a:latin typeface="+mn-lt"/>
                  <a:ea typeface="+mn-ea"/>
                  <a:cs typeface="+mn-cs"/>
                </a:rPr>
                <a:t>what has the treatment demonstrated?</a:t>
              </a:r>
            </a:p>
          </p:txBody>
        </p:sp>
      </p:grpSp>
      <p:grpSp>
        <p:nvGrpSpPr>
          <p:cNvPr id="18" name="footer"/>
          <p:cNvGrpSpPr/>
          <p:nvPr/>
        </p:nvGrpSpPr>
        <p:grpSpPr>
          <a:xfrm>
            <a:off x="451104" y="6391275"/>
            <a:ext cx="11021819" cy="234696"/>
            <a:chOff x="451104" y="6391275"/>
            <a:chExt cx="11021819" cy="234696"/>
          </a:xfrm>
        </p:grpSpPr>
        <p:sp>
          <p:nvSpPr>
            <p:cNvPr id="16" name="TextBox 16"/>
            <p:cNvSpPr txBox="1"/>
            <p:nvPr/>
          </p:nvSpPr>
          <p:spPr>
            <a:xfrm>
              <a:off x="451104" y="6391275"/>
              <a:ext cx="4899936" cy="234696"/>
            </a:xfrm>
            <a:prstGeom prst="rect">
              <a:avLst/>
            </a:prstGeom>
            <a:noFill/>
            <a:ln>
              <a:noFill/>
            </a:ln>
          </p:spPr>
          <p:txBody>
            <a:bodyPr wrap="none" lIns="0" tIns="0" rIns="0" bIns="0" anchor="t" anchorCtr="0">
              <a:spAutoFit/>
            </a:bodyPr>
            <a:lstStyle/>
            <a:p>
              <a:pPr algn="l"/>
              <a:r>
                <a:rPr lang="en-US" sz="1200" dirty="0">
                  <a:solidFill>
                    <a:schemeClr val="accent6"/>
                  </a:solidFill>
                  <a:latin typeface="+mn-lt"/>
                  <a:ea typeface="+mn-ea"/>
                  <a:cs typeface="+mn-cs"/>
                </a:rPr>
                <a:t>Synthesis · Aslam et al., 2020; Jault et al., 2019; Weiner et al., 2025</a:t>
              </a:r>
            </a:p>
          </p:txBody>
        </p:sp>
        <p:sp>
          <p:nvSpPr>
            <p:cNvPr id="17" name="TextBox 17"/>
            <p:cNvSpPr txBox="1"/>
            <p:nvPr/>
          </p:nvSpPr>
          <p:spPr>
            <a:xfrm>
              <a:off x="11281029" y="6391275"/>
              <a:ext cx="191894" cy="234696"/>
            </a:xfrm>
            <a:prstGeom prst="rect">
              <a:avLst/>
            </a:prstGeom>
            <a:noFill/>
            <a:ln>
              <a:noFill/>
            </a:ln>
          </p:spPr>
          <p:txBody>
            <a:bodyPr wrap="none" lIns="0" tIns="0" rIns="0" bIns="0" anchor="t" anchorCtr="0">
              <a:spAutoFit/>
            </a:bodyPr>
            <a:lstStyle/>
            <a:p>
              <a:pPr algn="l"/>
              <a:r>
                <a:rPr lang="en-US" sz="1200" dirty="0">
                  <a:solidFill>
                    <a:schemeClr val="accent6"/>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1960" y="371475"/>
            <a:ext cx="7516647" cy="913765"/>
            <a:chOff x="441960" y="371475"/>
            <a:chExt cx="7516647" cy="913765"/>
          </a:xfrm>
        </p:grpSpPr>
        <p:sp>
          <p:nvSpPr>
            <p:cNvPr id="2" name="TextBox 2"/>
            <p:cNvSpPr txBox="1"/>
            <p:nvPr/>
          </p:nvSpPr>
          <p:spPr>
            <a:xfrm>
              <a:off x="451104" y="371475"/>
              <a:ext cx="1842753"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REFERENCES / 1 OF 3</a:t>
              </a:r>
            </a:p>
          </p:txBody>
        </p:sp>
        <p:sp>
          <p:nvSpPr>
            <p:cNvPr id="3" name="TextBox 3"/>
            <p:cNvSpPr txBox="1"/>
            <p:nvPr/>
          </p:nvSpPr>
          <p:spPr>
            <a:xfrm>
              <a:off x="441960" y="698500"/>
              <a:ext cx="7516647"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n-lt"/>
                  <a:ea typeface="+mn-ea"/>
                  <a:cs typeface="+mn-cs"/>
                </a:rPr>
                <a:t>Clinical evidence in the main argument</a:t>
              </a:r>
            </a:p>
          </p:txBody>
        </p:sp>
      </p:grpSp>
      <p:grpSp>
        <p:nvGrpSpPr>
          <p:cNvPr id="6" name="ref-jault"/>
          <p:cNvGrpSpPr/>
          <p:nvPr/>
        </p:nvGrpSpPr>
        <p:grpSpPr>
          <a:xfrm>
            <a:off x="450342" y="1600200"/>
            <a:ext cx="8658362" cy="1006983"/>
            <a:chOff x="450342" y="1600200"/>
            <a:chExt cx="8658362" cy="1006983"/>
          </a:xfrm>
        </p:grpSpPr>
        <p:sp>
          <p:nvSpPr>
            <p:cNvPr id="5" name="TextBox 5"/>
            <p:cNvSpPr txBox="1"/>
            <p:nvPr/>
          </p:nvSpPr>
          <p:spPr>
            <a:xfrm>
              <a:off x="450342" y="1600200"/>
              <a:ext cx="8658362" cy="1006983"/>
            </a:xfrm>
            <a:prstGeom prst="rect">
              <a:avLst/>
            </a:prstGeom>
            <a:noFill/>
            <a:ln>
              <a:noFill/>
            </a:ln>
          </p:spPr>
          <p:txBody>
            <a:bodyPr wrap="none" lIns="0" tIns="0" rIns="0" bIns="0" anchor="t" anchorCtr="0">
              <a:spAutoFit/>
            </a:bodyPr>
            <a:lstStyle/>
            <a:p>
              <a:pPr algn="l">
                <a:lnSpc>
                  <a:spcPts val="1950"/>
                </a:lnSpc>
              </a:pPr>
              <a:r>
                <a:rPr lang="en-US" sz="1350" b="1" dirty="0">
                  <a:solidFill>
                    <a:schemeClr val="dk1"/>
                  </a:solidFill>
                  <a:latin typeface="+mn-lt"/>
                  <a:ea typeface="+mn-ea"/>
                  <a:cs typeface="+mn-cs"/>
                </a:rPr>
                <a:t>Jault P, Leclerc T, Jennes S, et al. (2019).</a:t>
              </a:r>
              <a:br>
                <a:rPr lang="en-US" sz="1350" b="1" dirty="0">
                  <a:solidFill>
                    <a:schemeClr val="dk1"/>
                  </a:solidFill>
                  <a:latin typeface="+mn-lt"/>
                  <a:ea typeface="+mn-ea"/>
                  <a:cs typeface="+mn-cs"/>
                </a:rPr>
              </a:br>
              <a:r>
                <a:rPr lang="en-US" sz="1350" dirty="0">
                  <a:solidFill>
                    <a:schemeClr val="dk1"/>
                  </a:solidFill>
                  <a:latin typeface="+mn-lt"/>
                  <a:ea typeface="+mn-ea"/>
                  <a:cs typeface="+mn-cs"/>
                </a:rPr>
                <a:t>Efficacy and tolerability of a cocktail of bacteriophages to treat burn wounds infected by Pseudomonas aeruginosa</a:t>
              </a:r>
              <a:br>
                <a:rPr lang="en-US" sz="1350" dirty="0">
                  <a:solidFill>
                    <a:schemeClr val="dk1"/>
                  </a:solidFill>
                  <a:latin typeface="+mn-lt"/>
                  <a:ea typeface="+mn-ea"/>
                  <a:cs typeface="+mn-cs"/>
                </a:rPr>
              </a:br>
              <a:r>
                <a:rPr lang="en-US" sz="1350" dirty="0">
                  <a:solidFill>
                    <a:schemeClr val="dk1"/>
                  </a:solidFill>
                  <a:latin typeface="+mn-lt"/>
                  <a:ea typeface="+mn-ea"/>
                  <a:cs typeface="+mn-cs"/>
                </a:rPr>
                <a:t>(PhagoBurn): a randomised, controlled, double-blind phase 1/2 trial. Lancet Infect Dis. 19(1):35–45.</a:t>
              </a:r>
              <a:br>
                <a:rPr lang="en-US" sz="1350" dirty="0">
                  <a:solidFill>
                    <a:schemeClr val="dk1"/>
                  </a:solidFill>
                  <a:latin typeface="+mn-lt"/>
                  <a:ea typeface="+mn-ea"/>
                  <a:cs typeface="+mn-cs"/>
                </a:rPr>
              </a:br>
              <a:r>
                <a:rPr lang="en-US" sz="1350" dirty="0">
                  <a:solidFill>
                    <a:schemeClr val="accent2"/>
                  </a:solidFill>
                  <a:latin typeface="+mn-lt"/>
                  <a:ea typeface="+mn-ea"/>
                  <a:cs typeface="+mn-cs"/>
                </a:rPr>
                <a:t>https://doi.org/10.1016/S1473-3099(18)30482-1</a:t>
              </a:r>
            </a:p>
          </p:txBody>
        </p:sp>
      </p:grpSp>
      <p:grpSp>
        <p:nvGrpSpPr>
          <p:cNvPr id="8" name="ref-weiner"/>
          <p:cNvGrpSpPr/>
          <p:nvPr/>
        </p:nvGrpSpPr>
        <p:grpSpPr>
          <a:xfrm>
            <a:off x="450342" y="2695575"/>
            <a:ext cx="8572054" cy="1006983"/>
            <a:chOff x="450342" y="2695575"/>
            <a:chExt cx="8572054" cy="1006983"/>
          </a:xfrm>
        </p:grpSpPr>
        <p:sp>
          <p:nvSpPr>
            <p:cNvPr id="7" name="TextBox 7"/>
            <p:cNvSpPr txBox="1"/>
            <p:nvPr/>
          </p:nvSpPr>
          <p:spPr>
            <a:xfrm>
              <a:off x="450342" y="2695575"/>
              <a:ext cx="8572054" cy="1006983"/>
            </a:xfrm>
            <a:prstGeom prst="rect">
              <a:avLst/>
            </a:prstGeom>
            <a:noFill/>
            <a:ln>
              <a:noFill/>
            </a:ln>
          </p:spPr>
          <p:txBody>
            <a:bodyPr wrap="none" lIns="0" tIns="0" rIns="0" bIns="0" anchor="t" anchorCtr="0">
              <a:spAutoFit/>
            </a:bodyPr>
            <a:lstStyle/>
            <a:p>
              <a:pPr algn="l">
                <a:lnSpc>
                  <a:spcPts val="1950"/>
                </a:lnSpc>
              </a:pPr>
              <a:r>
                <a:rPr lang="en-US" sz="1350" b="1" dirty="0">
                  <a:solidFill>
                    <a:schemeClr val="dk1"/>
                  </a:solidFill>
                  <a:latin typeface="+mn-lt"/>
                  <a:ea typeface="+mn-ea"/>
                  <a:cs typeface="+mn-cs"/>
                </a:rPr>
                <a:t>Weiner I, Kahan-Hanum M, Buchstab N, et al. (2025).</a:t>
              </a:r>
              <a:br>
                <a:rPr lang="en-US" sz="1350" b="1" dirty="0">
                  <a:solidFill>
                    <a:schemeClr val="dk1"/>
                  </a:solidFill>
                  <a:latin typeface="+mn-lt"/>
                  <a:ea typeface="+mn-ea"/>
                  <a:cs typeface="+mn-cs"/>
                </a:rPr>
              </a:br>
              <a:r>
                <a:rPr lang="en-US" sz="1350" dirty="0">
                  <a:solidFill>
                    <a:schemeClr val="dk1"/>
                  </a:solidFill>
                  <a:latin typeface="+mn-lt"/>
                  <a:ea typeface="+mn-ea"/>
                  <a:cs typeface="+mn-cs"/>
                </a:rPr>
                <a:t>Phage therapy with nebulized cocktail BX004-A for chronic Pseudomonas aeruginosa infections in cystic fibrosis:</a:t>
              </a:r>
              <a:br>
                <a:rPr lang="en-US" sz="1350" dirty="0">
                  <a:solidFill>
                    <a:schemeClr val="dk1"/>
                  </a:solidFill>
                  <a:latin typeface="+mn-lt"/>
                  <a:ea typeface="+mn-ea"/>
                  <a:cs typeface="+mn-cs"/>
                </a:rPr>
              </a:br>
              <a:r>
                <a:rPr lang="en-US" sz="1350" dirty="0">
                  <a:solidFill>
                    <a:schemeClr val="dk1"/>
                  </a:solidFill>
                  <a:latin typeface="+mn-lt"/>
                  <a:ea typeface="+mn-ea"/>
                  <a:cs typeface="+mn-cs"/>
                </a:rPr>
                <a:t>a randomized first-in-human trial. Nature Communications. 16:5579.</a:t>
              </a:r>
              <a:br>
                <a:rPr lang="en-US" sz="1350" dirty="0">
                  <a:solidFill>
                    <a:schemeClr val="dk1"/>
                  </a:solidFill>
                  <a:latin typeface="+mn-lt"/>
                  <a:ea typeface="+mn-ea"/>
                  <a:cs typeface="+mn-cs"/>
                </a:rPr>
              </a:br>
              <a:r>
                <a:rPr lang="en-US" sz="1350" dirty="0">
                  <a:solidFill>
                    <a:schemeClr val="accent2"/>
                  </a:solidFill>
                  <a:latin typeface="+mn-lt"/>
                  <a:ea typeface="+mn-ea"/>
                  <a:cs typeface="+mn-cs"/>
                </a:rPr>
                <a:t>https://doi.org/10.1038/s41467-025-60598-4</a:t>
              </a:r>
            </a:p>
          </p:txBody>
        </p:sp>
      </p:grpSp>
      <p:grpSp>
        <p:nvGrpSpPr>
          <p:cNvPr id="10" name="ref-correction"/>
          <p:cNvGrpSpPr/>
          <p:nvPr/>
        </p:nvGrpSpPr>
        <p:grpSpPr>
          <a:xfrm>
            <a:off x="450342" y="3790950"/>
            <a:ext cx="8715318" cy="1006983"/>
            <a:chOff x="450342" y="3790950"/>
            <a:chExt cx="8715318" cy="1006983"/>
          </a:xfrm>
        </p:grpSpPr>
        <p:sp>
          <p:nvSpPr>
            <p:cNvPr id="9" name="TextBox 9"/>
            <p:cNvSpPr txBox="1"/>
            <p:nvPr/>
          </p:nvSpPr>
          <p:spPr>
            <a:xfrm>
              <a:off x="450342" y="3790950"/>
              <a:ext cx="8715318" cy="1006983"/>
            </a:xfrm>
            <a:prstGeom prst="rect">
              <a:avLst/>
            </a:prstGeom>
            <a:noFill/>
            <a:ln>
              <a:noFill/>
            </a:ln>
          </p:spPr>
          <p:txBody>
            <a:bodyPr wrap="none" lIns="0" tIns="0" rIns="0" bIns="0" anchor="t" anchorCtr="0">
              <a:spAutoFit/>
            </a:bodyPr>
            <a:lstStyle/>
            <a:p>
              <a:pPr algn="l">
                <a:lnSpc>
                  <a:spcPts val="1950"/>
                </a:lnSpc>
              </a:pPr>
              <a:r>
                <a:rPr lang="en-US" sz="1350" b="1" dirty="0">
                  <a:solidFill>
                    <a:schemeClr val="dk1"/>
                  </a:solidFill>
                  <a:latin typeface="+mn-lt"/>
                  <a:ea typeface="+mn-ea"/>
                  <a:cs typeface="+mn-cs"/>
                </a:rPr>
                <a:t>Weiner I, Kahan-Hanum M, Buchstab N, et al. (2026).</a:t>
              </a:r>
              <a:br>
                <a:rPr lang="en-US" sz="1350" b="1" dirty="0">
                  <a:solidFill>
                    <a:schemeClr val="dk1"/>
                  </a:solidFill>
                  <a:latin typeface="+mn-lt"/>
                  <a:ea typeface="+mn-ea"/>
                  <a:cs typeface="+mn-cs"/>
                </a:rPr>
              </a:br>
              <a:r>
                <a:rPr lang="en-US" sz="1350" dirty="0">
                  <a:solidFill>
                    <a:schemeClr val="dk1"/>
                  </a:solidFill>
                  <a:latin typeface="+mn-lt"/>
                  <a:ea typeface="+mn-ea"/>
                  <a:cs typeface="+mn-cs"/>
                </a:rPr>
                <a:t>Author Correction: Phage therapy with nebulized cocktail BX004-A for chronic Pseudomonas aeruginosa infections</a:t>
              </a:r>
              <a:br>
                <a:rPr lang="en-US" sz="1350" dirty="0">
                  <a:solidFill>
                    <a:schemeClr val="dk1"/>
                  </a:solidFill>
                  <a:latin typeface="+mn-lt"/>
                  <a:ea typeface="+mn-ea"/>
                  <a:cs typeface="+mn-cs"/>
                </a:rPr>
              </a:br>
              <a:r>
                <a:rPr lang="en-US" sz="1350" dirty="0">
                  <a:solidFill>
                    <a:schemeClr val="dk1"/>
                  </a:solidFill>
                  <a:latin typeface="+mn-lt"/>
                  <a:ea typeface="+mn-ea"/>
                  <a:cs typeface="+mn-cs"/>
                </a:rPr>
                <a:t>in cystic fibrosis: a randomized first-in-human trial. Nature Communications. 17:2057.</a:t>
              </a:r>
              <a:br>
                <a:rPr lang="en-US" sz="1350" dirty="0">
                  <a:solidFill>
                    <a:schemeClr val="dk1"/>
                  </a:solidFill>
                  <a:latin typeface="+mn-lt"/>
                  <a:ea typeface="+mn-ea"/>
                  <a:cs typeface="+mn-cs"/>
                </a:rPr>
              </a:br>
              <a:r>
                <a:rPr lang="en-US" sz="1350" dirty="0">
                  <a:solidFill>
                    <a:schemeClr val="accent2"/>
                  </a:solidFill>
                  <a:latin typeface="+mn-lt"/>
                  <a:ea typeface="+mn-ea"/>
                  <a:cs typeface="+mn-cs"/>
                </a:rPr>
                <a:t>https://doi.org/10.1038/s41467-026-70146-3</a:t>
              </a:r>
            </a:p>
          </p:txBody>
        </p:sp>
      </p:grpSp>
      <p:grpSp>
        <p:nvGrpSpPr>
          <p:cNvPr id="12" name="ref-dedrick"/>
          <p:cNvGrpSpPr/>
          <p:nvPr/>
        </p:nvGrpSpPr>
        <p:grpSpPr>
          <a:xfrm>
            <a:off x="450342" y="4886325"/>
            <a:ext cx="8791202" cy="1006983"/>
            <a:chOff x="450342" y="4886325"/>
            <a:chExt cx="8791202" cy="1006983"/>
          </a:xfrm>
        </p:grpSpPr>
        <p:sp>
          <p:nvSpPr>
            <p:cNvPr id="11" name="TextBox 11"/>
            <p:cNvSpPr txBox="1"/>
            <p:nvPr/>
          </p:nvSpPr>
          <p:spPr>
            <a:xfrm>
              <a:off x="450342" y="4886325"/>
              <a:ext cx="8791202" cy="1006983"/>
            </a:xfrm>
            <a:prstGeom prst="rect">
              <a:avLst/>
            </a:prstGeom>
            <a:noFill/>
            <a:ln>
              <a:noFill/>
            </a:ln>
          </p:spPr>
          <p:txBody>
            <a:bodyPr wrap="none" lIns="0" tIns="0" rIns="0" bIns="0" anchor="t" anchorCtr="0">
              <a:spAutoFit/>
            </a:bodyPr>
            <a:lstStyle/>
            <a:p>
              <a:pPr algn="l">
                <a:lnSpc>
                  <a:spcPts val="1950"/>
                </a:lnSpc>
              </a:pPr>
              <a:r>
                <a:rPr lang="en-US" sz="1350" b="1" dirty="0">
                  <a:solidFill>
                    <a:schemeClr val="dk1"/>
                  </a:solidFill>
                  <a:latin typeface="+mn-lt"/>
                  <a:ea typeface="+mn-ea"/>
                  <a:cs typeface="+mn-cs"/>
                </a:rPr>
                <a:t>Dedrick RM, Guerrero-Bustamante CA, Garlena RA, et al. (2019).</a:t>
              </a:r>
              <a:br>
                <a:rPr lang="en-US" sz="1350" b="1" dirty="0">
                  <a:solidFill>
                    <a:schemeClr val="dk1"/>
                  </a:solidFill>
                  <a:latin typeface="+mn-lt"/>
                  <a:ea typeface="+mn-ea"/>
                  <a:cs typeface="+mn-cs"/>
                </a:rPr>
              </a:br>
              <a:r>
                <a:rPr lang="en-US" sz="1350" dirty="0">
                  <a:solidFill>
                    <a:schemeClr val="dk1"/>
                  </a:solidFill>
                  <a:latin typeface="+mn-lt"/>
                  <a:ea typeface="+mn-ea"/>
                  <a:cs typeface="+mn-cs"/>
                </a:rPr>
                <a:t>Engineered bacteriophages for treatment of a patient with a disseminated drug-resistant Mycobacterium abscessus.</a:t>
              </a:r>
              <a:br>
                <a:rPr lang="en-US" sz="1350" dirty="0">
                  <a:solidFill>
                    <a:schemeClr val="dk1"/>
                  </a:solidFill>
                  <a:latin typeface="+mn-lt"/>
                  <a:ea typeface="+mn-ea"/>
                  <a:cs typeface="+mn-cs"/>
                </a:rPr>
              </a:br>
              <a:r>
                <a:rPr lang="en-US" sz="1350" dirty="0">
                  <a:solidFill>
                    <a:schemeClr val="dk1"/>
                  </a:solidFill>
                  <a:latin typeface="+mn-lt"/>
                  <a:ea typeface="+mn-ea"/>
                  <a:cs typeface="+mn-cs"/>
                </a:rPr>
                <a:t>Nature Medicine. 25(5):730–733.</a:t>
              </a:r>
              <a:br>
                <a:rPr lang="en-US" sz="1350" dirty="0">
                  <a:solidFill>
                    <a:schemeClr val="dk1"/>
                  </a:solidFill>
                  <a:latin typeface="+mn-lt"/>
                  <a:ea typeface="+mn-ea"/>
                  <a:cs typeface="+mn-cs"/>
                </a:rPr>
              </a:br>
              <a:r>
                <a:rPr lang="en-US" sz="1350" dirty="0">
                  <a:solidFill>
                    <a:schemeClr val="accent2"/>
                  </a:solidFill>
                  <a:latin typeface="+mn-lt"/>
                  <a:ea typeface="+mn-ea"/>
                  <a:cs typeface="+mn-cs"/>
                </a:rPr>
                <a:t>https://doi.org/10.1038/s41591-019-0437-z</a:t>
              </a:r>
            </a:p>
          </p:txBody>
        </p:sp>
      </p:grpSp>
      <p:grpSp>
        <p:nvGrpSpPr>
          <p:cNvPr id="15" name="footer"/>
          <p:cNvGrpSpPr/>
          <p:nvPr/>
        </p:nvGrpSpPr>
        <p:grpSpPr>
          <a:xfrm>
            <a:off x="451104" y="6391275"/>
            <a:ext cx="11021819" cy="234696"/>
            <a:chOff x="451104" y="6391275"/>
            <a:chExt cx="11021819" cy="234696"/>
          </a:xfrm>
        </p:grpSpPr>
        <p:sp>
          <p:nvSpPr>
            <p:cNvPr id="13" name="TextBox 13"/>
            <p:cNvSpPr txBox="1"/>
            <p:nvPr/>
          </p:nvSpPr>
          <p:spPr>
            <a:xfrm>
              <a:off x="451104" y="6391275"/>
              <a:ext cx="658168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Bibliographic metadata verified with PubMed, Europe PMC and Crossref · 27 October 2026</a:t>
              </a:r>
            </a:p>
          </p:txBody>
        </p:sp>
        <p:sp>
          <p:nvSpPr>
            <p:cNvPr id="14" name="TextBox 14"/>
            <p:cNvSpPr txBox="1"/>
            <p:nvPr/>
          </p:nvSpPr>
          <p:spPr>
            <a:xfrm>
              <a:off x="11281029" y="6391275"/>
              <a:ext cx="19189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1960" y="371475"/>
            <a:ext cx="7088064" cy="913765"/>
            <a:chOff x="441960" y="371475"/>
            <a:chExt cx="7088064" cy="913765"/>
          </a:xfrm>
        </p:grpSpPr>
        <p:sp>
          <p:nvSpPr>
            <p:cNvPr id="2" name="TextBox 2"/>
            <p:cNvSpPr txBox="1"/>
            <p:nvPr/>
          </p:nvSpPr>
          <p:spPr>
            <a:xfrm>
              <a:off x="451104" y="371475"/>
              <a:ext cx="1842753"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REFERENCES / 2 OF 3</a:t>
              </a:r>
            </a:p>
          </p:txBody>
        </p:sp>
        <p:sp>
          <p:nvSpPr>
            <p:cNvPr id="3" name="TextBox 3"/>
            <p:cNvSpPr txBox="1"/>
            <p:nvPr/>
          </p:nvSpPr>
          <p:spPr>
            <a:xfrm>
              <a:off x="441960" y="698500"/>
              <a:ext cx="7088064"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n-lt"/>
                  <a:ea typeface="+mn-ea"/>
                  <a:cs typeface="+mn-cs"/>
                </a:rPr>
                <a:t>Biological and technical foundations</a:t>
              </a:r>
            </a:p>
          </p:txBody>
        </p:sp>
      </p:grpSp>
      <p:grpSp>
        <p:nvGrpSpPr>
          <p:cNvPr id="6" name="ref-aslam"/>
          <p:cNvGrpSpPr/>
          <p:nvPr/>
        </p:nvGrpSpPr>
        <p:grpSpPr>
          <a:xfrm>
            <a:off x="450342" y="1600200"/>
            <a:ext cx="8886151" cy="1006983"/>
            <a:chOff x="450342" y="1600200"/>
            <a:chExt cx="8886151" cy="1006983"/>
          </a:xfrm>
        </p:grpSpPr>
        <p:sp>
          <p:nvSpPr>
            <p:cNvPr id="5" name="TextBox 5"/>
            <p:cNvSpPr txBox="1"/>
            <p:nvPr/>
          </p:nvSpPr>
          <p:spPr>
            <a:xfrm>
              <a:off x="450342" y="1600200"/>
              <a:ext cx="8886151" cy="1006983"/>
            </a:xfrm>
            <a:prstGeom prst="rect">
              <a:avLst/>
            </a:prstGeom>
            <a:noFill/>
            <a:ln>
              <a:noFill/>
            </a:ln>
          </p:spPr>
          <p:txBody>
            <a:bodyPr wrap="none" lIns="0" tIns="0" rIns="0" bIns="0" anchor="t" anchorCtr="0">
              <a:spAutoFit/>
            </a:bodyPr>
            <a:lstStyle/>
            <a:p>
              <a:pPr algn="l">
                <a:lnSpc>
                  <a:spcPts val="1950"/>
                </a:lnSpc>
              </a:pPr>
              <a:r>
                <a:rPr lang="en-US" sz="1350" b="1" dirty="0">
                  <a:solidFill>
                    <a:schemeClr val="dk1"/>
                  </a:solidFill>
                  <a:latin typeface="+mn-lt"/>
                  <a:ea typeface="+mn-ea"/>
                  <a:cs typeface="+mn-cs"/>
                </a:rPr>
                <a:t>Aslam S, Lampley E, Wooten D, et al. (2020).</a:t>
              </a:r>
              <a:br>
                <a:rPr lang="en-US" sz="1350" b="1" dirty="0">
                  <a:solidFill>
                    <a:schemeClr val="dk1"/>
                  </a:solidFill>
                  <a:latin typeface="+mn-lt"/>
                  <a:ea typeface="+mn-ea"/>
                  <a:cs typeface="+mn-cs"/>
                </a:rPr>
              </a:br>
              <a:r>
                <a:rPr lang="en-US" sz="1350" dirty="0">
                  <a:solidFill>
                    <a:schemeClr val="dk1"/>
                  </a:solidFill>
                  <a:latin typeface="+mn-lt"/>
                  <a:ea typeface="+mn-ea"/>
                  <a:cs typeface="+mn-cs"/>
                </a:rPr>
                <a:t>Lessons Learned From the First 10 Consecutive Cases of Intravenous Bacteriophage Therapy to Treat</a:t>
              </a:r>
              <a:br>
                <a:rPr lang="en-US" sz="1350" dirty="0">
                  <a:solidFill>
                    <a:schemeClr val="dk1"/>
                  </a:solidFill>
                  <a:latin typeface="+mn-lt"/>
                  <a:ea typeface="+mn-ea"/>
                  <a:cs typeface="+mn-cs"/>
                </a:rPr>
              </a:br>
              <a:r>
                <a:rPr lang="en-US" sz="1350" dirty="0">
                  <a:solidFill>
                    <a:schemeClr val="dk1"/>
                  </a:solidFill>
                  <a:latin typeface="+mn-lt"/>
                  <a:ea typeface="+mn-ea"/>
                  <a:cs typeface="+mn-cs"/>
                </a:rPr>
                <a:t>Multidrug-Resistant Bacterial Infections at a Single Center in the United States. Open Forum Infect Dis. 7(9):ofaa389.</a:t>
              </a:r>
              <a:br>
                <a:rPr lang="en-US" sz="1350" dirty="0">
                  <a:solidFill>
                    <a:schemeClr val="dk1"/>
                  </a:solidFill>
                  <a:latin typeface="+mn-lt"/>
                  <a:ea typeface="+mn-ea"/>
                  <a:cs typeface="+mn-cs"/>
                </a:rPr>
              </a:br>
              <a:r>
                <a:rPr lang="en-US" sz="1350" dirty="0">
                  <a:solidFill>
                    <a:schemeClr val="accent2"/>
                  </a:solidFill>
                  <a:latin typeface="+mn-lt"/>
                  <a:ea typeface="+mn-ea"/>
                  <a:cs typeface="+mn-cs"/>
                </a:rPr>
                <a:t>https://doi.org/10.1093/ofid/ofaa389</a:t>
              </a:r>
            </a:p>
          </p:txBody>
        </p:sp>
      </p:grpSp>
      <p:grpSp>
        <p:nvGrpSpPr>
          <p:cNvPr id="8" name="ref-chan"/>
          <p:cNvGrpSpPr/>
          <p:nvPr/>
        </p:nvGrpSpPr>
        <p:grpSpPr>
          <a:xfrm>
            <a:off x="450342" y="2695575"/>
            <a:ext cx="6122617" cy="1006983"/>
            <a:chOff x="450342" y="2695575"/>
            <a:chExt cx="6122617" cy="1006983"/>
          </a:xfrm>
        </p:grpSpPr>
        <p:sp>
          <p:nvSpPr>
            <p:cNvPr id="7" name="TextBox 7"/>
            <p:cNvSpPr txBox="1"/>
            <p:nvPr/>
          </p:nvSpPr>
          <p:spPr>
            <a:xfrm>
              <a:off x="450342" y="2695575"/>
              <a:ext cx="6122617" cy="1006983"/>
            </a:xfrm>
            <a:prstGeom prst="rect">
              <a:avLst/>
            </a:prstGeom>
            <a:noFill/>
            <a:ln>
              <a:noFill/>
            </a:ln>
          </p:spPr>
          <p:txBody>
            <a:bodyPr wrap="none" lIns="0" tIns="0" rIns="0" bIns="0" anchor="t" anchorCtr="0">
              <a:spAutoFit/>
            </a:bodyPr>
            <a:lstStyle/>
            <a:p>
              <a:pPr algn="l">
                <a:lnSpc>
                  <a:spcPts val="1950"/>
                </a:lnSpc>
              </a:pPr>
              <a:r>
                <a:rPr lang="en-US" sz="1350" b="1" dirty="0">
                  <a:solidFill>
                    <a:schemeClr val="dk1"/>
                  </a:solidFill>
                  <a:latin typeface="+mn-lt"/>
                  <a:ea typeface="+mn-ea"/>
                  <a:cs typeface="+mn-cs"/>
                </a:rPr>
                <a:t>Chan BK, Sistrom M, Wertz JE, et al. (2016).</a:t>
              </a:r>
              <a:br>
                <a:rPr lang="en-US" sz="1350" b="1" dirty="0">
                  <a:solidFill>
                    <a:schemeClr val="dk1"/>
                  </a:solidFill>
                  <a:latin typeface="+mn-lt"/>
                  <a:ea typeface="+mn-ea"/>
                  <a:cs typeface="+mn-cs"/>
                </a:rPr>
              </a:br>
              <a:r>
                <a:rPr lang="en-US" sz="1350" dirty="0">
                  <a:solidFill>
                    <a:schemeClr val="dk1"/>
                  </a:solidFill>
                  <a:latin typeface="+mn-lt"/>
                  <a:ea typeface="+mn-ea"/>
                  <a:cs typeface="+mn-cs"/>
                </a:rPr>
                <a:t>Phage selection restores antibiotic sensitivity in MDR Pseudomonas aeruginosa.</a:t>
              </a:r>
              <a:br>
                <a:rPr lang="en-US" sz="1350" dirty="0">
                  <a:solidFill>
                    <a:schemeClr val="dk1"/>
                  </a:solidFill>
                  <a:latin typeface="+mn-lt"/>
                  <a:ea typeface="+mn-ea"/>
                  <a:cs typeface="+mn-cs"/>
                </a:rPr>
              </a:br>
              <a:r>
                <a:rPr lang="en-US" sz="1350" dirty="0">
                  <a:solidFill>
                    <a:schemeClr val="dk1"/>
                  </a:solidFill>
                  <a:latin typeface="+mn-lt"/>
                  <a:ea typeface="+mn-ea"/>
                  <a:cs typeface="+mn-cs"/>
                </a:rPr>
                <a:t>Scientific Reports. 6:26717.</a:t>
              </a:r>
              <a:br>
                <a:rPr lang="en-US" sz="1350" dirty="0">
                  <a:solidFill>
                    <a:schemeClr val="dk1"/>
                  </a:solidFill>
                  <a:latin typeface="+mn-lt"/>
                  <a:ea typeface="+mn-ea"/>
                  <a:cs typeface="+mn-cs"/>
                </a:rPr>
              </a:br>
              <a:r>
                <a:rPr lang="en-US" sz="1350" dirty="0">
                  <a:solidFill>
                    <a:schemeClr val="accent2"/>
                  </a:solidFill>
                  <a:latin typeface="+mn-lt"/>
                  <a:ea typeface="+mn-ea"/>
                  <a:cs typeface="+mn-cs"/>
                </a:rPr>
                <a:t>https://doi.org/10.1038/srep26717</a:t>
              </a:r>
            </a:p>
          </p:txBody>
        </p:sp>
      </p:grpSp>
      <p:grpSp>
        <p:nvGrpSpPr>
          <p:cNvPr id="10" name="ref-kortright"/>
          <p:cNvGrpSpPr/>
          <p:nvPr/>
        </p:nvGrpSpPr>
        <p:grpSpPr>
          <a:xfrm>
            <a:off x="450342" y="3790950"/>
            <a:ext cx="6027393" cy="1006983"/>
            <a:chOff x="450342" y="3790950"/>
            <a:chExt cx="6027393" cy="1006983"/>
          </a:xfrm>
        </p:grpSpPr>
        <p:sp>
          <p:nvSpPr>
            <p:cNvPr id="9" name="TextBox 9"/>
            <p:cNvSpPr txBox="1"/>
            <p:nvPr/>
          </p:nvSpPr>
          <p:spPr>
            <a:xfrm>
              <a:off x="450342" y="3790950"/>
              <a:ext cx="6027393" cy="1006983"/>
            </a:xfrm>
            <a:prstGeom prst="rect">
              <a:avLst/>
            </a:prstGeom>
            <a:noFill/>
            <a:ln>
              <a:noFill/>
            </a:ln>
          </p:spPr>
          <p:txBody>
            <a:bodyPr wrap="none" lIns="0" tIns="0" rIns="0" bIns="0" anchor="t" anchorCtr="0">
              <a:spAutoFit/>
            </a:bodyPr>
            <a:lstStyle/>
            <a:p>
              <a:pPr algn="l">
                <a:lnSpc>
                  <a:spcPts val="1950"/>
                </a:lnSpc>
              </a:pPr>
              <a:r>
                <a:rPr lang="en-US" sz="1350" b="1" dirty="0">
                  <a:solidFill>
                    <a:schemeClr val="dk1"/>
                  </a:solidFill>
                  <a:latin typeface="+mn-lt"/>
                  <a:ea typeface="+mn-ea"/>
                  <a:cs typeface="+mn-cs"/>
                </a:rPr>
                <a:t>Kortright KE, Chan BK, Koff JL, Turner PE. (2019).</a:t>
              </a:r>
              <a:br>
                <a:rPr lang="en-US" sz="1350" b="1" dirty="0">
                  <a:solidFill>
                    <a:schemeClr val="dk1"/>
                  </a:solidFill>
                  <a:latin typeface="+mn-lt"/>
                  <a:ea typeface="+mn-ea"/>
                  <a:cs typeface="+mn-cs"/>
                </a:rPr>
              </a:br>
              <a:r>
                <a:rPr lang="en-US" sz="1350" dirty="0">
                  <a:solidFill>
                    <a:schemeClr val="dk1"/>
                  </a:solidFill>
                  <a:latin typeface="+mn-lt"/>
                  <a:ea typeface="+mn-ea"/>
                  <a:cs typeface="+mn-cs"/>
                </a:rPr>
                <a:t>Phage Therapy: A Renewed Approach to Combat Antibiotic-Resistant Bacteria.</a:t>
              </a:r>
              <a:br>
                <a:rPr lang="en-US" sz="1350" dirty="0">
                  <a:solidFill>
                    <a:schemeClr val="dk1"/>
                  </a:solidFill>
                  <a:latin typeface="+mn-lt"/>
                  <a:ea typeface="+mn-ea"/>
                  <a:cs typeface="+mn-cs"/>
                </a:rPr>
              </a:br>
              <a:r>
                <a:rPr lang="en-US" sz="1350" dirty="0">
                  <a:solidFill>
                    <a:schemeClr val="dk1"/>
                  </a:solidFill>
                  <a:latin typeface="+mn-lt"/>
                  <a:ea typeface="+mn-ea"/>
                  <a:cs typeface="+mn-cs"/>
                </a:rPr>
                <a:t>Cell Host &amp; Microbe. 25(2):219–232.</a:t>
              </a:r>
              <a:br>
                <a:rPr lang="en-US" sz="1350" dirty="0">
                  <a:solidFill>
                    <a:schemeClr val="dk1"/>
                  </a:solidFill>
                  <a:latin typeface="+mn-lt"/>
                  <a:ea typeface="+mn-ea"/>
                  <a:cs typeface="+mn-cs"/>
                </a:rPr>
              </a:br>
              <a:r>
                <a:rPr lang="en-US" sz="1350" dirty="0">
                  <a:solidFill>
                    <a:schemeClr val="accent2"/>
                  </a:solidFill>
                  <a:latin typeface="+mn-lt"/>
                  <a:ea typeface="+mn-ea"/>
                  <a:cs typeface="+mn-cs"/>
                </a:rPr>
                <a:t>https://doi.org/10.1016/j.chom.2019.01.014</a:t>
              </a:r>
            </a:p>
          </p:txBody>
        </p:sp>
      </p:grpSp>
      <p:grpSp>
        <p:nvGrpSpPr>
          <p:cNvPr id="12" name="ref-munita"/>
          <p:cNvGrpSpPr/>
          <p:nvPr/>
        </p:nvGrpSpPr>
        <p:grpSpPr>
          <a:xfrm>
            <a:off x="450342" y="4886325"/>
            <a:ext cx="4216744" cy="1006983"/>
            <a:chOff x="450342" y="4886325"/>
            <a:chExt cx="4216744" cy="1006983"/>
          </a:xfrm>
        </p:grpSpPr>
        <p:sp>
          <p:nvSpPr>
            <p:cNvPr id="11" name="TextBox 11"/>
            <p:cNvSpPr txBox="1"/>
            <p:nvPr/>
          </p:nvSpPr>
          <p:spPr>
            <a:xfrm>
              <a:off x="450342" y="4886325"/>
              <a:ext cx="4216744" cy="1006983"/>
            </a:xfrm>
            <a:prstGeom prst="rect">
              <a:avLst/>
            </a:prstGeom>
            <a:noFill/>
            <a:ln>
              <a:noFill/>
            </a:ln>
          </p:spPr>
          <p:txBody>
            <a:bodyPr wrap="none" lIns="0" tIns="0" rIns="0" bIns="0" anchor="t" anchorCtr="0">
              <a:spAutoFit/>
            </a:bodyPr>
            <a:lstStyle/>
            <a:p>
              <a:pPr algn="l">
                <a:lnSpc>
                  <a:spcPts val="1950"/>
                </a:lnSpc>
              </a:pPr>
              <a:r>
                <a:rPr lang="en-US" sz="1350" b="1" dirty="0">
                  <a:solidFill>
                    <a:schemeClr val="dk1"/>
                  </a:solidFill>
                  <a:latin typeface="+mn-lt"/>
                  <a:ea typeface="+mn-ea"/>
                  <a:cs typeface="+mn-cs"/>
                </a:rPr>
                <a:t>Munita JM, Arias CA. (2016).</a:t>
              </a:r>
              <a:br>
                <a:rPr lang="en-US" sz="1350" b="1" dirty="0">
                  <a:solidFill>
                    <a:schemeClr val="dk1"/>
                  </a:solidFill>
                  <a:latin typeface="+mn-lt"/>
                  <a:ea typeface="+mn-ea"/>
                  <a:cs typeface="+mn-cs"/>
                </a:rPr>
              </a:br>
              <a:r>
                <a:rPr lang="en-US" sz="1350" dirty="0">
                  <a:solidFill>
                    <a:schemeClr val="dk1"/>
                  </a:solidFill>
                  <a:latin typeface="+mn-lt"/>
                  <a:ea typeface="+mn-ea"/>
                  <a:cs typeface="+mn-cs"/>
                </a:rPr>
                <a:t>Mechanisms of Antibiotic Resistance.</a:t>
              </a:r>
              <a:br>
                <a:rPr lang="en-US" sz="1350" dirty="0">
                  <a:solidFill>
                    <a:schemeClr val="dk1"/>
                  </a:solidFill>
                  <a:latin typeface="+mn-lt"/>
                  <a:ea typeface="+mn-ea"/>
                  <a:cs typeface="+mn-cs"/>
                </a:rPr>
              </a:br>
              <a:r>
                <a:rPr lang="en-US" sz="1350" dirty="0">
                  <a:solidFill>
                    <a:schemeClr val="dk1"/>
                  </a:solidFill>
                  <a:latin typeface="+mn-lt"/>
                  <a:ea typeface="+mn-ea"/>
                  <a:cs typeface="+mn-cs"/>
                </a:rPr>
                <a:t>Microbiology Spectrum. 4(2).</a:t>
              </a:r>
              <a:br>
                <a:rPr lang="en-US" sz="1350" dirty="0">
                  <a:solidFill>
                    <a:schemeClr val="dk1"/>
                  </a:solidFill>
                  <a:latin typeface="+mn-lt"/>
                  <a:ea typeface="+mn-ea"/>
                  <a:cs typeface="+mn-cs"/>
                </a:rPr>
              </a:br>
              <a:r>
                <a:rPr lang="en-US" sz="1350" dirty="0">
                  <a:solidFill>
                    <a:schemeClr val="accent2"/>
                  </a:solidFill>
                  <a:latin typeface="+mn-lt"/>
                  <a:ea typeface="+mn-ea"/>
                  <a:cs typeface="+mn-cs"/>
                </a:rPr>
                <a:t>https://doi.org/10.1128/microbiolspec.VMBF-0016-2015</a:t>
              </a:r>
            </a:p>
          </p:txBody>
        </p:sp>
      </p:grpSp>
      <p:grpSp>
        <p:nvGrpSpPr>
          <p:cNvPr id="15" name="footer"/>
          <p:cNvGrpSpPr/>
          <p:nvPr/>
        </p:nvGrpSpPr>
        <p:grpSpPr>
          <a:xfrm>
            <a:off x="451104" y="6391275"/>
            <a:ext cx="11021819" cy="234696"/>
            <a:chOff x="451104" y="6391275"/>
            <a:chExt cx="11021819" cy="234696"/>
          </a:xfrm>
        </p:grpSpPr>
        <p:sp>
          <p:nvSpPr>
            <p:cNvPr id="13" name="TextBox 13"/>
            <p:cNvSpPr txBox="1"/>
            <p:nvPr/>
          </p:nvSpPr>
          <p:spPr>
            <a:xfrm>
              <a:off x="451104" y="6391275"/>
              <a:ext cx="658168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Bibliographic metadata verified with PubMed, Europe PMC and Crossref · 27 October 2026</a:t>
              </a:r>
            </a:p>
          </p:txBody>
        </p:sp>
        <p:sp>
          <p:nvSpPr>
            <p:cNvPr id="14" name="TextBox 14"/>
            <p:cNvSpPr txBox="1"/>
            <p:nvPr/>
          </p:nvSpPr>
          <p:spPr>
            <a:xfrm>
              <a:off x="11281029" y="6391275"/>
              <a:ext cx="19189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1960" y="371475"/>
            <a:ext cx="9446982" cy="913765"/>
            <a:chOff x="441960" y="371475"/>
            <a:chExt cx="9446982" cy="913765"/>
          </a:xfrm>
        </p:grpSpPr>
        <p:sp>
          <p:nvSpPr>
            <p:cNvPr id="2" name="TextBox 2"/>
            <p:cNvSpPr txBox="1"/>
            <p:nvPr/>
          </p:nvSpPr>
          <p:spPr>
            <a:xfrm>
              <a:off x="451104" y="371475"/>
              <a:ext cx="1842753"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REFERENCES / 3 OF 3</a:t>
              </a:r>
            </a:p>
          </p:txBody>
        </p:sp>
        <p:sp>
          <p:nvSpPr>
            <p:cNvPr id="3" name="TextBox 3"/>
            <p:cNvSpPr txBox="1"/>
            <p:nvPr/>
          </p:nvSpPr>
          <p:spPr>
            <a:xfrm>
              <a:off x="441960" y="698500"/>
              <a:ext cx="9446982"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n-lt"/>
                  <a:ea typeface="+mn-ea"/>
                  <a:cs typeface="+mn-cs"/>
                </a:rPr>
                <a:t>Matching assays and additional clinical evidence</a:t>
              </a:r>
            </a:p>
          </p:txBody>
        </p:sp>
      </p:grpSp>
      <p:grpSp>
        <p:nvGrpSpPr>
          <p:cNvPr id="6" name="ref-khan"/>
          <p:cNvGrpSpPr/>
          <p:nvPr/>
        </p:nvGrpSpPr>
        <p:grpSpPr>
          <a:xfrm>
            <a:off x="450342" y="1600200"/>
            <a:ext cx="7505189" cy="1006983"/>
            <a:chOff x="450342" y="1600200"/>
            <a:chExt cx="7505189" cy="1006983"/>
          </a:xfrm>
        </p:grpSpPr>
        <p:sp>
          <p:nvSpPr>
            <p:cNvPr id="5" name="TextBox 5"/>
            <p:cNvSpPr txBox="1"/>
            <p:nvPr/>
          </p:nvSpPr>
          <p:spPr>
            <a:xfrm>
              <a:off x="450342" y="1600200"/>
              <a:ext cx="7505189" cy="1006983"/>
            </a:xfrm>
            <a:prstGeom prst="rect">
              <a:avLst/>
            </a:prstGeom>
            <a:noFill/>
            <a:ln>
              <a:noFill/>
            </a:ln>
          </p:spPr>
          <p:txBody>
            <a:bodyPr wrap="none" lIns="0" tIns="0" rIns="0" bIns="0" anchor="t" anchorCtr="0">
              <a:spAutoFit/>
            </a:bodyPr>
            <a:lstStyle/>
            <a:p>
              <a:pPr algn="l">
                <a:lnSpc>
                  <a:spcPts val="1950"/>
                </a:lnSpc>
              </a:pPr>
              <a:r>
                <a:rPr lang="en-US" sz="1350" b="1" dirty="0">
                  <a:solidFill>
                    <a:schemeClr val="dk1"/>
                  </a:solidFill>
                  <a:latin typeface="+mn-lt"/>
                  <a:ea typeface="+mn-ea"/>
                  <a:cs typeface="+mn-cs"/>
                </a:rPr>
                <a:t>Khan Mirzaei M, Nilsson AS. (2015).</a:t>
              </a:r>
              <a:br>
                <a:rPr lang="en-US" sz="1350" b="1" dirty="0">
                  <a:solidFill>
                    <a:schemeClr val="dk1"/>
                  </a:solidFill>
                  <a:latin typeface="+mn-lt"/>
                  <a:ea typeface="+mn-ea"/>
                  <a:cs typeface="+mn-cs"/>
                </a:rPr>
              </a:br>
              <a:r>
                <a:rPr lang="en-US" sz="1350" dirty="0">
                  <a:solidFill>
                    <a:schemeClr val="dk1"/>
                  </a:solidFill>
                  <a:latin typeface="+mn-lt"/>
                  <a:ea typeface="+mn-ea"/>
                  <a:cs typeface="+mn-cs"/>
                </a:rPr>
                <a:t>Isolation of phages for phage therapy: a comparison of spot tests and efficiency of plating analyses</a:t>
              </a:r>
              <a:br>
                <a:rPr lang="en-US" sz="1350" dirty="0">
                  <a:solidFill>
                    <a:schemeClr val="dk1"/>
                  </a:solidFill>
                  <a:latin typeface="+mn-lt"/>
                  <a:ea typeface="+mn-ea"/>
                  <a:cs typeface="+mn-cs"/>
                </a:rPr>
              </a:br>
              <a:r>
                <a:rPr lang="en-US" sz="1350" dirty="0">
                  <a:solidFill>
                    <a:schemeClr val="dk1"/>
                  </a:solidFill>
                  <a:latin typeface="+mn-lt"/>
                  <a:ea typeface="+mn-ea"/>
                  <a:cs typeface="+mn-cs"/>
                </a:rPr>
                <a:t>for determination of host range and efficacy. PLoS ONE. 10(3):e0118557.</a:t>
              </a:r>
              <a:br>
                <a:rPr lang="en-US" sz="1350" dirty="0">
                  <a:solidFill>
                    <a:schemeClr val="dk1"/>
                  </a:solidFill>
                  <a:latin typeface="+mn-lt"/>
                  <a:ea typeface="+mn-ea"/>
                  <a:cs typeface="+mn-cs"/>
                </a:rPr>
              </a:br>
              <a:r>
                <a:rPr lang="en-US" sz="1350" dirty="0">
                  <a:solidFill>
                    <a:schemeClr val="accent2"/>
                  </a:solidFill>
                  <a:latin typeface="+mn-lt"/>
                  <a:ea typeface="+mn-ea"/>
                  <a:cs typeface="+mn-cs"/>
                </a:rPr>
                <a:t>https://doi.org/10.1371/journal.pone.0118557</a:t>
              </a:r>
            </a:p>
          </p:txBody>
        </p:sp>
      </p:grpSp>
      <p:grpSp>
        <p:nvGrpSpPr>
          <p:cNvPr id="8" name="ref-wright"/>
          <p:cNvGrpSpPr/>
          <p:nvPr/>
        </p:nvGrpSpPr>
        <p:grpSpPr>
          <a:xfrm>
            <a:off x="450342" y="2695575"/>
            <a:ext cx="8219622" cy="1006983"/>
            <a:chOff x="450342" y="2695575"/>
            <a:chExt cx="8219622" cy="1006983"/>
          </a:xfrm>
        </p:grpSpPr>
        <p:sp>
          <p:nvSpPr>
            <p:cNvPr id="7" name="TextBox 7"/>
            <p:cNvSpPr txBox="1"/>
            <p:nvPr/>
          </p:nvSpPr>
          <p:spPr>
            <a:xfrm>
              <a:off x="450342" y="2695575"/>
              <a:ext cx="8219622" cy="1006983"/>
            </a:xfrm>
            <a:prstGeom prst="rect">
              <a:avLst/>
            </a:prstGeom>
            <a:noFill/>
            <a:ln>
              <a:noFill/>
            </a:ln>
          </p:spPr>
          <p:txBody>
            <a:bodyPr wrap="none" lIns="0" tIns="0" rIns="0" bIns="0" anchor="t" anchorCtr="0">
              <a:spAutoFit/>
            </a:bodyPr>
            <a:lstStyle/>
            <a:p>
              <a:pPr algn="l">
                <a:lnSpc>
                  <a:spcPts val="1950"/>
                </a:lnSpc>
              </a:pPr>
              <a:r>
                <a:rPr lang="en-US" sz="1350" b="1" dirty="0">
                  <a:solidFill>
                    <a:schemeClr val="dk1"/>
                  </a:solidFill>
                  <a:latin typeface="+mn-lt"/>
                  <a:ea typeface="+mn-ea"/>
                  <a:cs typeface="+mn-cs"/>
                </a:rPr>
                <a:t>Wright A, Hawkins CH, Anggård EE, Harper DR. (2009).</a:t>
              </a:r>
              <a:br>
                <a:rPr lang="en-US" sz="1350" b="1" dirty="0">
                  <a:solidFill>
                    <a:schemeClr val="dk1"/>
                  </a:solidFill>
                  <a:latin typeface="+mn-lt"/>
                  <a:ea typeface="+mn-ea"/>
                  <a:cs typeface="+mn-cs"/>
                </a:rPr>
              </a:br>
              <a:r>
                <a:rPr lang="en-US" sz="1350" dirty="0">
                  <a:solidFill>
                    <a:schemeClr val="dk1"/>
                  </a:solidFill>
                  <a:latin typeface="+mn-lt"/>
                  <a:ea typeface="+mn-ea"/>
                  <a:cs typeface="+mn-cs"/>
                </a:rPr>
                <a:t>A controlled clinical trial of a therapeutic bacteriophage preparation in chronic otitis due to antibiotic-resistant</a:t>
              </a:r>
              <a:br>
                <a:rPr lang="en-US" sz="1350" dirty="0">
                  <a:solidFill>
                    <a:schemeClr val="dk1"/>
                  </a:solidFill>
                  <a:latin typeface="+mn-lt"/>
                  <a:ea typeface="+mn-ea"/>
                  <a:cs typeface="+mn-cs"/>
                </a:rPr>
              </a:br>
              <a:r>
                <a:rPr lang="en-US" sz="1350" dirty="0">
                  <a:solidFill>
                    <a:schemeClr val="dk1"/>
                  </a:solidFill>
                  <a:latin typeface="+mn-lt"/>
                  <a:ea typeface="+mn-ea"/>
                  <a:cs typeface="+mn-cs"/>
                </a:rPr>
                <a:t>Pseudomonas aeruginosa; a preliminary report of efficacy. Clinical Otolaryngology. 34(4):349–357.</a:t>
              </a:r>
              <a:br>
                <a:rPr lang="en-US" sz="1350" dirty="0">
                  <a:solidFill>
                    <a:schemeClr val="dk1"/>
                  </a:solidFill>
                  <a:latin typeface="+mn-lt"/>
                  <a:ea typeface="+mn-ea"/>
                  <a:cs typeface="+mn-cs"/>
                </a:rPr>
              </a:br>
              <a:r>
                <a:rPr lang="en-US" sz="1350" dirty="0">
                  <a:solidFill>
                    <a:schemeClr val="accent2"/>
                  </a:solidFill>
                  <a:latin typeface="+mn-lt"/>
                  <a:ea typeface="+mn-ea"/>
                  <a:cs typeface="+mn-cs"/>
                </a:rPr>
                <a:t>https://doi.org/10.1111/j.1749-4486.2009.01973.x</a:t>
              </a:r>
            </a:p>
          </p:txBody>
        </p:sp>
      </p:grpSp>
      <p:grpSp>
        <p:nvGrpSpPr>
          <p:cNvPr id="10" name="ref-sarker"/>
          <p:cNvGrpSpPr/>
          <p:nvPr/>
        </p:nvGrpSpPr>
        <p:grpSpPr>
          <a:xfrm>
            <a:off x="450342" y="3790950"/>
            <a:ext cx="7856731" cy="1006983"/>
            <a:chOff x="450342" y="3790950"/>
            <a:chExt cx="7856731" cy="1006983"/>
          </a:xfrm>
        </p:grpSpPr>
        <p:sp>
          <p:nvSpPr>
            <p:cNvPr id="9" name="TextBox 9"/>
            <p:cNvSpPr txBox="1"/>
            <p:nvPr/>
          </p:nvSpPr>
          <p:spPr>
            <a:xfrm>
              <a:off x="450342" y="3790950"/>
              <a:ext cx="7856731" cy="1006983"/>
            </a:xfrm>
            <a:prstGeom prst="rect">
              <a:avLst/>
            </a:prstGeom>
            <a:noFill/>
            <a:ln>
              <a:noFill/>
            </a:ln>
          </p:spPr>
          <p:txBody>
            <a:bodyPr wrap="none" lIns="0" tIns="0" rIns="0" bIns="0" anchor="t" anchorCtr="0">
              <a:spAutoFit/>
            </a:bodyPr>
            <a:lstStyle/>
            <a:p>
              <a:pPr algn="l">
                <a:lnSpc>
                  <a:spcPts val="1950"/>
                </a:lnSpc>
              </a:pPr>
              <a:r>
                <a:rPr lang="en-US" sz="1350" b="1" dirty="0">
                  <a:solidFill>
                    <a:schemeClr val="dk1"/>
                  </a:solidFill>
                  <a:latin typeface="+mn-lt"/>
                  <a:ea typeface="+mn-ea"/>
                  <a:cs typeface="+mn-cs"/>
                </a:rPr>
                <a:t>Sarker SA, Sultana S, Reuteler G, et al. (2016).</a:t>
              </a:r>
              <a:br>
                <a:rPr lang="en-US" sz="1350" b="1" dirty="0">
                  <a:solidFill>
                    <a:schemeClr val="dk1"/>
                  </a:solidFill>
                  <a:latin typeface="+mn-lt"/>
                  <a:ea typeface="+mn-ea"/>
                  <a:cs typeface="+mn-cs"/>
                </a:rPr>
              </a:br>
              <a:r>
                <a:rPr lang="en-US" sz="1350" dirty="0">
                  <a:solidFill>
                    <a:schemeClr val="dk1"/>
                  </a:solidFill>
                  <a:latin typeface="+mn-lt"/>
                  <a:ea typeface="+mn-ea"/>
                  <a:cs typeface="+mn-cs"/>
                </a:rPr>
                <a:t>Oral Phage Therapy of Acute Bacterial Diarrhea With Two Coliphage Preparations: A Randomized Trial</a:t>
              </a:r>
              <a:br>
                <a:rPr lang="en-US" sz="1350" dirty="0">
                  <a:solidFill>
                    <a:schemeClr val="dk1"/>
                  </a:solidFill>
                  <a:latin typeface="+mn-lt"/>
                  <a:ea typeface="+mn-ea"/>
                  <a:cs typeface="+mn-cs"/>
                </a:rPr>
              </a:br>
              <a:r>
                <a:rPr lang="en-US" sz="1350" dirty="0">
                  <a:solidFill>
                    <a:schemeClr val="dk1"/>
                  </a:solidFill>
                  <a:latin typeface="+mn-lt"/>
                  <a:ea typeface="+mn-ea"/>
                  <a:cs typeface="+mn-cs"/>
                </a:rPr>
                <a:t>in Children From Bangladesh. EBioMedicine. 4:124–137.</a:t>
              </a:r>
              <a:br>
                <a:rPr lang="en-US" sz="1350" dirty="0">
                  <a:solidFill>
                    <a:schemeClr val="dk1"/>
                  </a:solidFill>
                  <a:latin typeface="+mn-lt"/>
                  <a:ea typeface="+mn-ea"/>
                  <a:cs typeface="+mn-cs"/>
                </a:rPr>
              </a:br>
              <a:r>
                <a:rPr lang="en-US" sz="1350" dirty="0">
                  <a:solidFill>
                    <a:schemeClr val="accent2"/>
                  </a:solidFill>
                  <a:latin typeface="+mn-lt"/>
                  <a:ea typeface="+mn-ea"/>
                  <a:cs typeface="+mn-cs"/>
                </a:rPr>
                <a:t>https://doi.org/10.1016/j.ebiom.2015.12.023</a:t>
              </a:r>
            </a:p>
          </p:txBody>
        </p:sp>
      </p:grpSp>
      <p:grpSp>
        <p:nvGrpSpPr>
          <p:cNvPr id="12" name="ref-nirpaz"/>
          <p:cNvGrpSpPr/>
          <p:nvPr/>
        </p:nvGrpSpPr>
        <p:grpSpPr>
          <a:xfrm>
            <a:off x="450342" y="4886325"/>
            <a:ext cx="8086508" cy="1006983"/>
            <a:chOff x="450342" y="4886325"/>
            <a:chExt cx="8086508" cy="1006983"/>
          </a:xfrm>
        </p:grpSpPr>
        <p:sp>
          <p:nvSpPr>
            <p:cNvPr id="11" name="TextBox 11"/>
            <p:cNvSpPr txBox="1"/>
            <p:nvPr/>
          </p:nvSpPr>
          <p:spPr>
            <a:xfrm>
              <a:off x="450342" y="4886325"/>
              <a:ext cx="8086508" cy="1006983"/>
            </a:xfrm>
            <a:prstGeom prst="rect">
              <a:avLst/>
            </a:prstGeom>
            <a:noFill/>
            <a:ln>
              <a:noFill/>
            </a:ln>
          </p:spPr>
          <p:txBody>
            <a:bodyPr wrap="none" lIns="0" tIns="0" rIns="0" bIns="0" anchor="t" anchorCtr="0">
              <a:spAutoFit/>
            </a:bodyPr>
            <a:lstStyle/>
            <a:p>
              <a:pPr algn="l">
                <a:lnSpc>
                  <a:spcPts val="1950"/>
                </a:lnSpc>
              </a:pPr>
              <a:r>
                <a:rPr lang="en-US" sz="1350" b="1" dirty="0">
                  <a:solidFill>
                    <a:schemeClr val="dk1"/>
                  </a:solidFill>
                  <a:latin typeface="+mn-lt"/>
                  <a:ea typeface="+mn-ea"/>
                  <a:cs typeface="+mn-cs"/>
                </a:rPr>
                <a:t>Nir-Paz R, Onallah H, Dekel M, et al. (2025; online 2024).</a:t>
              </a:r>
              <a:br>
                <a:rPr lang="en-US" sz="1350" b="1" dirty="0">
                  <a:solidFill>
                    <a:schemeClr val="dk1"/>
                  </a:solidFill>
                  <a:latin typeface="+mn-lt"/>
                  <a:ea typeface="+mn-ea"/>
                  <a:cs typeface="+mn-cs"/>
                </a:rPr>
              </a:br>
              <a:r>
                <a:rPr lang="en-US" sz="1350" dirty="0">
                  <a:solidFill>
                    <a:schemeClr val="dk1"/>
                  </a:solidFill>
                  <a:latin typeface="+mn-lt"/>
                  <a:ea typeface="+mn-ea"/>
                  <a:cs typeface="+mn-cs"/>
                </a:rPr>
                <a:t>Randomized double-blind study on safety and tolerability of TP-102 phage cocktail in patients with infected</a:t>
              </a:r>
              <a:br>
                <a:rPr lang="en-US" sz="1350" dirty="0">
                  <a:solidFill>
                    <a:schemeClr val="dk1"/>
                  </a:solidFill>
                  <a:latin typeface="+mn-lt"/>
                  <a:ea typeface="+mn-ea"/>
                  <a:cs typeface="+mn-cs"/>
                </a:rPr>
              </a:br>
              <a:r>
                <a:rPr lang="en-US" sz="1350" dirty="0">
                  <a:solidFill>
                    <a:schemeClr val="dk1"/>
                  </a:solidFill>
                  <a:latin typeface="+mn-lt"/>
                  <a:ea typeface="+mn-ea"/>
                  <a:cs typeface="+mn-cs"/>
                </a:rPr>
                <a:t>and non-infected diabetic foot ulcers. Med. 6(5):100565.</a:t>
              </a:r>
              <a:br>
                <a:rPr lang="en-US" sz="1350" dirty="0">
                  <a:solidFill>
                    <a:schemeClr val="dk1"/>
                  </a:solidFill>
                  <a:latin typeface="+mn-lt"/>
                  <a:ea typeface="+mn-ea"/>
                  <a:cs typeface="+mn-cs"/>
                </a:rPr>
              </a:br>
              <a:r>
                <a:rPr lang="en-US" sz="1350" dirty="0">
                  <a:solidFill>
                    <a:schemeClr val="accent2"/>
                  </a:solidFill>
                  <a:latin typeface="+mn-lt"/>
                  <a:ea typeface="+mn-ea"/>
                  <a:cs typeface="+mn-cs"/>
                </a:rPr>
                <a:t>https://doi.org/10.1016/j.medj.2024.11.018</a:t>
              </a:r>
            </a:p>
          </p:txBody>
        </p:sp>
      </p:grpSp>
      <p:grpSp>
        <p:nvGrpSpPr>
          <p:cNvPr id="15" name="footer"/>
          <p:cNvGrpSpPr/>
          <p:nvPr/>
        </p:nvGrpSpPr>
        <p:grpSpPr>
          <a:xfrm>
            <a:off x="451104" y="6391275"/>
            <a:ext cx="11021819" cy="234696"/>
            <a:chOff x="451104" y="6391275"/>
            <a:chExt cx="11021819" cy="234696"/>
          </a:xfrm>
        </p:grpSpPr>
        <p:sp>
          <p:nvSpPr>
            <p:cNvPr id="13" name="TextBox 13"/>
            <p:cNvSpPr txBox="1"/>
            <p:nvPr/>
          </p:nvSpPr>
          <p:spPr>
            <a:xfrm>
              <a:off x="451104" y="6391275"/>
              <a:ext cx="658168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Bibliographic metadata verified with PubMed, Europe PMC and Crossref · 27 October 2026</a:t>
              </a:r>
            </a:p>
          </p:txBody>
        </p:sp>
        <p:sp>
          <p:nvSpPr>
            <p:cNvPr id="14" name="TextBox 14"/>
            <p:cNvSpPr txBox="1"/>
            <p:nvPr/>
          </p:nvSpPr>
          <p:spPr>
            <a:xfrm>
              <a:off x="11281029" y="6391275"/>
              <a:ext cx="19189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1960" y="371475"/>
            <a:ext cx="5339815" cy="913765"/>
            <a:chOff x="441960" y="371475"/>
            <a:chExt cx="5339815" cy="913765"/>
          </a:xfrm>
        </p:grpSpPr>
        <p:sp>
          <p:nvSpPr>
            <p:cNvPr id="2" name="TextBox 2"/>
            <p:cNvSpPr txBox="1"/>
            <p:nvPr/>
          </p:nvSpPr>
          <p:spPr>
            <a:xfrm>
              <a:off x="451104" y="371475"/>
              <a:ext cx="3056549"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BACKUP / OUTSIDE THE TIMED TALK</a:t>
              </a:r>
            </a:p>
          </p:txBody>
        </p:sp>
        <p:sp>
          <p:nvSpPr>
            <p:cNvPr id="3" name="TextBox 3"/>
            <p:cNvSpPr txBox="1"/>
            <p:nvPr/>
          </p:nvSpPr>
          <p:spPr>
            <a:xfrm>
              <a:off x="441960" y="698500"/>
              <a:ext cx="5339815"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n-lt"/>
                  <a:ea typeface="+mn-ea"/>
                  <a:cs typeface="+mn-cs"/>
                </a:rPr>
                <a:t>How the wider evidence fits</a:t>
              </a:r>
            </a:p>
          </p:txBody>
        </p:sp>
      </p:grpSp>
      <p:grpSp>
        <p:nvGrpSpPr>
          <p:cNvPr id="7" name="otitis"/>
          <p:cNvGrpSpPr/>
          <p:nvPr/>
        </p:nvGrpSpPr>
        <p:grpSpPr>
          <a:xfrm>
            <a:off x="446532" y="1698625"/>
            <a:ext cx="4199946" cy="1123569"/>
            <a:chOff x="446532" y="1698625"/>
            <a:chExt cx="4199946" cy="1123569"/>
          </a:xfrm>
        </p:grpSpPr>
        <p:sp>
          <p:nvSpPr>
            <p:cNvPr id="5" name="TextBox 5"/>
            <p:cNvSpPr txBox="1"/>
            <p:nvPr/>
          </p:nvSpPr>
          <p:spPr>
            <a:xfrm>
              <a:off x="446532" y="1698625"/>
              <a:ext cx="2562090"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Wright 2009 · otitis</a:t>
              </a:r>
            </a:p>
          </p:txBody>
        </p:sp>
        <p:sp>
          <p:nvSpPr>
            <p:cNvPr id="6" name="TextBox 6"/>
            <p:cNvSpPr txBox="1"/>
            <p:nvPr/>
          </p:nvSpPr>
          <p:spPr>
            <a:xfrm>
              <a:off x="448056" y="2127250"/>
              <a:ext cx="4198422" cy="694944"/>
            </a:xfrm>
            <a:prstGeom prst="rect">
              <a:avLst/>
            </a:prstGeom>
            <a:noFill/>
            <a:ln>
              <a:noFill/>
            </a:ln>
          </p:spPr>
          <p:txBody>
            <a:bodyPr wrap="none" lIns="0" tIns="0" rIns="0" bIns="0" anchor="t" anchorCtr="0">
              <a:spAutoFit/>
            </a:bodyPr>
            <a:lstStyle/>
            <a:p>
              <a:pPr algn="l">
                <a:lnSpc>
                  <a:spcPts val="2700"/>
                </a:lnSpc>
              </a:pPr>
              <a:r>
                <a:rPr lang="en-US" sz="1800" dirty="0">
                  <a:solidFill>
                    <a:schemeClr val="dk1"/>
                  </a:solidFill>
                  <a:latin typeface="+mn-lt"/>
                  <a:ea typeface="+mn-ea"/>
                  <a:cs typeface="+mn-cs"/>
                </a:rPr>
                <a:t>24 participants; preliminary improvement.</a:t>
              </a:r>
              <a:br>
                <a:rPr lang="en-US" sz="1800" dirty="0">
                  <a:solidFill>
                    <a:schemeClr val="dk1"/>
                  </a:solidFill>
                  <a:latin typeface="+mn-lt"/>
                  <a:ea typeface="+mn-ea"/>
                  <a:cs typeface="+mn-cs"/>
                </a:rPr>
              </a:br>
              <a:r>
                <a:rPr lang="en-US" sz="1800" dirty="0">
                  <a:solidFill>
                    <a:schemeClr val="dk1"/>
                  </a:solidFill>
                  <a:latin typeface="+mn-lt"/>
                  <a:ea typeface="+mn-ea"/>
                  <a:cs typeface="+mn-cs"/>
                </a:rPr>
                <a:t>Small, selected susceptible population.</a:t>
              </a:r>
            </a:p>
          </p:txBody>
        </p:sp>
      </p:grpSp>
      <p:grpSp>
        <p:nvGrpSpPr>
          <p:cNvPr id="10" name="diarrhea"/>
          <p:cNvGrpSpPr/>
          <p:nvPr/>
        </p:nvGrpSpPr>
        <p:grpSpPr>
          <a:xfrm>
            <a:off x="6180582" y="1698625"/>
            <a:ext cx="4060180" cy="1123569"/>
            <a:chOff x="6180582" y="1698625"/>
            <a:chExt cx="4060180" cy="1123569"/>
          </a:xfrm>
        </p:grpSpPr>
        <p:sp>
          <p:nvSpPr>
            <p:cNvPr id="8" name="TextBox 8"/>
            <p:cNvSpPr txBox="1"/>
            <p:nvPr/>
          </p:nvSpPr>
          <p:spPr>
            <a:xfrm>
              <a:off x="6180582" y="1698625"/>
              <a:ext cx="2987970"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Sarker 2016 · diarrhea</a:t>
              </a:r>
            </a:p>
          </p:txBody>
        </p:sp>
        <p:sp>
          <p:nvSpPr>
            <p:cNvPr id="9" name="TextBox 9"/>
            <p:cNvSpPr txBox="1"/>
            <p:nvPr/>
          </p:nvSpPr>
          <p:spPr>
            <a:xfrm>
              <a:off x="6182106" y="2127250"/>
              <a:ext cx="4058656" cy="694944"/>
            </a:xfrm>
            <a:prstGeom prst="rect">
              <a:avLst/>
            </a:prstGeom>
            <a:noFill/>
            <a:ln>
              <a:noFill/>
            </a:ln>
          </p:spPr>
          <p:txBody>
            <a:bodyPr wrap="none" lIns="0" tIns="0" rIns="0" bIns="0" anchor="t" anchorCtr="0">
              <a:spAutoFit/>
            </a:bodyPr>
            <a:lstStyle/>
            <a:p>
              <a:pPr algn="l">
                <a:lnSpc>
                  <a:spcPts val="2700"/>
                </a:lnSpc>
              </a:pPr>
              <a:r>
                <a:rPr lang="en-US" sz="1800" dirty="0">
                  <a:solidFill>
                    <a:schemeClr val="dk1"/>
                  </a:solidFill>
                  <a:latin typeface="+mn-lt"/>
                  <a:ea typeface="+mn-ea"/>
                  <a:cs typeface="+mn-cs"/>
                </a:rPr>
                <a:t>120 interim; no clinical benefit detected.</a:t>
              </a:r>
              <a:br>
                <a:rPr lang="en-US" sz="1800" dirty="0">
                  <a:solidFill>
                    <a:schemeClr val="dk1"/>
                  </a:solidFill>
                  <a:latin typeface="+mn-lt"/>
                  <a:ea typeface="+mn-ea"/>
                  <a:cs typeface="+mn-cs"/>
                </a:rPr>
              </a:br>
              <a:r>
                <a:rPr lang="en-US" sz="1800" dirty="0">
                  <a:solidFill>
                    <a:schemeClr val="dk1"/>
                  </a:solidFill>
                  <a:latin typeface="+mn-lt"/>
                  <a:ea typeface="+mn-ea"/>
                  <a:cs typeface="+mn-cs"/>
                </a:rPr>
                <a:t>Limited gut amplification; not MDR-only.</a:t>
              </a:r>
            </a:p>
          </p:txBody>
        </p:sp>
      </p:grpSp>
      <p:grpSp>
        <p:nvGrpSpPr>
          <p:cNvPr id="14" name="series"/>
          <p:cNvGrpSpPr/>
          <p:nvPr/>
        </p:nvGrpSpPr>
        <p:grpSpPr>
          <a:xfrm>
            <a:off x="446532" y="3460750"/>
            <a:ext cx="3654003" cy="1471295"/>
            <a:chOff x="446532" y="3460750"/>
            <a:chExt cx="3654003" cy="1471295"/>
          </a:xfrm>
        </p:grpSpPr>
        <p:sp>
          <p:nvSpPr>
            <p:cNvPr id="11" name="TextBox 11"/>
            <p:cNvSpPr txBox="1"/>
            <p:nvPr/>
          </p:nvSpPr>
          <p:spPr>
            <a:xfrm>
              <a:off x="446532" y="3460750"/>
              <a:ext cx="3366176"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Aslam 2020 · case series</a:t>
              </a:r>
            </a:p>
          </p:txBody>
        </p:sp>
        <p:sp>
          <p:nvSpPr>
            <p:cNvPr id="12" name="TextBox 12"/>
            <p:cNvSpPr txBox="1"/>
            <p:nvPr/>
          </p:nvSpPr>
          <p:spPr>
            <a:xfrm>
              <a:off x="448056" y="3889375"/>
              <a:ext cx="3652479" cy="694944"/>
            </a:xfrm>
            <a:prstGeom prst="rect">
              <a:avLst/>
            </a:prstGeom>
            <a:noFill/>
            <a:ln>
              <a:noFill/>
            </a:ln>
          </p:spPr>
          <p:txBody>
            <a:bodyPr wrap="none" lIns="0" tIns="0" rIns="0" bIns="0" anchor="t" anchorCtr="0">
              <a:spAutoFit/>
            </a:bodyPr>
            <a:lstStyle/>
            <a:p>
              <a:pPr algn="l">
                <a:lnSpc>
                  <a:spcPts val="2700"/>
                </a:lnSpc>
              </a:pPr>
              <a:r>
                <a:rPr lang="en-US" sz="1800" dirty="0">
                  <a:solidFill>
                    <a:schemeClr val="dk1"/>
                  </a:solidFill>
                  <a:latin typeface="+mn-lt"/>
                  <a:ea typeface="+mn-ea"/>
                  <a:cs typeface="+mn-cs"/>
                </a:rPr>
                <a:t>7/10 author-defined successes.</a:t>
              </a:r>
              <a:br>
                <a:rPr lang="en-US" sz="1800" dirty="0">
                  <a:solidFill>
                    <a:schemeClr val="dk1"/>
                  </a:solidFill>
                  <a:latin typeface="+mn-lt"/>
                  <a:ea typeface="+mn-ea"/>
                  <a:cs typeface="+mn-cs"/>
                </a:rPr>
              </a:br>
              <a:r>
                <a:rPr lang="en-US" sz="1800" dirty="0">
                  <a:solidFill>
                    <a:schemeClr val="dk1"/>
                  </a:solidFill>
                  <a:latin typeface="+mn-lt"/>
                  <a:ea typeface="+mn-ea"/>
                  <a:cs typeface="+mn-cs"/>
                </a:rPr>
                <a:t>Uncontrolled; concurrent antibiotics.</a:t>
              </a:r>
            </a:p>
          </p:txBody>
        </p:sp>
        <p:sp>
          <p:nvSpPr>
            <p:cNvPr id="13" name="TextBox 13"/>
            <p:cNvSpPr txBox="1"/>
            <p:nvPr/>
          </p:nvSpPr>
          <p:spPr>
            <a:xfrm>
              <a:off x="449580" y="4638675"/>
              <a:ext cx="3253921"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Includes a previously reported case.</a:t>
              </a:r>
            </a:p>
          </p:txBody>
        </p:sp>
      </p:grpSp>
      <p:grpSp>
        <p:nvGrpSpPr>
          <p:cNvPr id="17" name="foot-ulcer"/>
          <p:cNvGrpSpPr/>
          <p:nvPr/>
        </p:nvGrpSpPr>
        <p:grpSpPr>
          <a:xfrm>
            <a:off x="6180582" y="3460750"/>
            <a:ext cx="3755822" cy="1123569"/>
            <a:chOff x="6180582" y="3460750"/>
            <a:chExt cx="3755822" cy="1123569"/>
          </a:xfrm>
        </p:grpSpPr>
        <p:sp>
          <p:nvSpPr>
            <p:cNvPr id="15" name="TextBox 15"/>
            <p:cNvSpPr txBox="1"/>
            <p:nvPr/>
          </p:nvSpPr>
          <p:spPr>
            <a:xfrm>
              <a:off x="6180582" y="3460750"/>
              <a:ext cx="2962088"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Nir-Paz 2025 · TP-102</a:t>
              </a:r>
            </a:p>
          </p:txBody>
        </p:sp>
        <p:sp>
          <p:nvSpPr>
            <p:cNvPr id="16" name="TextBox 16"/>
            <p:cNvSpPr txBox="1"/>
            <p:nvPr/>
          </p:nvSpPr>
          <p:spPr>
            <a:xfrm>
              <a:off x="6182106" y="3889375"/>
              <a:ext cx="3754298" cy="694944"/>
            </a:xfrm>
            <a:prstGeom prst="rect">
              <a:avLst/>
            </a:prstGeom>
            <a:noFill/>
            <a:ln>
              <a:noFill/>
            </a:ln>
          </p:spPr>
          <p:txBody>
            <a:bodyPr wrap="none" lIns="0" tIns="0" rIns="0" bIns="0" anchor="t" anchorCtr="0">
              <a:spAutoFit/>
            </a:bodyPr>
            <a:lstStyle/>
            <a:p>
              <a:pPr algn="l">
                <a:lnSpc>
                  <a:spcPts val="2700"/>
                </a:lnSpc>
              </a:pPr>
              <a:r>
                <a:rPr lang="en-US" sz="1800" dirty="0">
                  <a:solidFill>
                    <a:schemeClr val="dk1"/>
                  </a:solidFill>
                  <a:latin typeface="+mn-lt"/>
                  <a:ea typeface="+mn-ea"/>
                  <a:cs typeface="+mn-cs"/>
                </a:rPr>
                <a:t>19 randomized; underpowered.</a:t>
              </a:r>
              <a:br>
                <a:rPr lang="en-US" sz="1800" dirty="0">
                  <a:solidFill>
                    <a:schemeClr val="dk1"/>
                  </a:solidFill>
                  <a:latin typeface="+mn-lt"/>
                  <a:ea typeface="+mn-ea"/>
                  <a:cs typeface="+mn-cs"/>
                </a:rPr>
              </a:br>
              <a:r>
                <a:rPr lang="en-US" sz="1800" dirty="0">
                  <a:solidFill>
                    <a:schemeClr val="dk1"/>
                  </a:solidFill>
                  <a:latin typeface="+mn-lt"/>
                  <a:ea typeface="+mn-ea"/>
                  <a:cs typeface="+mn-cs"/>
                </a:rPr>
                <a:t>No demonstrated healing superiority.</a:t>
              </a:r>
            </a:p>
          </p:txBody>
        </p:sp>
      </p:grpSp>
      <p:grpSp>
        <p:nvGrpSpPr>
          <p:cNvPr id="21" name="evolution"/>
          <p:cNvGrpSpPr/>
          <p:nvPr/>
        </p:nvGrpSpPr>
        <p:grpSpPr>
          <a:xfrm>
            <a:off x="448056" y="5257800"/>
            <a:ext cx="11286744" cy="864870"/>
            <a:chOff x="448056" y="5257800"/>
            <a:chExt cx="11286744" cy="864870"/>
          </a:xfrm>
        </p:grpSpPr>
        <p:sp>
          <p:nvSpPr>
            <p:cNvPr id="18" name="Line 18"/>
            <p:cNvSpPr/>
            <p:nvPr/>
          </p:nvSpPr>
          <p:spPr>
            <a:xfrm>
              <a:off x="457200" y="5257800"/>
              <a:ext cx="11277600" cy="9525"/>
            </a:xfrm>
            <a:custGeom>
              <a:avLst/>
              <a:gdLst/>
              <a:ahLst/>
              <a:cxnLst/>
              <a:rect l="l" t="t" r="r" b="b"/>
              <a:pathLst>
                <a:path w="11277600" h="9525">
                  <a:moveTo>
                    <a:pt x="0" y="0"/>
                  </a:moveTo>
                  <a:lnTo>
                    <a:pt x="11277600" y="0"/>
                  </a:lnTo>
                </a:path>
              </a:pathLst>
            </a:custGeom>
            <a:noFill/>
            <a:ln w="19050">
              <a:solidFill>
                <a:schemeClr val="accent6"/>
              </a:solidFill>
            </a:ln>
          </p:spPr>
        </p:sp>
        <p:sp>
          <p:nvSpPr>
            <p:cNvPr id="19" name="TextBox 19"/>
            <p:cNvSpPr txBox="1"/>
            <p:nvPr/>
          </p:nvSpPr>
          <p:spPr>
            <a:xfrm>
              <a:off x="448056" y="5419725"/>
              <a:ext cx="8324660"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Evolutionary example:</a:t>
              </a:r>
              <a:r>
                <a:rPr lang="en-US" sz="1800" dirty="0">
                  <a:solidFill>
                    <a:schemeClr val="accent1"/>
                  </a:solidFill>
                  <a:latin typeface="+mn-lt"/>
                  <a:ea typeface="+mn-ea"/>
                  <a:cs typeface="+mn-cs"/>
                </a:rPr>
                <a:t xml:space="preserve"> OMKO1 resistance altered an efflux-related tradeoff.</a:t>
              </a:r>
            </a:p>
          </p:txBody>
        </p:sp>
        <p:sp>
          <p:nvSpPr>
            <p:cNvPr id="20" name="TextBox 20"/>
            <p:cNvSpPr txBox="1"/>
            <p:nvPr/>
          </p:nvSpPr>
          <p:spPr>
            <a:xfrm>
              <a:off x="449580" y="5829300"/>
              <a:ext cx="7267310"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In vitro antibiotic resensitization—not a universal clinical effect. Chan et al., 2016.</a:t>
              </a:r>
            </a:p>
          </p:txBody>
        </p:sp>
      </p:grpSp>
      <p:grpSp>
        <p:nvGrpSpPr>
          <p:cNvPr id="24" name="footer"/>
          <p:cNvGrpSpPr/>
          <p:nvPr/>
        </p:nvGrpSpPr>
        <p:grpSpPr>
          <a:xfrm>
            <a:off x="451104" y="6391275"/>
            <a:ext cx="11021819" cy="234696"/>
            <a:chOff x="451104" y="6391275"/>
            <a:chExt cx="11021819" cy="234696"/>
          </a:xfrm>
        </p:grpSpPr>
        <p:sp>
          <p:nvSpPr>
            <p:cNvPr id="22" name="TextBox 22"/>
            <p:cNvSpPr txBox="1"/>
            <p:nvPr/>
          </p:nvSpPr>
          <p:spPr>
            <a:xfrm>
              <a:off x="451104" y="6391275"/>
              <a:ext cx="6958468"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Wright et al., 2009; Sarker et al., 2016; Aslam et al., 2020; Nir-Paz et al., 2025; Chan et al., 2016</a:t>
              </a:r>
            </a:p>
          </p:txBody>
        </p:sp>
        <p:sp>
          <p:nvSpPr>
            <p:cNvPr id="23" name="TextBox 23"/>
            <p:cNvSpPr txBox="1"/>
            <p:nvPr/>
          </p:nvSpPr>
          <p:spPr>
            <a:xfrm>
              <a:off x="11281029" y="6391275"/>
              <a:ext cx="19189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16</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bio706_phage_therapy">
  <a:themeElements>
    <a:clrScheme name="bio706_phage_therapy">
      <a:dk1>
        <a:srgbClr val="20364A"/>
      </a:dk1>
      <a:lt1>
        <a:srgbClr val="F7FAFC"/>
      </a:lt1>
      <a:dk2>
        <a:srgbClr val="1F497D"/>
      </a:dk2>
      <a:lt2>
        <a:srgbClr val="EAF2F5"/>
      </a:lt2>
      <a:accent1>
        <a:srgbClr val="142B43"/>
      </a:accent1>
      <a:accent2>
        <a:srgbClr val="147D92"/>
      </a:accent2>
      <a:accent3>
        <a:srgbClr val="D48A32"/>
      </a:accent3>
      <a:accent4>
        <a:srgbClr val="142B43"/>
      </a:accent4>
      <a:accent5>
        <a:srgbClr val="526779"/>
      </a:accent5>
      <a:accent6>
        <a:srgbClr val="B9CED8"/>
      </a:accent6>
      <a:hlink>
        <a:srgbClr val="147D92"/>
      </a:hlink>
      <a:folHlink>
        <a:srgbClr val="D48A32"/>
      </a:folHlink>
    </a:clrScheme>
    <a:fontScheme name="bio706_phage_therapy">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io706_phage_therap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io706_phage_therapy">
  <a:themeElements>
    <a:clrScheme name="bio706_phage_therapy">
      <a:dk1>
        <a:srgbClr val="20364A"/>
      </a:dk1>
      <a:lt1>
        <a:srgbClr val="F7FAFC"/>
      </a:lt1>
      <a:dk2>
        <a:srgbClr val="1F497D"/>
      </a:dk2>
      <a:lt2>
        <a:srgbClr val="EAF2F5"/>
      </a:lt2>
      <a:accent1>
        <a:srgbClr val="142B43"/>
      </a:accent1>
      <a:accent2>
        <a:srgbClr val="147D92"/>
      </a:accent2>
      <a:accent3>
        <a:srgbClr val="D48A32"/>
      </a:accent3>
      <a:accent4>
        <a:srgbClr val="142B43"/>
      </a:accent4>
      <a:accent5>
        <a:srgbClr val="526779"/>
      </a:accent5>
      <a:accent6>
        <a:srgbClr val="B9CED8"/>
      </a:accent6>
      <a:hlink>
        <a:srgbClr val="147D92"/>
      </a:hlink>
      <a:folHlink>
        <a:srgbClr val="D48A32"/>
      </a:folHlink>
    </a:clrScheme>
    <a:fontScheme name="bio706_phage_therapy">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io706_phage_therap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2026-10-27T05:06:38Z</dcterms:created>
  <dcterms:modified xsi:type="dcterms:W3CDTF">2026-10-27T05:06:38Z</dcterms:modified>
  <cp:category/>
  <cp:contentStatus/>
</cp:coreProperties>
</file>